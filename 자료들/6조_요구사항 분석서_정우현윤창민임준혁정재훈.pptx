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77" r:id="rId9"/>
    <p:sldId id="264" r:id="rId10"/>
    <p:sldId id="267" r:id="rId11"/>
    <p:sldId id="265" r:id="rId12"/>
    <p:sldId id="266" r:id="rId13"/>
    <p:sldId id="276" r:id="rId14"/>
    <p:sldId id="280" r:id="rId15"/>
    <p:sldId id="281" r:id="rId16"/>
    <p:sldId id="283" r:id="rId17"/>
    <p:sldId id="282" r:id="rId18"/>
    <p:sldId id="271" r:id="rId19"/>
    <p:sldId id="272" r:id="rId20"/>
    <p:sldId id="273" r:id="rId21"/>
    <p:sldId id="275" r:id="rId22"/>
    <p:sldId id="274" r:id="rId23"/>
    <p:sldId id="268" r:id="rId24"/>
    <p:sldId id="269" r:id="rId25"/>
    <p:sldId id="270" r:id="rId26"/>
    <p:sldId id="278" r:id="rId27"/>
    <p:sldId id="279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578"/>
    <p:restoredTop sz="97300"/>
  </p:normalViewPr>
  <p:slideViewPr>
    <p:cSldViewPr snapToGrid="0" snapToObjects="1">
      <p:cViewPr varScale="1">
        <p:scale>
          <a:sx n="100" d="100"/>
          <a:sy n="100" d="100"/>
        </p:scale>
        <p:origin x="1000" y="64"/>
      </p:cViewPr>
      <p:guideLst>
        <p:guide orient="horz" pos="215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presProps" Target="presProps.xml"  /><Relationship Id="rId3" Type="http://schemas.openxmlformats.org/officeDocument/2006/relationships/slide" Target="slides/slide1.xml"  /><Relationship Id="rId30" Type="http://schemas.openxmlformats.org/officeDocument/2006/relationships/viewProps" Target="viewProps.xml"  /><Relationship Id="rId31" Type="http://schemas.openxmlformats.org/officeDocument/2006/relationships/theme" Target="theme/theme1.xml"  /><Relationship Id="rId32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저희의 목차는 프로젝트 계획서 </a:t>
            </a:r>
            <a:r>
              <a:rPr lang="en-US" altLang="ko-KR"/>
              <a:t>-&gt; </a:t>
            </a:r>
            <a:r>
              <a:rPr lang="ko-KR" altLang="en-US"/>
              <a:t>프로젝트 유스케이스모델링 </a:t>
            </a:r>
            <a:r>
              <a:rPr lang="en-US" altLang="ko-KR"/>
              <a:t>-&gt; </a:t>
            </a:r>
            <a:r>
              <a:rPr lang="ko-KR" altLang="en-US"/>
              <a:t>유스케이스 다이어그램 </a:t>
            </a:r>
            <a:r>
              <a:rPr lang="en-US" altLang="ko-KR"/>
              <a:t>-&gt; </a:t>
            </a:r>
            <a:r>
              <a:rPr lang="ko-KR" altLang="en-US"/>
              <a:t>클래스 다이어그램 </a:t>
            </a:r>
            <a:r>
              <a:rPr lang="en-US" altLang="ko-KR"/>
              <a:t>-&gt; </a:t>
            </a:r>
            <a:r>
              <a:rPr lang="ko-KR" altLang="en-US"/>
              <a:t>시퀀스 다이어그램 </a:t>
            </a:r>
            <a:r>
              <a:rPr lang="en-US" altLang="ko-KR"/>
              <a:t>-&gt; </a:t>
            </a:r>
            <a:r>
              <a:rPr lang="ko-KR" altLang="en-US"/>
              <a:t>비기능 요구사항으로 진행이 됩니다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Ppt </a:t>
            </a:r>
            <a:r>
              <a:rPr lang="ko-KR" altLang="en-US"/>
              <a:t>그대로 읽으면 될 것 같습니다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이것두</a:t>
            </a:r>
            <a:r>
              <a:rPr lang="en-US" altLang="ko-KR"/>
              <a:t>..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시스템 구성도는 이러한 모양을 가집니다</a:t>
            </a:r>
            <a:r>
              <a:rPr lang="en-US" altLang="ko-KR"/>
              <a:t>. </a:t>
            </a:r>
            <a:r>
              <a:rPr lang="ko-KR" altLang="en-US"/>
              <a:t>         하고 바로 넘어가도 될 것 같아요 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include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통합 클래스 다이어그램은 다음과 같습니다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세부적인 클래스 다이어그램에 대한 설명을 이어서 진행하도록 하겠습니다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인증과정은 사용자가 </a:t>
            </a:r>
            <a:r>
              <a:rPr lang="en-US" altLang="ko-KR"/>
              <a:t>UserView</a:t>
            </a:r>
            <a:r>
              <a:rPr lang="ko-KR" altLang="en-US"/>
              <a:t>를 통해 </a:t>
            </a:r>
            <a:r>
              <a:rPr lang="en-US" altLang="ko-KR"/>
              <a:t>FaceRecognition</a:t>
            </a:r>
            <a:r>
              <a:rPr lang="ko-KR" altLang="en-US"/>
              <a:t>에 얼굴 사진을 보내고 인증결과를 </a:t>
            </a:r>
            <a:r>
              <a:rPr lang="en-US" altLang="ko-KR"/>
              <a:t>Attendacnce</a:t>
            </a:r>
            <a:r>
              <a:rPr lang="ko-KR" altLang="en-US"/>
              <a:t>에 보내서 인증이력을 </a:t>
            </a:r>
            <a:r>
              <a:rPr lang="en-US" altLang="ko-KR"/>
              <a:t>UseHistory</a:t>
            </a:r>
            <a:r>
              <a:rPr lang="ko-KR" altLang="en-US"/>
              <a:t>를 통해 저장하게 됩니다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사용자 등록 및 제거의 경우 관리자가 </a:t>
            </a:r>
            <a:r>
              <a:rPr lang="en-US" altLang="ko-KR"/>
              <a:t>AdminView</a:t>
            </a:r>
            <a:r>
              <a:rPr lang="ko-KR" altLang="en-US"/>
              <a:t>를 통해 로그인하여 </a:t>
            </a:r>
            <a:r>
              <a:rPr lang="en-US" altLang="ko-KR"/>
              <a:t>InformationPerson</a:t>
            </a:r>
            <a:r>
              <a:rPr lang="ko-KR" altLang="en-US"/>
              <a:t>을 통해 사용자를 등록하거나 삭제합니다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관리자가 사용기록을 조회하는 경우</a:t>
            </a:r>
            <a:r>
              <a:rPr lang="en-US" altLang="ko-KR"/>
              <a:t>,</a:t>
            </a:r>
            <a:r>
              <a:rPr lang="ko-KR" altLang="en-US"/>
              <a:t> 관리자는 </a:t>
            </a:r>
            <a:r>
              <a:rPr lang="en-US" altLang="ko-KR"/>
              <a:t>AdminView</a:t>
            </a:r>
            <a:r>
              <a:rPr lang="ko-KR" altLang="en-US"/>
              <a:t>를 통해 로그인하고 </a:t>
            </a:r>
            <a:r>
              <a:rPr lang="en-US" altLang="ko-KR"/>
              <a:t>Attendance</a:t>
            </a:r>
            <a:r>
              <a:rPr lang="ko-KR" altLang="en-US"/>
              <a:t>에 접근하여 </a:t>
            </a:r>
            <a:r>
              <a:rPr lang="en-US" altLang="ko-KR"/>
              <a:t>UseHIstory</a:t>
            </a:r>
            <a:r>
              <a:rPr lang="ko-KR" altLang="en-US"/>
              <a:t>를 통해 저장된 사용기록들을 조회합니다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사용자가 사용기록을 조회하는 경우</a:t>
            </a:r>
            <a:r>
              <a:rPr lang="en-US" altLang="ko-KR"/>
              <a:t>,</a:t>
            </a:r>
            <a:r>
              <a:rPr lang="ko-KR" altLang="en-US"/>
              <a:t> 사용자는 </a:t>
            </a:r>
            <a:r>
              <a:rPr lang="en-US" altLang="ko-KR"/>
              <a:t>SearchView</a:t>
            </a:r>
            <a:r>
              <a:rPr lang="ko-KR" altLang="en-US"/>
              <a:t>를 통해 얼굴 사진을 </a:t>
            </a:r>
            <a:r>
              <a:rPr lang="en-US" altLang="ko-KR"/>
              <a:t>FaceRecognition</a:t>
            </a:r>
            <a:r>
              <a:rPr lang="ko-KR" altLang="en-US"/>
              <a:t>에 보내고 인증 로직을 수행 후 결과를 </a:t>
            </a:r>
            <a:r>
              <a:rPr lang="en-US" altLang="ko-KR"/>
              <a:t>Attendance</a:t>
            </a:r>
            <a:r>
              <a:rPr lang="ko-KR" altLang="en-US"/>
              <a:t>에 보내서 </a:t>
            </a:r>
            <a:r>
              <a:rPr lang="en-US" altLang="ko-KR"/>
              <a:t>UseHistory</a:t>
            </a:r>
            <a:r>
              <a:rPr lang="ko-KR" altLang="en-US"/>
              <a:t>를 통해 해당 사용기록을 조회합니다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en-US" altLang="ko-KR" sz="1200" b="1" i="0">
                <a:solidFill>
                  <a:srgbClr val="000000"/>
                </a:solidFill>
                <a:effectLst/>
                <a:latin typeface="Arial"/>
              </a:rPr>
              <a:t>InformationPerson</a:t>
            </a:r>
            <a:r>
              <a:rPr lang="en-US" altLang="ko-KR"/>
              <a:t> </a:t>
            </a:r>
            <a:r>
              <a:rPr lang="ko-KR" altLang="en-US"/>
              <a:t>모듈의 속성 및 오퍼레이션에 대해 설명드리겠습니다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속성은 사용자의 고유 식별 번호를 의미하는 코드와 이름</a:t>
            </a:r>
            <a:r>
              <a:rPr lang="en-US" altLang="ko-KR"/>
              <a:t>, </a:t>
            </a:r>
            <a:r>
              <a:rPr lang="ko-KR" altLang="en-US"/>
              <a:t>전화번호로 구성되어 있습니다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오퍼레이션의 경우 특정 사용자의 정보를 조회하는 </a:t>
            </a:r>
            <a:r>
              <a:rPr lang="en-US" altLang="ko-KR"/>
              <a:t>list</a:t>
            </a:r>
            <a:r>
              <a:rPr lang="ko-KR" altLang="en-US"/>
              <a:t>와 모든 사용자의 정보를 조회하는 </a:t>
            </a:r>
            <a:r>
              <a:rPr lang="en-US" altLang="ko-KR"/>
              <a:t>listAll, </a:t>
            </a:r>
            <a:r>
              <a:rPr lang="ko-KR" altLang="en-US"/>
              <a:t>사용자의 정보를 저장하는 </a:t>
            </a:r>
            <a:r>
              <a:rPr lang="en-US" altLang="ko-KR"/>
              <a:t>submit</a:t>
            </a:r>
            <a:r>
              <a:rPr lang="ko-KR" altLang="en-US"/>
              <a:t>으로 구성되어 있습니다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다음은 </a:t>
            </a:r>
            <a:r>
              <a:rPr lang="en-US" altLang="ko-KR" sz="1200" b="1">
                <a:solidFill>
                  <a:srgbClr val="000000"/>
                </a:solidFill>
                <a:latin typeface="Arial"/>
              </a:rPr>
              <a:t>FaceRecognition</a:t>
            </a:r>
            <a:r>
              <a:rPr lang="en-US" altLang="ko-KR"/>
              <a:t> </a:t>
            </a:r>
            <a:r>
              <a:rPr lang="ko-KR" altLang="en-US"/>
              <a:t>모듈입니다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속성은 사용자 이미지와 사용자의 이름 정보가 담긴 라벨이 있습니다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오퍼레이션의 경우 사진들을 인코딩하는 </a:t>
            </a:r>
            <a:r>
              <a:rPr lang="en-US" altLang="ko-KR"/>
              <a:t>imageEncoding</a:t>
            </a:r>
            <a:r>
              <a:rPr lang="ko-KR" altLang="en-US"/>
              <a:t>과 인증중결과를 확인하는 </a:t>
            </a:r>
            <a:r>
              <a:rPr lang="en-US" altLang="ko-KR"/>
              <a:t>checkAttendance, 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인증 내역 조회 로직을 호출하는 </a:t>
            </a:r>
            <a:r>
              <a:rPr lang="en-US" altLang="ko-KR"/>
              <a:t>userSearch </a:t>
            </a:r>
            <a:r>
              <a:rPr lang="ko-KR" altLang="en-US"/>
              <a:t>그리고 인증 수행 후 내역을 저장하는 로직을 호출하는 </a:t>
            </a:r>
            <a:r>
              <a:rPr lang="en-US" altLang="ko-KR"/>
              <a:t>identifyUser</a:t>
            </a:r>
            <a:r>
              <a:rPr lang="ko-KR" altLang="en-US"/>
              <a:t>로 구성되어 있습니다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다음은 </a:t>
            </a:r>
            <a:r>
              <a:rPr lang="en-US" altLang="ko-KR" sz="1200" b="1" i="0">
                <a:solidFill>
                  <a:srgbClr val="000000"/>
                </a:solidFill>
                <a:effectLst/>
                <a:latin typeface="Arial"/>
              </a:rPr>
              <a:t>Attendance</a:t>
            </a:r>
            <a:r>
              <a:rPr lang="en-US" altLang="ko-KR"/>
              <a:t> </a:t>
            </a:r>
            <a:r>
              <a:rPr lang="ko-KR" altLang="en-US"/>
              <a:t>모듈입니다</a:t>
            </a:r>
            <a:r>
              <a:rPr lang="en-US" altLang="ko-KR"/>
              <a:t>.</a:t>
            </a:r>
            <a:endParaRPr lang="en-US" altLang="ko-KR"/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속성은 사용자의 고유 식별 번호를 의미하는 코드와 이름으로 구성되어 있습니다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오퍼레이션의 경우 특정 사용자의 인증이력을 조회하는 로직을 수행하는 </a:t>
            </a:r>
            <a:r>
              <a:rPr lang="en-US" altLang="ko-KR"/>
              <a:t>list</a:t>
            </a:r>
            <a:r>
              <a:rPr lang="ko-KR" altLang="en-US"/>
              <a:t>와 모든 사용자의 인증이력을 조회하는 로직을 수행하는 </a:t>
            </a:r>
            <a:r>
              <a:rPr lang="en-US" altLang="ko-KR"/>
              <a:t>listAll, 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인증 이력을 저장하는 로직을 수행하는 </a:t>
            </a:r>
            <a:r>
              <a:rPr lang="en-US" altLang="ko-KR"/>
              <a:t>submit</a:t>
            </a:r>
            <a:r>
              <a:rPr lang="ko-KR" altLang="en-US"/>
              <a:t>으로 구성되어 있습니다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다음은 </a:t>
            </a:r>
            <a:r>
              <a:rPr lang="en-US" altLang="ko-KR" sz="1200" b="1" i="0">
                <a:solidFill>
                  <a:srgbClr val="000000"/>
                </a:solidFill>
                <a:effectLst/>
                <a:latin typeface="Arial"/>
              </a:rPr>
              <a:t>UseHistory</a:t>
            </a:r>
            <a:r>
              <a:rPr lang="en-US" altLang="ko-KR"/>
              <a:t> </a:t>
            </a:r>
            <a:r>
              <a:rPr lang="ko-KR" altLang="en-US"/>
              <a:t>모듈입니다</a:t>
            </a:r>
            <a:r>
              <a:rPr lang="en-US" altLang="ko-KR"/>
              <a:t>.</a:t>
            </a:r>
            <a:endParaRPr lang="en-US" altLang="ko-KR"/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속성은 사용자의 고유 식별 번호를 의미하는 코드와 이름</a:t>
            </a:r>
            <a:r>
              <a:rPr lang="en-US" altLang="ko-KR"/>
              <a:t>, </a:t>
            </a:r>
            <a:r>
              <a:rPr lang="ko-KR" altLang="en-US"/>
              <a:t>해당 이벤트가 발생되는 시간으로 구성되어 있습니다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오퍼레이션의 경우 인증 이력을 저장하는 </a:t>
            </a:r>
            <a:r>
              <a:rPr lang="en-US" altLang="ko-KR"/>
              <a:t>add, </a:t>
            </a:r>
            <a:r>
              <a:rPr lang="ko-KR" altLang="en-US"/>
              <a:t>특정 사용자의 인증 내역을 조회하는 </a:t>
            </a:r>
            <a:r>
              <a:rPr lang="en-US" altLang="ko-KR"/>
              <a:t>history, </a:t>
            </a:r>
            <a:r>
              <a:rPr lang="ko-KR" altLang="en-US"/>
              <a:t>모든 사용자의 인증 내역을 조회하는 </a:t>
            </a:r>
            <a:r>
              <a:rPr lang="en-US" altLang="ko-KR"/>
              <a:t>historyAll</a:t>
            </a:r>
            <a:r>
              <a:rPr lang="ko-KR" altLang="en-US"/>
              <a:t>로 구성되어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저희의 클래스는 연관관계들로 이루어 져있으며 </a:t>
            </a:r>
            <a:r>
              <a:rPr lang="en-US" altLang="ko-KR"/>
              <a:t>UserView</a:t>
            </a:r>
            <a:r>
              <a:rPr lang="ko-KR" altLang="en-US"/>
              <a:t>와 </a:t>
            </a:r>
            <a:r>
              <a:rPr lang="en-US" altLang="ko-KR"/>
              <a:t>FaceRecognition</a:t>
            </a:r>
            <a:r>
              <a:rPr lang="ko-KR" altLang="en-US"/>
              <a:t>은 인증을 위한 로직을 호출하고 </a:t>
            </a:r>
            <a:r>
              <a:rPr lang="en-US" altLang="ko-KR"/>
              <a:t>, Face- </a:t>
            </a:r>
            <a:r>
              <a:rPr lang="ko-KR" altLang="en-US"/>
              <a:t>와 </a:t>
            </a:r>
            <a:r>
              <a:rPr lang="en-US" altLang="ko-KR"/>
              <a:t>Atten-</a:t>
            </a:r>
            <a:r>
              <a:rPr lang="ko-KR" altLang="en-US"/>
              <a:t>는 인증이 된 내역을 저장하기위한 </a:t>
            </a:r>
            <a:r>
              <a:rPr lang="en-US" altLang="ko-KR"/>
              <a:t>-, </a:t>
            </a:r>
            <a:r>
              <a:rPr lang="ko-KR" altLang="en-US"/>
              <a:t>이런식으로 쭉 가고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마지막으로 </a:t>
            </a:r>
            <a:r>
              <a:rPr lang="en-US" altLang="ko-KR"/>
              <a:t>SearchView</a:t>
            </a:r>
            <a:r>
              <a:rPr lang="ko-KR" altLang="en-US"/>
              <a:t>와 </a:t>
            </a:r>
            <a:r>
              <a:rPr lang="en-US" altLang="ko-KR"/>
              <a:t>FaceRecognition</a:t>
            </a:r>
            <a:r>
              <a:rPr lang="ko-KR" altLang="en-US"/>
              <a:t>은</a:t>
            </a:r>
            <a:r>
              <a:rPr lang="en-US" altLang="ko-KR"/>
              <a:t> </a:t>
            </a:r>
            <a:r>
              <a:rPr lang="ko-KR" altLang="en-US"/>
              <a:t>개인 사용자가 이용내역을 요청하기 위한 로직을 호출합니다</a:t>
            </a:r>
            <a:r>
              <a:rPr lang="en-US" altLang="ko-KR"/>
              <a:t>. 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사용자 얼굴인증 시퀀스 다이어그램에서는 얼굴인식 정보가 들어온다면 사용자는 얼굴식별시스템에 얼굴에 관한 정보를 주고 그 정보가 인증된 사람인 경우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사용자는 얼굴 식별시스템으로부터 인증 여부 및 사용자 정보를 수신하게 됩니다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유저 인증정보 요청 시퀀스 다이어그램에서는 유저가 사용자인 경우 얼굴정보를 얼굴 식별시스템에 전달하고 그 정보를 회원인증정보를 가지고있는 목록에 정보를 요청하고 유저에게 사용자에 관한 인증정보를 제공합니다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유저가 관리자인 경우 얼굴 식별시스템을 거치지 않고 회원인증정보목록에 요청을하고 조건이 조회일때는 인증 정보를 수신하게 되고 제거와 등록일때는 단순히 인증정보목록에 저장하게 됩니다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통합 시퀀스 다이어그램에서는 사용자가 얼굴을 웹서버에 주고 그 정보를 얼굴인식시스템에 전달하게 됩니다</a:t>
            </a:r>
            <a:r>
              <a:rPr lang="en-US" altLang="ko-KR"/>
              <a:t>. </a:t>
            </a:r>
            <a:r>
              <a:rPr lang="ko-KR" altLang="en-US"/>
              <a:t>얼굴인식시스템에서 그 정보를 처리한후 인증인경우 원하는 정보를 </a:t>
            </a:r>
            <a:r>
              <a:rPr lang="en-US" altLang="ko-KR"/>
              <a:t>DB</a:t>
            </a:r>
            <a:r>
              <a:rPr lang="ko-KR" altLang="en-US"/>
              <a:t>에 전달후 얼굴인식시스템으로부터 웹서버를 거쳐 사용자에게 정보가 전달이 되고</a:t>
            </a:r>
            <a:r>
              <a:rPr lang="en-US" altLang="ko-KR"/>
              <a:t>, </a:t>
            </a:r>
            <a:r>
              <a:rPr lang="ko-KR" altLang="en-US"/>
              <a:t>인증이 아닌 경우 즉 인증정보조회인 경우 데이터베이스로부터 정보가 얼굴인식시스템 웹서버 마지막 사용자한테 전달이 됩니다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2021-04-01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Relationship Id="rId4" Type="http://schemas.openxmlformats.org/officeDocument/2006/relationships/image" Target="../media/image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5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6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7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8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9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0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5640" y="1628800"/>
            <a:ext cx="6534726" cy="5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3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얼굴 인식을 통한 본인인증 시스템</a:t>
            </a:r>
            <a:endParaRPr lang="ko-KR" altLang="en-US" sz="3300" b="1">
              <a:solidFill>
                <a:srgbClr val="272123"/>
              </a:solidFill>
              <a:ea typeface="한컴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5559" y="2767280"/>
            <a:ext cx="3333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 sz="1100">
              <a:solidFill>
                <a:srgbClr val="272123"/>
              </a:solidFill>
              <a:latin typeface="Yoon 윤고딕 520_TT"/>
              <a:ea typeface="Yoon 윤고딕 520_TT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7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CrePAS 6</a:t>
            </a:r>
            <a:r>
              <a:rPr lang="en-US" altLang="ko-KR" sz="700" baseline="300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th</a:t>
            </a:r>
            <a:r>
              <a:rPr lang="en-US" altLang="ko-KR" sz="7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 the first session</a:t>
            </a:r>
            <a:endParaRPr lang="en-US" altLang="ko-KR" sz="7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0" y="0"/>
            <a:ext cx="12192000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 sz="700">
              <a:ln w="9525"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3344227" y="3429000"/>
          <a:ext cx="5503545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373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성명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학과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학번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지도교수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정우현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컴퓨터공학과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>
                          <a:ea typeface="한컴 고딕"/>
                        </a:rPr>
                        <a:t>15010948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500">
                        <a:latin typeface="한컴 고딕"/>
                        <a:ea typeface="한컴 고딕"/>
                      </a:endParaRPr>
                    </a:p>
                    <a:p>
                      <a:pPr algn="ctr">
                        <a:defRPr/>
                      </a:pPr>
                      <a:endParaRPr lang="en-US" altLang="ko-KR" sz="1500">
                        <a:latin typeface="한컴 고딕"/>
                        <a:ea typeface="한컴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권기학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</a:rPr>
                        <a:t>문현준</a:t>
                      </a:r>
                      <a:endParaRPr lang="ko-KR" altLang="en-US" sz="1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윤창민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컴퓨터공학과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>
                          <a:ea typeface="한컴 고딕"/>
                        </a:rPr>
                        <a:t>16010965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임준혁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컴퓨터공학과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>
                          <a:ea typeface="한컴 고딕"/>
                        </a:rPr>
                        <a:t>16010966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문현준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정재훈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>
                          <a:latin typeface="한컴 고딕"/>
                          <a:ea typeface="한컴 고딕"/>
                        </a:rPr>
                        <a:t>컴퓨터공학과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>
                          <a:ea typeface="한컴 고딕"/>
                        </a:rPr>
                        <a:t>16010973</a:t>
                      </a:r>
                      <a:endParaRPr lang="ko-KR" altLang="en-US" sz="1500">
                        <a:ea typeface="한컴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5895" y="2413337"/>
            <a:ext cx="15202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en-US" altLang="ko-KR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62626"/>
                </a:solidFill>
                <a:latin typeface="한컴 고딕"/>
                <a:ea typeface="한컴 고딕"/>
              </a:rPr>
              <a:t>6</a:t>
            </a:r>
            <a:r>
              <a:rPr lang="ko-KR" altLang="en-US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62626"/>
                </a:solidFill>
                <a:latin typeface="한컴 고딕"/>
                <a:ea typeface="한컴 고딕"/>
              </a:rPr>
              <a:t>조</a:t>
            </a:r>
          </a:p>
          <a:p>
            <a:pPr marL="0" indent="0" algn="ctr">
              <a:buFont typeface="Arial"/>
              <a:buNone/>
              <a:defRPr/>
            </a:pPr>
            <a:r>
              <a:rPr lang="ko-KR" altLang="en-US" sz="2200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62626"/>
                </a:solidFill>
                <a:latin typeface="한컴 고딕"/>
                <a:ea typeface="한컴 고딕"/>
              </a:rPr>
              <a:t>임윤정</a:t>
            </a:r>
            <a:endParaRPr lang="ko-KR" altLang="en-US" sz="2200">
              <a:ln w="9525">
                <a:solidFill>
                  <a:schemeClr val="tx1">
                    <a:alpha val="30000"/>
                  </a:schemeClr>
                </a:solidFill>
              </a:ln>
              <a:solidFill>
                <a:srgbClr val="262626"/>
              </a:solidFill>
              <a:ea typeface="한컴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11723" y="836712"/>
            <a:ext cx="4968552" cy="547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3000" b="1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한컴 고딕"/>
                <a:ea typeface="한컴 고딕"/>
              </a:rPr>
              <a:t>목차</a:t>
            </a:r>
            <a:endParaRPr lang="ko-KR" altLang="en-US" sz="3000" b="1">
              <a:ln w="9525"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a typeface="한컴 고딕"/>
            </a:endParaRPr>
          </a:p>
        </p:txBody>
      </p:sp>
      <p:sp>
        <p:nvSpPr>
          <p:cNvPr id="9" name="사각형: 둥근 모서리 1"/>
          <p:cNvSpPr/>
          <p:nvPr/>
        </p:nvSpPr>
        <p:spPr>
          <a:xfrm>
            <a:off x="371173" y="1702567"/>
            <a:ext cx="1377035" cy="1148130"/>
          </a:xfrm>
          <a:prstGeom prst="roundRect">
            <a:avLst>
              <a:gd name="adj" fmla="val 24775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프로젝트 </a:t>
            </a:r>
          </a:p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계획서</a:t>
            </a:r>
          </a:p>
        </p:txBody>
      </p:sp>
      <p:sp>
        <p:nvSpPr>
          <p:cNvPr id="16" name="사각형: 둥근 모서리 9"/>
          <p:cNvSpPr/>
          <p:nvPr/>
        </p:nvSpPr>
        <p:spPr>
          <a:xfrm>
            <a:off x="176061" y="3205707"/>
            <a:ext cx="1767258" cy="3348797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동기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개요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시스템 구성도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기능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2155008" y="1702565"/>
            <a:ext cx="1805942" cy="4851938"/>
            <a:chOff x="2347240" y="1702566"/>
            <a:chExt cx="1805942" cy="4851938"/>
          </a:xfrm>
        </p:grpSpPr>
        <p:sp>
          <p:nvSpPr>
            <p:cNvPr id="10" name="사각형: 둥근 모서리 1"/>
            <p:cNvSpPr/>
            <p:nvPr/>
          </p:nvSpPr>
          <p:spPr>
            <a:xfrm>
              <a:off x="2347240" y="1702566"/>
              <a:ext cx="1805942" cy="1148130"/>
            </a:xfrm>
            <a:prstGeom prst="roundRect">
              <a:avLst>
                <a:gd name="adj" fmla="val 24775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프로젝트</a:t>
              </a:r>
            </a:p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유스케이스</a:t>
              </a:r>
            </a:p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모델링</a:t>
              </a:r>
            </a:p>
          </p:txBody>
        </p:sp>
        <p:sp>
          <p:nvSpPr>
            <p:cNvPr id="17" name="사각형: 둥근 모서리 9"/>
            <p:cNvSpPr/>
            <p:nvPr/>
          </p:nvSpPr>
          <p:spPr>
            <a:xfrm>
              <a:off x="2385924" y="3205707"/>
              <a:ext cx="1767258" cy="3348797"/>
            </a:xfrm>
            <a:prstGeom prst="roundRect">
              <a:avLst>
                <a:gd name="adj" fmla="val 7065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dirty="0">
                  <a:solidFill>
                    <a:schemeClr val="tx1"/>
                  </a:solidFill>
                </a:rPr>
                <a:t>문제 설명서</a:t>
              </a: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204916" y="1702568"/>
            <a:ext cx="1767259" cy="4851937"/>
            <a:chOff x="4429716" y="1702566"/>
            <a:chExt cx="1767259" cy="4851937"/>
          </a:xfrm>
        </p:grpSpPr>
        <p:sp>
          <p:nvSpPr>
            <p:cNvPr id="11" name="사각형: 둥근 모서리 1"/>
            <p:cNvSpPr/>
            <p:nvPr/>
          </p:nvSpPr>
          <p:spPr>
            <a:xfrm>
              <a:off x="4486282" y="1702566"/>
              <a:ext cx="1654127" cy="1148130"/>
            </a:xfrm>
            <a:prstGeom prst="roundRect">
              <a:avLst>
                <a:gd name="adj" fmla="val 24775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유스케이스</a:t>
              </a:r>
            </a:p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다이어그램</a:t>
              </a:r>
            </a:p>
          </p:txBody>
        </p:sp>
        <p:sp>
          <p:nvSpPr>
            <p:cNvPr id="18" name="사각형: 둥근 모서리 9"/>
            <p:cNvSpPr/>
            <p:nvPr/>
          </p:nvSpPr>
          <p:spPr>
            <a:xfrm>
              <a:off x="4429716" y="3205706"/>
              <a:ext cx="1767258" cy="3348797"/>
            </a:xfrm>
            <a:prstGeom prst="roundRect">
              <a:avLst>
                <a:gd name="adj" fmla="val 7065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700" dirty="0" err="1">
                  <a:solidFill>
                    <a:schemeClr val="tx1"/>
                  </a:solidFill>
                </a:rPr>
                <a:t>유스케이스</a:t>
              </a:r>
              <a:r>
                <a:rPr lang="ko-KR" altLang="en-US" sz="1700" dirty="0">
                  <a:solidFill>
                    <a:schemeClr val="tx1"/>
                  </a:solidFill>
                </a:rPr>
                <a:t> </a:t>
              </a:r>
              <a:endParaRPr lang="en-US" altLang="ko-KR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시나리오</a:t>
              </a:r>
            </a:p>
            <a:p>
              <a:pPr algn="ctr">
                <a:defRPr/>
              </a:pPr>
              <a:endParaRPr lang="ko-KR" altLang="en-US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 err="1">
                  <a:solidFill>
                    <a:schemeClr val="tx1"/>
                  </a:solidFill>
                </a:rPr>
                <a:t>유스케이스</a:t>
              </a:r>
              <a:r>
                <a:rPr lang="ko-KR" altLang="en-US" sz="1700" dirty="0">
                  <a:solidFill>
                    <a:schemeClr val="tx1"/>
                  </a:solidFill>
                </a:rPr>
                <a:t> </a:t>
              </a:r>
              <a:endParaRPr lang="en-US" altLang="ko-KR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다이어그램</a:t>
              </a:r>
            </a:p>
            <a:p>
              <a:pPr algn="ctr">
                <a:defRPr/>
              </a:pPr>
              <a:endParaRPr lang="ko-KR" altLang="en-US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 err="1">
                  <a:solidFill>
                    <a:schemeClr val="tx1"/>
                  </a:solidFill>
                </a:rPr>
                <a:t>유스케이스</a:t>
              </a:r>
              <a:r>
                <a:rPr lang="ko-KR" altLang="en-US" sz="1700" dirty="0">
                  <a:solidFill>
                    <a:schemeClr val="tx1"/>
                  </a:solidFill>
                </a:rPr>
                <a:t> </a:t>
              </a:r>
              <a:endParaRPr lang="en-US" altLang="ko-KR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식별자 목록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6241383" y="1702565"/>
            <a:ext cx="3749908" cy="4851937"/>
            <a:chOff x="6584718" y="1702566"/>
            <a:chExt cx="3749908" cy="4851937"/>
          </a:xfrm>
        </p:grpSpPr>
        <p:sp>
          <p:nvSpPr>
            <p:cNvPr id="12" name="사각형: 둥근 모서리 1"/>
            <p:cNvSpPr/>
            <p:nvPr/>
          </p:nvSpPr>
          <p:spPr>
            <a:xfrm>
              <a:off x="6675920" y="1702566"/>
              <a:ext cx="1584854" cy="1148130"/>
            </a:xfrm>
            <a:prstGeom prst="roundRect">
              <a:avLst>
                <a:gd name="adj" fmla="val 24775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클래스</a:t>
              </a:r>
            </a:p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다이어그램</a:t>
              </a:r>
            </a:p>
          </p:txBody>
        </p:sp>
        <p:sp>
          <p:nvSpPr>
            <p:cNvPr id="19" name="사각형: 둥근 모서리 9"/>
            <p:cNvSpPr/>
            <p:nvPr/>
          </p:nvSpPr>
          <p:spPr>
            <a:xfrm>
              <a:off x="6584718" y="3205706"/>
              <a:ext cx="1767258" cy="3348797"/>
            </a:xfrm>
            <a:prstGeom prst="roundRect">
              <a:avLst>
                <a:gd name="adj" fmla="val 7065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>
                  <a:solidFill>
                    <a:schemeClr val="tx1"/>
                  </a:solidFill>
                </a:rPr>
                <a:t>클래스 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600" dirty="0">
                  <a:solidFill>
                    <a:schemeClr val="tx1"/>
                  </a:solidFill>
                </a:rPr>
                <a:t>다이어그램 작성</a:t>
              </a:r>
            </a:p>
            <a:p>
              <a:pPr algn="ctr">
                <a:defRPr/>
              </a:pPr>
              <a:endParaRPr lang="ko-KR" altLang="en-US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속성의 정의</a:t>
              </a:r>
            </a:p>
            <a:p>
              <a:pPr algn="ctr">
                <a:defRPr/>
              </a:pPr>
              <a:endParaRPr lang="ko-KR" altLang="en-US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오퍼레이션의 정의</a:t>
              </a:r>
            </a:p>
            <a:p>
              <a:pPr algn="ctr">
                <a:defRPr/>
              </a:pPr>
              <a:endParaRPr lang="ko-KR" altLang="en-US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관계 정보</a:t>
              </a:r>
            </a:p>
          </p:txBody>
        </p:sp>
        <p:sp>
          <p:nvSpPr>
            <p:cNvPr id="20" name="사각형: 둥근 모서리 9">
              <a:extLst>
                <a:ext uri="{FF2B5EF4-FFF2-40B4-BE49-F238E27FC236}">
                  <a16:creationId xmlns:a16="http://schemas.microsoft.com/office/drawing/2014/main" id="{84978069-4960-4B83-AFE4-5D30B8FCD8E3}"/>
                </a:ext>
              </a:extLst>
            </p:cNvPr>
            <p:cNvSpPr/>
            <p:nvPr/>
          </p:nvSpPr>
          <p:spPr>
            <a:xfrm>
              <a:off x="8567368" y="3205706"/>
              <a:ext cx="1767258" cy="3348797"/>
            </a:xfrm>
            <a:prstGeom prst="roundRect">
              <a:avLst>
                <a:gd name="adj" fmla="val 7065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얼굴인증 </a:t>
              </a:r>
              <a:endParaRPr lang="en-US" altLang="ko-KR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altLang="ko-KR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인증정보요청</a:t>
              </a:r>
              <a:endParaRPr lang="en-US" altLang="ko-KR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altLang="ko-KR" sz="17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sz="1700" dirty="0">
                  <a:solidFill>
                    <a:schemeClr val="tx1"/>
                  </a:solidFill>
                </a:rPr>
                <a:t>통합</a:t>
              </a:r>
            </a:p>
          </p:txBody>
        </p:sp>
      </p:grpSp>
      <p:sp>
        <p:nvSpPr>
          <p:cNvPr id="13" name="사각형: 둥근 모서리 1"/>
          <p:cNvSpPr/>
          <p:nvPr/>
        </p:nvSpPr>
        <p:spPr>
          <a:xfrm>
            <a:off x="8354273" y="1702566"/>
            <a:ext cx="1584854" cy="1148130"/>
          </a:xfrm>
          <a:prstGeom prst="roundRect">
            <a:avLst>
              <a:gd name="adj" fmla="val 24775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시퀀스</a:t>
            </a:r>
          </a:p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다이어그램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10260501" y="1702566"/>
            <a:ext cx="1767259" cy="4851937"/>
            <a:chOff x="10270027" y="1702566"/>
            <a:chExt cx="1767259" cy="4851937"/>
          </a:xfrm>
        </p:grpSpPr>
        <p:sp>
          <p:nvSpPr>
            <p:cNvPr id="14" name="사각형: 둥근 모서리 1"/>
            <p:cNvSpPr/>
            <p:nvPr/>
          </p:nvSpPr>
          <p:spPr>
            <a:xfrm>
              <a:off x="10361229" y="1702566"/>
              <a:ext cx="1584854" cy="1148130"/>
            </a:xfrm>
            <a:prstGeom prst="roundRect">
              <a:avLst>
                <a:gd name="adj" fmla="val 24775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비 기능</a:t>
              </a:r>
            </a:p>
            <a:p>
              <a:pPr algn="ctr">
                <a:defRPr/>
              </a:pPr>
              <a:r>
                <a:rPr lang="ko-KR" altLang="en-US" b="1">
                  <a:solidFill>
                    <a:schemeClr val="tx1"/>
                  </a:solidFill>
                </a:rPr>
                <a:t>요구사항</a:t>
              </a:r>
            </a:p>
          </p:txBody>
        </p:sp>
        <p:sp>
          <p:nvSpPr>
            <p:cNvPr id="21" name="사각형: 둥근 모서리 9"/>
            <p:cNvSpPr/>
            <p:nvPr/>
          </p:nvSpPr>
          <p:spPr>
            <a:xfrm>
              <a:off x="10270027" y="3205706"/>
              <a:ext cx="1767258" cy="3348797"/>
            </a:xfrm>
            <a:prstGeom prst="roundRect">
              <a:avLst>
                <a:gd name="adj" fmla="val 7065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dirty="0">
                  <a:solidFill>
                    <a:schemeClr val="tx1"/>
                  </a:solidFill>
                </a:rPr>
                <a:t>제품 요구사항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altLang="ko-KR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ko-KR" altLang="en-US" dirty="0">
                  <a:solidFill>
                    <a:schemeClr val="tx1"/>
                  </a:solidFill>
                </a:rPr>
                <a:t>외부 요구사항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18"/>
            <a:ext cx="11493391" cy="6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01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37" name="TextBox 5"/>
          <p:cNvSpPr txBox="1"/>
          <p:nvPr/>
        </p:nvSpPr>
        <p:spPr>
          <a:xfrm>
            <a:off x="674195" y="0"/>
            <a:ext cx="17281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동기</a:t>
            </a:r>
            <a:endParaRPr lang="ko-KR" altLang="en-US" sz="2500" b="1">
              <a:solidFill>
                <a:srgbClr val="272123"/>
              </a:solidFill>
              <a:ea typeface="한컴 고딕"/>
            </a:endParaRPr>
          </a:p>
        </p:txBody>
      </p:sp>
      <p:sp>
        <p:nvSpPr>
          <p:cNvPr id="2" name="사각형: 둥근 모서리 1"/>
          <p:cNvSpPr/>
          <p:nvPr/>
        </p:nvSpPr>
        <p:spPr>
          <a:xfrm>
            <a:off x="1014975" y="1070938"/>
            <a:ext cx="2950515" cy="544340"/>
          </a:xfrm>
          <a:prstGeom prst="roundRect">
            <a:avLst>
              <a:gd name="adj" fmla="val 24775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효율적인 신분검사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1005" y="1951404"/>
            <a:ext cx="7200793" cy="634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+mj-lt"/>
              <a:buNone/>
              <a:defRPr/>
            </a:pPr>
            <a:r>
              <a:rPr lang="ko-KR" altLang="en-US" dirty="0"/>
              <a:t>더욱 더 편리함을 추구하는 현대 사회에서 회사</a:t>
            </a:r>
            <a:r>
              <a:rPr lang="en-US" altLang="ko-KR" dirty="0"/>
              <a:t>, </a:t>
            </a:r>
            <a:r>
              <a:rPr lang="ko-KR" altLang="en-US" dirty="0"/>
              <a:t>학교 등 특정 그룹 내에서 간편하고 신뢰성 있게 처리하고 싶다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31" name="사각형: 둥근 모서리 1"/>
          <p:cNvSpPr/>
          <p:nvPr/>
        </p:nvSpPr>
        <p:spPr>
          <a:xfrm>
            <a:off x="1014975" y="3429000"/>
            <a:ext cx="1713619" cy="544340"/>
          </a:xfrm>
          <a:prstGeom prst="roundRect">
            <a:avLst>
              <a:gd name="adj" fmla="val 24775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보안성</a:t>
            </a:r>
          </a:p>
        </p:txBody>
      </p:sp>
      <p:sp>
        <p:nvSpPr>
          <p:cNvPr id="1032" name="TextBox 5"/>
          <p:cNvSpPr txBox="1"/>
          <p:nvPr/>
        </p:nvSpPr>
        <p:spPr>
          <a:xfrm>
            <a:off x="1231005" y="4440162"/>
            <a:ext cx="7200793" cy="90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+mj-lt"/>
              <a:buNone/>
              <a:defRPr/>
            </a:pPr>
            <a:r>
              <a:rPr lang="ko-KR" altLang="en-US"/>
              <a:t>특정 그룹을 대상으로 한 환경 속에서 인허되지 않은 사람들의 접근을 방지할 수 있는 보안성을 갖고 싶다</a:t>
            </a:r>
            <a:r>
              <a:rPr lang="en-US" altLang="ko-KR"/>
              <a:t>.(</a:t>
            </a:r>
            <a:r>
              <a:rPr lang="ko-KR" altLang="en-US"/>
              <a:t>입</a:t>
            </a:r>
            <a:r>
              <a:rPr lang="en-US" altLang="ko-KR"/>
              <a:t>/</a:t>
            </a:r>
            <a:r>
              <a:rPr lang="ko-KR" altLang="en-US"/>
              <a:t>출입 등</a:t>
            </a:r>
            <a:r>
              <a:rPr lang="en-US" altLang="ko-KR"/>
              <a:t>)</a:t>
            </a:r>
          </a:p>
          <a:p>
            <a:pPr lvl="0"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898"/>
            <a:ext cx="11493391" cy="8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01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37" name="TextBox 5"/>
          <p:cNvSpPr txBox="1"/>
          <p:nvPr/>
        </p:nvSpPr>
        <p:spPr>
          <a:xfrm>
            <a:off x="674195" y="0"/>
            <a:ext cx="1728191" cy="4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개요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1033" name="내용 개체 틀 2"/>
          <p:cNvSpPr>
            <a:spLocks noGrp="1" noChangeArrowheads="1"/>
          </p:cNvSpPr>
          <p:nvPr>
            <p:ph idx="1"/>
          </p:nvPr>
        </p:nvSpPr>
        <p:spPr>
          <a:xfrm>
            <a:off x="1094098" y="1473261"/>
            <a:ext cx="8118074" cy="5013165"/>
          </a:xfrm>
        </p:spPr>
        <p:txBody>
          <a:bodyPr vert="horz" lIns="91440" tIns="45720" rIns="91440" bIns="45720">
            <a:normAutofit/>
          </a:bodyPr>
          <a:lstStyle/>
          <a:p>
            <a:pPr>
              <a:lnSpc>
                <a:spcPct val="150000"/>
              </a:lnSpc>
              <a:buFontTx/>
              <a:buChar char="•"/>
              <a:defRPr/>
            </a:pPr>
            <a:r>
              <a:rPr lang="ko-KR" altLang="en-US" sz="1700"/>
              <a:t>현재 국내 많은 회사</a:t>
            </a:r>
            <a:r>
              <a:rPr lang="en-US" altLang="ko-KR" sz="1700"/>
              <a:t>, </a:t>
            </a:r>
            <a:r>
              <a:rPr lang="ko-KR" altLang="en-US" sz="1700"/>
              <a:t>학교 등 단체생활 공간의 경우 사원증</a:t>
            </a:r>
            <a:r>
              <a:rPr lang="en-US" altLang="ko-KR" sz="1700"/>
              <a:t>,</a:t>
            </a:r>
            <a:r>
              <a:rPr lang="ko-KR" altLang="en-US" sz="1700"/>
              <a:t> 출입</a:t>
            </a:r>
            <a:r>
              <a:rPr lang="en-US" altLang="ko-KR" sz="1700"/>
              <a:t> </a:t>
            </a:r>
            <a:r>
              <a:rPr lang="ko-KR" altLang="en-US" sz="1700"/>
              <a:t>명부 작성 등 다양한 출입 관리 시스템이 존재합니다</a:t>
            </a:r>
            <a:r>
              <a:rPr lang="en-US" altLang="ko-KR" sz="1700"/>
              <a:t>. </a:t>
            </a:r>
            <a:endParaRPr lang="en-US" altLang="ko-KR" sz="1700"/>
          </a:p>
          <a:p>
            <a:pPr>
              <a:lnSpc>
                <a:spcPct val="150000"/>
              </a:lnSpc>
              <a:buFontTx/>
              <a:buChar char="•"/>
              <a:defRPr/>
            </a:pPr>
            <a:r>
              <a:rPr lang="ko-KR" altLang="en-US" sz="1700"/>
              <a:t>하지만</a:t>
            </a:r>
            <a:r>
              <a:rPr lang="en-US" altLang="ko-KR" sz="1700"/>
              <a:t>, </a:t>
            </a:r>
            <a:r>
              <a:rPr lang="ko-KR" altLang="en-US" sz="1700"/>
              <a:t>사원증 및 명부 작성의 도용</a:t>
            </a:r>
            <a:r>
              <a:rPr lang="en-US" altLang="ko-KR" sz="1700"/>
              <a:t>, </a:t>
            </a:r>
            <a:r>
              <a:rPr lang="ko-KR" altLang="en-US" sz="1700"/>
              <a:t>악용하는 문제</a:t>
            </a:r>
            <a:r>
              <a:rPr lang="en-US" altLang="ko-KR" sz="1700"/>
              <a:t>, </a:t>
            </a:r>
            <a:r>
              <a:rPr lang="ko-KR" altLang="en-US" sz="1700"/>
              <a:t>출입 관리 데이터를 조작하는 문제가 발생합니다</a:t>
            </a:r>
            <a:r>
              <a:rPr lang="en-US" altLang="ko-KR" sz="1700"/>
              <a:t>. </a:t>
            </a:r>
            <a:endParaRPr lang="en-US" altLang="ko-KR" sz="1700"/>
          </a:p>
          <a:p>
            <a:pPr>
              <a:lnSpc>
                <a:spcPct val="150000"/>
              </a:lnSpc>
              <a:buFontTx/>
              <a:buChar char="•"/>
              <a:defRPr/>
            </a:pPr>
            <a:r>
              <a:rPr lang="ko-KR" altLang="en-US" sz="1700"/>
              <a:t>이 프로젝트는 입출입 기록에 대한 위변조를 방지하는 시스템을 개발하는 것이 목표입니다</a:t>
            </a:r>
            <a:r>
              <a:rPr lang="en-US" altLang="ko-KR" sz="1700"/>
              <a:t>.</a:t>
            </a:r>
            <a:r>
              <a:rPr lang="ko-KR" altLang="en-US" sz="1700"/>
              <a:t> </a:t>
            </a:r>
            <a:endParaRPr lang="ko-KR" altLang="en-US" sz="1700"/>
          </a:p>
          <a:p>
            <a:pPr>
              <a:buFontTx/>
              <a:buChar char="•"/>
              <a:defRPr/>
            </a:pPr>
            <a:endParaRPr lang="en-US" altLang="ko-KR"/>
          </a:p>
          <a:p>
            <a:pPr marL="0" indent="0">
              <a:buNone/>
              <a:defRPr/>
            </a:pPr>
            <a:endParaRPr lang="ko-KR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01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37" name="TextBox 5"/>
          <p:cNvSpPr txBox="1"/>
          <p:nvPr/>
        </p:nvSpPr>
        <p:spPr>
          <a:xfrm>
            <a:off x="674195" y="0"/>
            <a:ext cx="2889051" cy="4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시스템 구성도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1033" name="직사각형 40"/>
          <p:cNvSpPr/>
          <p:nvPr/>
        </p:nvSpPr>
        <p:spPr>
          <a:xfrm>
            <a:off x="2135560" y="3787294"/>
            <a:ext cx="1224136" cy="499090"/>
          </a:xfrm>
          <a:prstGeom prst="rect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서버</a:t>
            </a:r>
            <a:endParaRPr lang="en-US" altLang="ko-KR"/>
          </a:p>
        </p:txBody>
      </p:sp>
      <p:sp>
        <p:nvSpPr>
          <p:cNvPr id="1034" name="직사각형 48"/>
          <p:cNvSpPr/>
          <p:nvPr/>
        </p:nvSpPr>
        <p:spPr>
          <a:xfrm>
            <a:off x="1703512" y="2241750"/>
            <a:ext cx="2016224" cy="715114"/>
          </a:xfrm>
          <a:prstGeom prst="rect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딥러닝 예측모델</a:t>
            </a:r>
          </a:p>
        </p:txBody>
      </p:sp>
      <p:sp>
        <p:nvSpPr>
          <p:cNvPr id="1035" name="TextBox 53"/>
          <p:cNvSpPr txBox="1"/>
          <p:nvPr/>
        </p:nvSpPr>
        <p:spPr>
          <a:xfrm>
            <a:off x="8544272" y="2020759"/>
            <a:ext cx="277798" cy="358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en-US" altLang="ko-KR"/>
          </a:p>
        </p:txBody>
      </p:sp>
      <p:sp>
        <p:nvSpPr>
          <p:cNvPr id="1036" name="직사각형 54"/>
          <p:cNvSpPr/>
          <p:nvPr/>
        </p:nvSpPr>
        <p:spPr>
          <a:xfrm>
            <a:off x="1343472" y="1804735"/>
            <a:ext cx="2880320" cy="288032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037" name="직선 화살표 연결선 58"/>
          <p:cNvCxnSpPr/>
          <p:nvPr/>
        </p:nvCxnSpPr>
        <p:spPr>
          <a:xfrm rot="16200000" flipH="1">
            <a:off x="2404421" y="3336075"/>
            <a:ext cx="614406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직사각형 10"/>
          <p:cNvSpPr/>
          <p:nvPr/>
        </p:nvSpPr>
        <p:spPr>
          <a:xfrm>
            <a:off x="5029772" y="2452807"/>
            <a:ext cx="930220" cy="857139"/>
          </a:xfrm>
          <a:prstGeom prst="rect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700"/>
              <a:t>View</a:t>
            </a:r>
            <a:endParaRPr lang="ko-KR" altLang="en-US" sz="1700"/>
          </a:p>
        </p:txBody>
      </p:sp>
      <p:sp>
        <p:nvSpPr>
          <p:cNvPr id="1039" name="직사각형 17"/>
          <p:cNvSpPr/>
          <p:nvPr/>
        </p:nvSpPr>
        <p:spPr>
          <a:xfrm>
            <a:off x="4903533" y="4052109"/>
            <a:ext cx="1161704" cy="507989"/>
          </a:xfrm>
          <a:prstGeom prst="rect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700"/>
              <a:t>Template</a:t>
            </a:r>
            <a:endParaRPr lang="ko-KR" altLang="en-US" sz="1700"/>
          </a:p>
        </p:txBody>
      </p:sp>
      <p:sp>
        <p:nvSpPr>
          <p:cNvPr id="1040" name="타원 3"/>
          <p:cNvSpPr/>
          <p:nvPr/>
        </p:nvSpPr>
        <p:spPr>
          <a:xfrm>
            <a:off x="5100063" y="724615"/>
            <a:ext cx="779912" cy="790463"/>
          </a:xfrm>
          <a:prstGeom prst="ellipse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Client</a:t>
            </a:r>
            <a:endParaRPr lang="ko-KR" altLang="en-US" sz="1100"/>
          </a:p>
        </p:txBody>
      </p:sp>
      <p:sp>
        <p:nvSpPr>
          <p:cNvPr id="1041" name="순서도: 자기 디스크 4"/>
          <p:cNvSpPr/>
          <p:nvPr/>
        </p:nvSpPr>
        <p:spPr>
          <a:xfrm>
            <a:off x="8414148" y="2452807"/>
            <a:ext cx="778195" cy="792088"/>
          </a:xfrm>
          <a:prstGeom prst="flowChartMagneticDisk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700"/>
              <a:t>DB</a:t>
            </a:r>
          </a:p>
        </p:txBody>
      </p:sp>
      <p:sp>
        <p:nvSpPr>
          <p:cNvPr id="1042" name="TextBox 28"/>
          <p:cNvSpPr txBox="1"/>
          <p:nvPr/>
        </p:nvSpPr>
        <p:spPr>
          <a:xfrm>
            <a:off x="5644218" y="1876742"/>
            <a:ext cx="823996" cy="261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/>
              <a:t>Request</a:t>
            </a:r>
            <a:endParaRPr lang="ko-KR" altLang="en-US" sz="1100"/>
          </a:p>
        </p:txBody>
      </p:sp>
      <p:sp>
        <p:nvSpPr>
          <p:cNvPr id="1043" name="TextBox 30"/>
          <p:cNvSpPr txBox="1"/>
          <p:nvPr/>
        </p:nvSpPr>
        <p:spPr>
          <a:xfrm>
            <a:off x="4564098" y="1876742"/>
            <a:ext cx="896005" cy="257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/>
              <a:t>Response</a:t>
            </a:r>
            <a:endParaRPr lang="ko-KR" altLang="en-US" sz="1100"/>
          </a:p>
        </p:txBody>
      </p:sp>
      <p:sp>
        <p:nvSpPr>
          <p:cNvPr id="1044" name="TextBox 31"/>
          <p:cNvSpPr txBox="1"/>
          <p:nvPr/>
        </p:nvSpPr>
        <p:spPr>
          <a:xfrm>
            <a:off x="6171035" y="2452807"/>
            <a:ext cx="645045" cy="25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/>
              <a:t>CRUD</a:t>
            </a:r>
            <a:endParaRPr lang="ko-KR" altLang="en-US" sz="1100"/>
          </a:p>
        </p:txBody>
      </p:sp>
      <p:sp>
        <p:nvSpPr>
          <p:cNvPr id="1045" name="TextBox 34"/>
          <p:cNvSpPr txBox="1"/>
          <p:nvPr/>
        </p:nvSpPr>
        <p:spPr>
          <a:xfrm>
            <a:off x="5501155" y="3551893"/>
            <a:ext cx="997683" cy="25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/>
              <a:t>Rendering</a:t>
            </a:r>
            <a:endParaRPr lang="ko-KR" altLang="en-US" sz="1100"/>
          </a:p>
        </p:txBody>
      </p:sp>
      <p:cxnSp>
        <p:nvCxnSpPr>
          <p:cNvPr id="1046" name="직선 화살표 연결선 57"/>
          <p:cNvCxnSpPr/>
          <p:nvPr/>
        </p:nvCxnSpPr>
        <p:spPr>
          <a:xfrm>
            <a:off x="7878832" y="2881376"/>
            <a:ext cx="432048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직선 화살표 연결선 59"/>
          <p:cNvCxnSpPr/>
          <p:nvPr/>
        </p:nvCxnSpPr>
        <p:spPr>
          <a:xfrm rot="16200000" flipH="1">
            <a:off x="5280083" y="1984754"/>
            <a:ext cx="648072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직선 화살표 연결선 60"/>
          <p:cNvCxnSpPr/>
          <p:nvPr/>
        </p:nvCxnSpPr>
        <p:spPr>
          <a:xfrm rot="16200000">
            <a:off x="4992051" y="1984754"/>
            <a:ext cx="648072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직선 화살표 연결선 61"/>
          <p:cNvCxnSpPr/>
          <p:nvPr/>
        </p:nvCxnSpPr>
        <p:spPr>
          <a:xfrm rot="16200000" flipH="1">
            <a:off x="5232357" y="3681028"/>
            <a:ext cx="50405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직선 화살표 연결선 62"/>
          <p:cNvCxnSpPr/>
          <p:nvPr/>
        </p:nvCxnSpPr>
        <p:spPr>
          <a:xfrm>
            <a:off x="6096000" y="2884855"/>
            <a:ext cx="576064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직사각형 10"/>
          <p:cNvSpPr/>
          <p:nvPr/>
        </p:nvSpPr>
        <p:spPr>
          <a:xfrm>
            <a:off x="6821963" y="2452807"/>
            <a:ext cx="930220" cy="857139"/>
          </a:xfrm>
          <a:prstGeom prst="rect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700"/>
              <a:t>Model</a:t>
            </a:r>
          </a:p>
        </p:txBody>
      </p:sp>
      <p:cxnSp>
        <p:nvCxnSpPr>
          <p:cNvPr id="1052" name="직선 화살표 연결선 65"/>
          <p:cNvCxnSpPr/>
          <p:nvPr/>
        </p:nvCxnSpPr>
        <p:spPr>
          <a:xfrm>
            <a:off x="4295800" y="2812848"/>
            <a:ext cx="576064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TextBox 66"/>
          <p:cNvSpPr txBox="1"/>
          <p:nvPr/>
        </p:nvSpPr>
        <p:spPr>
          <a:xfrm>
            <a:off x="4337891" y="2920287"/>
            <a:ext cx="576064" cy="217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 dirty="0" err="1"/>
              <a:t>django</a:t>
            </a:r>
            <a:endParaRPr lang="en-US" altLang="ko-KR" sz="900" dirty="0"/>
          </a:p>
        </p:txBody>
      </p:sp>
      <p:grpSp>
        <p:nvGrpSpPr>
          <p:cNvPr id="1054" name="그룹 5"/>
          <p:cNvGrpSpPr/>
          <p:nvPr/>
        </p:nvGrpSpPr>
        <p:grpSpPr>
          <a:xfrm>
            <a:off x="6744072" y="4147334"/>
            <a:ext cx="2664296" cy="2347190"/>
            <a:chOff x="6102804" y="3993470"/>
            <a:chExt cx="2664296" cy="2347190"/>
          </a:xfrm>
        </p:grpSpPr>
        <p:sp>
          <p:nvSpPr>
            <p:cNvPr id="1055" name="타원 13"/>
            <p:cNvSpPr/>
            <p:nvPr/>
          </p:nvSpPr>
          <p:spPr>
            <a:xfrm>
              <a:off x="6351373" y="4120096"/>
              <a:ext cx="2093507" cy="20939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56" name="사각형: 둥근 모서리 14"/>
            <p:cNvSpPr/>
            <p:nvPr/>
          </p:nvSpPr>
          <p:spPr>
            <a:xfrm>
              <a:off x="7144955" y="3993470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57" name="사각형: 둥근 모서리 15"/>
            <p:cNvSpPr/>
            <p:nvPr/>
          </p:nvSpPr>
          <p:spPr>
            <a:xfrm>
              <a:off x="6454482" y="4239769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58" name="사각형: 둥근 모서리 16"/>
            <p:cNvSpPr/>
            <p:nvPr/>
          </p:nvSpPr>
          <p:spPr>
            <a:xfrm>
              <a:off x="6125820" y="4708191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59" name="사각형: 둥근 모서리 17"/>
            <p:cNvSpPr/>
            <p:nvPr/>
          </p:nvSpPr>
          <p:spPr>
            <a:xfrm>
              <a:off x="6102804" y="5280016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60" name="사각형: 둥근 모서리 18"/>
            <p:cNvSpPr/>
            <p:nvPr/>
          </p:nvSpPr>
          <p:spPr>
            <a:xfrm>
              <a:off x="6458163" y="5793358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61" name="사각형: 둥근 모서리 19"/>
            <p:cNvSpPr/>
            <p:nvPr/>
          </p:nvSpPr>
          <p:spPr>
            <a:xfrm>
              <a:off x="8021391" y="5727334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62" name="사각형: 둥근 모서리 20"/>
            <p:cNvSpPr/>
            <p:nvPr/>
          </p:nvSpPr>
          <p:spPr>
            <a:xfrm>
              <a:off x="7855679" y="4217246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63" name="사각형: 둥근 모서리 21"/>
            <p:cNvSpPr/>
            <p:nvPr/>
          </p:nvSpPr>
          <p:spPr>
            <a:xfrm>
              <a:off x="8196310" y="4663979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64" name="사각형: 둥근 모서리 22"/>
            <p:cNvSpPr/>
            <p:nvPr/>
          </p:nvSpPr>
          <p:spPr>
            <a:xfrm>
              <a:off x="8269961" y="5248293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65" name="사각형: 둥근 모서리 23"/>
            <p:cNvSpPr/>
            <p:nvPr/>
          </p:nvSpPr>
          <p:spPr>
            <a:xfrm>
              <a:off x="7208477" y="6087408"/>
              <a:ext cx="497139" cy="253252"/>
            </a:xfrm>
            <a:prstGeom prst="roundRect">
              <a:avLst>
                <a:gd name="adj" fmla="val 16667"/>
              </a:avLst>
            </a:prstGeom>
            <a:solidFill>
              <a:srgbClr val="C49D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66" name="TextBox 37"/>
            <p:cNvSpPr txBox="1"/>
            <p:nvPr/>
          </p:nvSpPr>
          <p:spPr>
            <a:xfrm>
              <a:off x="6644780" y="5024338"/>
              <a:ext cx="1671636" cy="3649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b="1"/>
                <a:t>블록체인 노드</a:t>
              </a:r>
            </a:p>
          </p:txBody>
        </p:sp>
      </p:grpSp>
      <p:sp>
        <p:nvSpPr>
          <p:cNvPr id="1067" name="자유형: 도형 2"/>
          <p:cNvSpPr/>
          <p:nvPr/>
        </p:nvSpPr>
        <p:spPr>
          <a:xfrm rot="8355950">
            <a:off x="6801055" y="3495255"/>
            <a:ext cx="829900" cy="679651"/>
          </a:xfrm>
          <a:custGeom>
            <a:avLst/>
            <a:gdLst>
              <a:gd name="connsiteX0" fmla="*/ 0 w 829900"/>
              <a:gd name="connsiteY0" fmla="*/ 679651 h 679651"/>
              <a:gd name="connsiteX1" fmla="*/ 191588 w 829900"/>
              <a:gd name="connsiteY1" fmla="*/ 340016 h 679651"/>
              <a:gd name="connsiteX2" fmla="*/ 661851 w 829900"/>
              <a:gd name="connsiteY2" fmla="*/ 296474 h 679651"/>
              <a:gd name="connsiteX3" fmla="*/ 818605 w 829900"/>
              <a:gd name="connsiteY3" fmla="*/ 26508 h 679651"/>
              <a:gd name="connsiteX4" fmla="*/ 818605 w 829900"/>
              <a:gd name="connsiteY4" fmla="*/ 9091 h 67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900" h="679651">
                <a:moveTo>
                  <a:pt x="0" y="679651"/>
                </a:moveTo>
                <a:cubicBezTo>
                  <a:pt x="40640" y="541765"/>
                  <a:pt x="81280" y="403879"/>
                  <a:pt x="191588" y="340016"/>
                </a:cubicBezTo>
                <a:cubicBezTo>
                  <a:pt x="301896" y="276153"/>
                  <a:pt x="557348" y="348725"/>
                  <a:pt x="661851" y="296474"/>
                </a:cubicBezTo>
                <a:cubicBezTo>
                  <a:pt x="766354" y="244223"/>
                  <a:pt x="792479" y="74405"/>
                  <a:pt x="818605" y="26508"/>
                </a:cubicBezTo>
                <a:cubicBezTo>
                  <a:pt x="844731" y="-21389"/>
                  <a:pt x="817154" y="10542"/>
                  <a:pt x="818605" y="9091"/>
                </a:cubicBezTo>
              </a:path>
            </a:pathLst>
          </a:custGeom>
          <a:noFill/>
          <a:ln>
            <a:headEnd type="stealth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01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8" name="TextBox 5"/>
          <p:cNvSpPr txBox="1"/>
          <p:nvPr/>
        </p:nvSpPr>
        <p:spPr>
          <a:xfrm>
            <a:off x="674195" y="0"/>
            <a:ext cx="1728191" cy="4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기능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F4CEB-AE54-4F5D-9874-34AD3D22F61D}"/>
              </a:ext>
            </a:extLst>
          </p:cNvPr>
          <p:cNvSpPr txBox="1"/>
          <p:nvPr/>
        </p:nvSpPr>
        <p:spPr>
          <a:xfrm>
            <a:off x="1120965" y="1489055"/>
            <a:ext cx="8155229" cy="2699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buFontTx/>
              <a:buChar char="•"/>
              <a:defRPr/>
            </a:pPr>
            <a:r>
              <a:rPr lang="ko-KR" altLang="en-US" sz="1800" dirty="0"/>
              <a:t>인증에 쓰일 데이터 조회 기능</a:t>
            </a:r>
            <a:endParaRPr lang="en-US" altLang="ko-KR" sz="1800" dirty="0"/>
          </a:p>
          <a:p>
            <a:pPr>
              <a:lnSpc>
                <a:spcPct val="160000"/>
              </a:lnSpc>
              <a:buFontTx/>
              <a:buChar char="•"/>
              <a:defRPr/>
            </a:pPr>
            <a:endParaRPr lang="ko-KR" altLang="en-US" sz="1800" dirty="0"/>
          </a:p>
          <a:p>
            <a:pPr>
              <a:lnSpc>
                <a:spcPct val="160000"/>
              </a:lnSpc>
              <a:buFontTx/>
              <a:buChar char="•"/>
              <a:defRPr/>
            </a:pPr>
            <a:r>
              <a:rPr lang="ko-KR" altLang="en-US" sz="1800" dirty="0"/>
              <a:t>인증 기능</a:t>
            </a:r>
            <a:endParaRPr lang="en-US" altLang="ko-KR" sz="1800" dirty="0"/>
          </a:p>
          <a:p>
            <a:pPr>
              <a:lnSpc>
                <a:spcPct val="160000"/>
              </a:lnSpc>
              <a:defRPr/>
            </a:pPr>
            <a:r>
              <a:rPr lang="en-US" altLang="ko-KR" sz="1800" dirty="0"/>
              <a:t>(</a:t>
            </a:r>
            <a:r>
              <a:rPr lang="ko-KR" altLang="en-US" sz="1800" dirty="0"/>
              <a:t>카메라로 인증</a:t>
            </a:r>
            <a:r>
              <a:rPr lang="en-US" altLang="ko-KR" sz="1800" dirty="0"/>
              <a:t>, </a:t>
            </a:r>
            <a:r>
              <a:rPr lang="ko-KR" altLang="en-US" sz="1800" dirty="0"/>
              <a:t>인증 시 출입 및 사용 기록 블록체인에 해당 내용 저장</a:t>
            </a:r>
            <a:r>
              <a:rPr lang="en-US" altLang="ko-KR" sz="1800" dirty="0"/>
              <a:t>)</a:t>
            </a:r>
          </a:p>
          <a:p>
            <a:pPr>
              <a:lnSpc>
                <a:spcPct val="160000"/>
              </a:lnSpc>
              <a:buFontTx/>
              <a:buChar char="•"/>
              <a:defRPr/>
            </a:pPr>
            <a:endParaRPr lang="en-US" altLang="ko-KR" sz="1800" dirty="0"/>
          </a:p>
          <a:p>
            <a:pPr>
              <a:lnSpc>
                <a:spcPct val="160000"/>
              </a:lnSpc>
              <a:buFontTx/>
              <a:buChar char="•"/>
              <a:defRPr/>
            </a:pPr>
            <a:r>
              <a:rPr lang="ko-KR" altLang="en-US" sz="1800" dirty="0"/>
              <a:t>인증 결과 조회 기능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02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8" name="TextBox 5"/>
          <p:cNvSpPr txBox="1"/>
          <p:nvPr/>
        </p:nvSpPr>
        <p:spPr>
          <a:xfrm>
            <a:off x="824670" y="0"/>
            <a:ext cx="2022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문제 설명서</a:t>
            </a:r>
            <a:endParaRPr lang="ko-KR" altLang="en-US" sz="2500" b="1" dirty="0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1AD1FFA-6A07-8249-85F7-E8F31DD7AE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4097" y="922416"/>
            <a:ext cx="9624057" cy="5813801"/>
          </a:xfrm>
        </p:spPr>
        <p:txBody>
          <a:bodyPr vert="horz" lIns="91440" tIns="45720" rIns="91440" bIns="45720">
            <a:normAutofit fontScale="40000" lnSpcReduction="20000"/>
          </a:bodyPr>
          <a:lstStyle/>
          <a:p>
            <a:pPr marL="0" indent="0" algn="ctr">
              <a:buNone/>
              <a:defRPr/>
            </a:pPr>
            <a:r>
              <a:rPr lang="ko-KR" altLang="en-US" sz="3500" b="1" dirty="0">
                <a:latin typeface="+mn-ea"/>
              </a:rPr>
              <a:t>얼굴 인식을 통한 본인인증 시스템 문제 설명서</a:t>
            </a:r>
          </a:p>
          <a:p>
            <a:pPr marL="0" indent="0" algn="ctr">
              <a:buNone/>
              <a:defRPr/>
            </a:pPr>
            <a:r>
              <a:rPr lang="en-US" altLang="ko-KR" sz="3500" b="1" dirty="0">
                <a:latin typeface="+mn-ea"/>
              </a:rPr>
              <a:t>(</a:t>
            </a:r>
            <a:r>
              <a:rPr lang="en" altLang="ko-KR" sz="3500" b="1" dirty="0">
                <a:latin typeface="+mn-ea"/>
              </a:rPr>
              <a:t>Self-certification System through face recognition Problem Statement) </a:t>
            </a:r>
            <a:endParaRPr lang="en-US" altLang="ko-KR" sz="3500" b="1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b="1" dirty="0">
              <a:latin typeface="+mn-ea"/>
            </a:endParaRPr>
          </a:p>
          <a:p>
            <a:pPr marL="0" indent="0">
              <a:lnSpc>
                <a:spcPct val="170000"/>
              </a:lnSpc>
              <a:buNone/>
              <a:defRPr/>
            </a:pPr>
            <a:r>
              <a:rPr lang="en-US" altLang="ko-KR" sz="4200" dirty="0">
                <a:latin typeface="+mn-ea"/>
              </a:rPr>
              <a:t> </a:t>
            </a:r>
            <a:r>
              <a:rPr lang="ko-KR" altLang="en-US" sz="4200" dirty="0">
                <a:latin typeface="+mn-ea"/>
              </a:rPr>
              <a:t>얼굴 인식을 통한 본인인증 시스템은 회사나 학교와 같은 단체생활 공간에서 얼굴 인식을 통해 본인인증을 간편하고 신뢰성 있게 하기 위한 시스템이다</a:t>
            </a:r>
            <a:r>
              <a:rPr lang="en-US" altLang="ko-KR" sz="4200" dirty="0">
                <a:latin typeface="+mn-ea"/>
              </a:rPr>
              <a:t>. </a:t>
            </a:r>
            <a:r>
              <a:rPr lang="ko-KR" altLang="en-US" sz="4200" dirty="0">
                <a:latin typeface="+mn-ea"/>
              </a:rPr>
              <a:t>본인인증 시스템 관리자는 시스템 상에 등록된 사람들을 관리하고</a:t>
            </a:r>
            <a:r>
              <a:rPr lang="en-US" altLang="ko-KR" sz="4200" dirty="0">
                <a:latin typeface="+mn-ea"/>
              </a:rPr>
              <a:t>,</a:t>
            </a:r>
            <a:r>
              <a:rPr lang="ko-KR" altLang="en-US" sz="4200" dirty="0">
                <a:latin typeface="+mn-ea"/>
              </a:rPr>
              <a:t> 사용자를 등록 및 제거도 가능하다</a:t>
            </a:r>
            <a:r>
              <a:rPr lang="en-US" altLang="ko-KR" sz="4200" dirty="0">
                <a:latin typeface="+mn-ea"/>
              </a:rPr>
              <a:t>. </a:t>
            </a:r>
            <a:r>
              <a:rPr lang="ko-KR" altLang="en-US" sz="4200" dirty="0">
                <a:latin typeface="+mn-ea"/>
              </a:rPr>
              <a:t>출입 예정자는 미리 등록된 정보로 간편하게 카메라에 얼굴 인식을 통한 인증으로 출입을 할 수 있다</a:t>
            </a:r>
            <a:r>
              <a:rPr lang="en-US" altLang="ko-KR" sz="4200" dirty="0">
                <a:latin typeface="+mn-ea"/>
              </a:rPr>
              <a:t>.</a:t>
            </a:r>
            <a:r>
              <a:rPr lang="ko-KR" altLang="en-US" sz="4200" dirty="0">
                <a:latin typeface="+mn-ea"/>
              </a:rPr>
              <a:t> </a:t>
            </a:r>
            <a:endParaRPr lang="en-US" altLang="ko-KR" sz="4200" dirty="0">
              <a:latin typeface="+mn-ea"/>
            </a:endParaRPr>
          </a:p>
          <a:p>
            <a:pPr marL="0" indent="0">
              <a:lnSpc>
                <a:spcPct val="170000"/>
              </a:lnSpc>
              <a:buNone/>
              <a:defRPr/>
            </a:pPr>
            <a:r>
              <a:rPr lang="ko-KR" altLang="en-US" sz="4200" dirty="0">
                <a:latin typeface="+mn-ea"/>
              </a:rPr>
              <a:t> 본인인증 시스템을 사용하는 사용자는 출입 미 등록자</a:t>
            </a:r>
            <a:r>
              <a:rPr lang="en-US" altLang="ko-KR" sz="4200" dirty="0">
                <a:latin typeface="+mn-ea"/>
              </a:rPr>
              <a:t>, </a:t>
            </a:r>
            <a:r>
              <a:rPr lang="ko-KR" altLang="en-US" sz="4200" dirty="0">
                <a:latin typeface="+mn-ea"/>
              </a:rPr>
              <a:t>출입 등록자</a:t>
            </a:r>
            <a:r>
              <a:rPr lang="en-US" altLang="ko-KR" sz="4200" dirty="0">
                <a:latin typeface="+mn-ea"/>
              </a:rPr>
              <a:t>, </a:t>
            </a:r>
            <a:r>
              <a:rPr lang="ko-KR" altLang="en-US" sz="4200" dirty="0">
                <a:latin typeface="+mn-ea"/>
              </a:rPr>
              <a:t>관리자로 나뉜다</a:t>
            </a:r>
            <a:r>
              <a:rPr lang="en-US" altLang="ko-KR" sz="4200" dirty="0">
                <a:latin typeface="+mn-ea"/>
              </a:rPr>
              <a:t>. </a:t>
            </a:r>
            <a:r>
              <a:rPr lang="ko-KR" altLang="en-US" sz="4200" dirty="0">
                <a:latin typeface="+mn-ea"/>
              </a:rPr>
              <a:t>출입 미 등록자는 카메라에 얼굴을 인식하면 허가되지 않은 사용자 문구가 출력되면서 관리자가 직접 사용자 인증을 수행한다</a:t>
            </a:r>
            <a:r>
              <a:rPr lang="en-US" altLang="ko-KR" sz="4200" dirty="0">
                <a:latin typeface="+mn-ea"/>
              </a:rPr>
              <a:t>.</a:t>
            </a:r>
            <a:r>
              <a:rPr lang="ko-KR" altLang="en-US" sz="4200" dirty="0">
                <a:latin typeface="+mn-ea"/>
              </a:rPr>
              <a:t> 출입 등록자는 카메라에 얼굴 인식을 통해 본인을 인증하고 본인의 출입을 조회할 수 있다</a:t>
            </a:r>
            <a:r>
              <a:rPr lang="en-US" altLang="ko-KR" sz="4200" dirty="0">
                <a:latin typeface="+mn-ea"/>
              </a:rPr>
              <a:t>. </a:t>
            </a:r>
            <a:r>
              <a:rPr lang="ko-KR" altLang="en-US" sz="4200" dirty="0">
                <a:latin typeface="+mn-ea"/>
              </a:rPr>
              <a:t>관리자는 출입자 등록 및 제거와 출입 조회 및 관리 등과 같은 활동을 수행한다</a:t>
            </a:r>
            <a:r>
              <a:rPr lang="en-US" altLang="ko-KR" sz="4200" dirty="0">
                <a:latin typeface="+mn-ea"/>
              </a:rPr>
              <a:t>.</a:t>
            </a:r>
          </a:p>
          <a:p>
            <a:pPr marL="0" indent="0">
              <a:lnSpc>
                <a:spcPct val="170000"/>
              </a:lnSpc>
              <a:buNone/>
              <a:defRPr/>
            </a:pPr>
            <a:r>
              <a:rPr lang="en-US" altLang="ko-KR" sz="4200" dirty="0">
                <a:latin typeface="+mn-ea"/>
              </a:rPr>
              <a:t> </a:t>
            </a:r>
            <a:r>
              <a:rPr lang="ko-KR" altLang="en-US" sz="4200" dirty="0">
                <a:latin typeface="+mn-ea"/>
              </a:rPr>
              <a:t>출입 여부에 대한 조회 및 검색은 출입 등록자에 한하여 카메라에 얼굴을 인식하여 자신의 출입만 조회 및 검색이 가능하고</a:t>
            </a:r>
            <a:r>
              <a:rPr lang="en-US" altLang="ko-KR" sz="4200" dirty="0">
                <a:latin typeface="+mn-ea"/>
              </a:rPr>
              <a:t>, </a:t>
            </a:r>
            <a:r>
              <a:rPr lang="ko-KR" altLang="en-US" sz="4200" dirty="0">
                <a:latin typeface="+mn-ea"/>
              </a:rPr>
              <a:t>관리자는 관리자용 사이트에 로그인 해 시스템 상에 등록된 원하는 사람의 출입 조회 및 검색이 가능하다</a:t>
            </a:r>
            <a:r>
              <a:rPr lang="en-US" altLang="ko-KR" sz="4200" dirty="0">
                <a:latin typeface="+mn-ea"/>
              </a:rPr>
              <a:t>.</a:t>
            </a:r>
            <a:r>
              <a:rPr lang="ko-KR" altLang="en-US" sz="4200" dirty="0">
                <a:latin typeface="+mn-ea"/>
              </a:rPr>
              <a:t> 출입자 등록 및 제거는 관리자만 할 수 있고</a:t>
            </a:r>
            <a:r>
              <a:rPr lang="en-US" altLang="ko-KR" sz="4200" dirty="0">
                <a:latin typeface="+mn-ea"/>
              </a:rPr>
              <a:t>, </a:t>
            </a:r>
            <a:r>
              <a:rPr lang="ko-KR" altLang="en-US" sz="4200" dirty="0">
                <a:latin typeface="+mn-ea"/>
              </a:rPr>
              <a:t>출입자 등록을 하기 위해서는 사용자가 먼저 관리자에게 사진 파일과 개인정보를 전달해주면 관리자가 사용자 정보를 서버에 등록한다</a:t>
            </a:r>
            <a:r>
              <a:rPr lang="en-US" altLang="ko-KR" sz="4200" dirty="0">
                <a:latin typeface="+mn-ea"/>
              </a:rPr>
              <a:t>.</a:t>
            </a:r>
            <a:endParaRPr lang="en-US" altLang="ko-KR" sz="4200" b="1" dirty="0">
              <a:latin typeface="+mn-ea"/>
            </a:endParaRPr>
          </a:p>
          <a:p>
            <a:pPr marL="0" indent="0">
              <a:buNone/>
              <a:defRPr/>
            </a:pPr>
            <a:endParaRPr lang="ko-KR" altLang="en-US" sz="1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199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8" name="TextBox 5"/>
          <p:cNvSpPr txBox="1"/>
          <p:nvPr/>
        </p:nvSpPr>
        <p:spPr>
          <a:xfrm>
            <a:off x="674195" y="0"/>
            <a:ext cx="4075423" cy="4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유스케이스  시나리오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1069" name="사각형: 둥근 모서리 1"/>
          <p:cNvSpPr/>
          <p:nvPr/>
        </p:nvSpPr>
        <p:spPr>
          <a:xfrm>
            <a:off x="1014975" y="705227"/>
            <a:ext cx="2344228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정상 시나리오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070" name="사각형: 둥근 모서리 9"/>
          <p:cNvSpPr/>
          <p:nvPr/>
        </p:nvSpPr>
        <p:spPr>
          <a:xfrm>
            <a:off x="2534858" y="1692042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카메라에 얼굴을 인식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1" name="사각형: 둥근 모서리 9"/>
          <p:cNvSpPr/>
          <p:nvPr/>
        </p:nvSpPr>
        <p:spPr>
          <a:xfrm>
            <a:off x="6445304" y="1692042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사용자 이름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 인증완료 문구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인증 완료시간 출력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79" name="직선 화살표 연결선 1078"/>
          <p:cNvCxnSpPr>
            <a:stCxn id="1070" idx="3"/>
            <a:endCxn id="1071" idx="1"/>
          </p:cNvCxnSpPr>
          <p:nvPr/>
        </p:nvCxnSpPr>
        <p:spPr>
          <a:xfrm>
            <a:off x="6040059" y="2041273"/>
            <a:ext cx="405245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사각형: 둥근 모서리 9"/>
          <p:cNvSpPr/>
          <p:nvPr/>
        </p:nvSpPr>
        <p:spPr>
          <a:xfrm>
            <a:off x="2534859" y="2730538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사용자가 관리자에게 사진파일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정면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측면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r>
              <a:rPr lang="ko-KR" altLang="en-US">
                <a:solidFill>
                  <a:schemeClr val="tx1"/>
                </a:solidFill>
              </a:rPr>
              <a:t>과 개인정보 전달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5" name="사각형: 둥근 모서리 9"/>
          <p:cNvSpPr/>
          <p:nvPr/>
        </p:nvSpPr>
        <p:spPr>
          <a:xfrm>
            <a:off x="2534858" y="3749442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관리자용 사이트에 로그인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6" name="사각형: 둥근 모서리 9"/>
          <p:cNvSpPr/>
          <p:nvPr/>
        </p:nvSpPr>
        <p:spPr>
          <a:xfrm>
            <a:off x="3359202" y="4752969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카메라에 얼굴을 인식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7" name="사각형: 둥근 모서리 9"/>
          <p:cNvSpPr/>
          <p:nvPr/>
        </p:nvSpPr>
        <p:spPr>
          <a:xfrm>
            <a:off x="3359203" y="5718459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관리자용 사이트에 로그인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8" name="사각형: 둥근 모서리 9"/>
          <p:cNvSpPr/>
          <p:nvPr/>
        </p:nvSpPr>
        <p:spPr>
          <a:xfrm>
            <a:off x="6445304" y="2730538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관리자용 사이트에 로그인 후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관리자가 사용자 정보를 서버에 등록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9" name="사각형: 둥근 모서리 9"/>
          <p:cNvSpPr/>
          <p:nvPr/>
        </p:nvSpPr>
        <p:spPr>
          <a:xfrm>
            <a:off x="6445304" y="3749442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사용자 정보 제거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0" name="사각형: 둥근 모서리 9"/>
          <p:cNvSpPr/>
          <p:nvPr/>
        </p:nvSpPr>
        <p:spPr>
          <a:xfrm>
            <a:off x="7269648" y="4752969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허가된 사용자면 해당 사용기록 출력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1" name="사각형: 둥근 모서리 9"/>
          <p:cNvSpPr/>
          <p:nvPr/>
        </p:nvSpPr>
        <p:spPr>
          <a:xfrm>
            <a:off x="7269648" y="5718459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원하는 사용자의 기록 출력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92" name="직선 화살표 연결선 1091"/>
          <p:cNvCxnSpPr/>
          <p:nvPr/>
        </p:nvCxnSpPr>
        <p:spPr>
          <a:xfrm>
            <a:off x="6040059" y="3079769"/>
            <a:ext cx="405245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직선 화살표 연결선 1092"/>
          <p:cNvCxnSpPr/>
          <p:nvPr/>
        </p:nvCxnSpPr>
        <p:spPr>
          <a:xfrm>
            <a:off x="6040058" y="4098674"/>
            <a:ext cx="405245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직선 화살표 연결선 1093"/>
          <p:cNvCxnSpPr/>
          <p:nvPr/>
        </p:nvCxnSpPr>
        <p:spPr>
          <a:xfrm>
            <a:off x="6864403" y="5102200"/>
            <a:ext cx="405245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직선 화살표 연결선 1094"/>
          <p:cNvCxnSpPr/>
          <p:nvPr/>
        </p:nvCxnSpPr>
        <p:spPr>
          <a:xfrm>
            <a:off x="6864402" y="6067690"/>
            <a:ext cx="405245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" name="사각형: 둥근 모서리 1"/>
          <p:cNvSpPr/>
          <p:nvPr/>
        </p:nvSpPr>
        <p:spPr>
          <a:xfrm>
            <a:off x="1180763" y="1769103"/>
            <a:ext cx="1173446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인증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097" name="사각형: 둥근 모서리 1"/>
          <p:cNvSpPr/>
          <p:nvPr/>
        </p:nvSpPr>
        <p:spPr>
          <a:xfrm>
            <a:off x="1180762" y="2807599"/>
            <a:ext cx="1173446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사용자</a:t>
            </a:r>
            <a:endParaRPr lang="ko-KR" altLang="en-US" sz="1400" b="1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등록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098" name="사각형: 둥근 모서리 1"/>
          <p:cNvSpPr/>
          <p:nvPr/>
        </p:nvSpPr>
        <p:spPr>
          <a:xfrm>
            <a:off x="1180763" y="3826503"/>
            <a:ext cx="1173446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사용자</a:t>
            </a:r>
            <a:endParaRPr lang="ko-KR" altLang="en-US" sz="1400" b="1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제거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099" name="사각형: 둥근 모서리 1"/>
          <p:cNvSpPr/>
          <p:nvPr/>
        </p:nvSpPr>
        <p:spPr>
          <a:xfrm>
            <a:off x="2005106" y="4830030"/>
            <a:ext cx="1173446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사용자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100" name="사각형: 둥근 모서리 1"/>
          <p:cNvSpPr/>
          <p:nvPr/>
        </p:nvSpPr>
        <p:spPr>
          <a:xfrm>
            <a:off x="2005106" y="5795520"/>
            <a:ext cx="1173446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관리자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101" name="사각형: 둥근 모서리 1"/>
          <p:cNvSpPr/>
          <p:nvPr/>
        </p:nvSpPr>
        <p:spPr>
          <a:xfrm>
            <a:off x="752609" y="5251028"/>
            <a:ext cx="1014877" cy="69332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사용기록 조회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cxnSp>
        <p:nvCxnSpPr>
          <p:cNvPr id="1102" name="직선 연결선 1101"/>
          <p:cNvCxnSpPr>
            <a:stCxn id="1096" idx="3"/>
            <a:endCxn id="1070" idx="1"/>
          </p:cNvCxnSpPr>
          <p:nvPr/>
        </p:nvCxnSpPr>
        <p:spPr>
          <a:xfrm>
            <a:off x="2354209" y="2041273"/>
            <a:ext cx="1806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직선 연결선 1102"/>
          <p:cNvCxnSpPr>
            <a:stCxn id="1097" idx="3"/>
            <a:endCxn id="1084" idx="1"/>
          </p:cNvCxnSpPr>
          <p:nvPr/>
        </p:nvCxnSpPr>
        <p:spPr>
          <a:xfrm>
            <a:off x="2354209" y="3079769"/>
            <a:ext cx="18065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직선 연결선 1103"/>
          <p:cNvCxnSpPr>
            <a:stCxn id="1098" idx="3"/>
            <a:endCxn id="1085" idx="1"/>
          </p:cNvCxnSpPr>
          <p:nvPr/>
        </p:nvCxnSpPr>
        <p:spPr>
          <a:xfrm>
            <a:off x="2354209" y="4098673"/>
            <a:ext cx="1806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직선 연결선 1104"/>
          <p:cNvCxnSpPr>
            <a:stCxn id="1099" idx="3"/>
            <a:endCxn id="1086" idx="1"/>
          </p:cNvCxnSpPr>
          <p:nvPr/>
        </p:nvCxnSpPr>
        <p:spPr>
          <a:xfrm>
            <a:off x="3178553" y="5102200"/>
            <a:ext cx="1806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직선 연결선 1105"/>
          <p:cNvCxnSpPr>
            <a:stCxn id="1100" idx="3"/>
            <a:endCxn id="1087" idx="1"/>
          </p:cNvCxnSpPr>
          <p:nvPr/>
        </p:nvCxnSpPr>
        <p:spPr>
          <a:xfrm>
            <a:off x="3178553" y="6067690"/>
            <a:ext cx="18065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직선 연결선 1106"/>
          <p:cNvCxnSpPr>
            <a:stCxn id="1099" idx="1"/>
            <a:endCxn id="1101" idx="3"/>
          </p:cNvCxnSpPr>
          <p:nvPr/>
        </p:nvCxnSpPr>
        <p:spPr>
          <a:xfrm rot="5400000">
            <a:off x="1638551" y="5231133"/>
            <a:ext cx="495490" cy="23762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직선 연결선 1107"/>
          <p:cNvCxnSpPr>
            <a:stCxn id="1101" idx="3"/>
            <a:endCxn id="1100" idx="1"/>
          </p:cNvCxnSpPr>
          <p:nvPr/>
        </p:nvCxnSpPr>
        <p:spPr>
          <a:xfrm rot="16200000" flipH="1">
            <a:off x="1651295" y="5713879"/>
            <a:ext cx="470002" cy="23762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8" name="TextBox 5"/>
          <p:cNvSpPr txBox="1"/>
          <p:nvPr/>
        </p:nvSpPr>
        <p:spPr>
          <a:xfrm>
            <a:off x="674195" y="0"/>
            <a:ext cx="4075423" cy="4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유스케이스  시나리오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1069" name="사각형: 둥근 모서리 1"/>
          <p:cNvSpPr/>
          <p:nvPr/>
        </p:nvSpPr>
        <p:spPr>
          <a:xfrm>
            <a:off x="1014975" y="1070938"/>
            <a:ext cx="4299451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예외 시나리오 </a:t>
            </a:r>
            <a:r>
              <a:rPr lang="en-US" altLang="ko-KR" b="1">
                <a:solidFill>
                  <a:schemeClr val="tx1"/>
                </a:solidFill>
              </a:rPr>
              <a:t>-</a:t>
            </a:r>
            <a:r>
              <a:rPr lang="ko-KR" altLang="en-US" b="1">
                <a:solidFill>
                  <a:schemeClr val="tx1"/>
                </a:solidFill>
              </a:rPr>
              <a:t> 허가되지 않은  사용자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074" name="사각형: 둥근 모서리 9"/>
          <p:cNvSpPr/>
          <p:nvPr/>
        </p:nvSpPr>
        <p:spPr>
          <a:xfrm>
            <a:off x="2369069" y="2126781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카메라에 얼굴을 인식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5" name="사각형: 둥근 모서리 9"/>
          <p:cNvSpPr/>
          <p:nvPr/>
        </p:nvSpPr>
        <p:spPr>
          <a:xfrm>
            <a:off x="2369069" y="3079769"/>
            <a:ext cx="3505199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허가되지 않은 사용자 문구 출력 및 관리자 호출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6" name="사각형: 둥근 모서리 9"/>
          <p:cNvSpPr/>
          <p:nvPr/>
        </p:nvSpPr>
        <p:spPr>
          <a:xfrm>
            <a:off x="2369069" y="4022803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관리자가 직접 사용자 인증 및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해당 시간 기록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7" name="사각형: 둥근 모서리 9"/>
          <p:cNvSpPr/>
          <p:nvPr/>
        </p:nvSpPr>
        <p:spPr>
          <a:xfrm>
            <a:off x="6703356" y="3079769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허가된 사용자면 재등록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r>
              <a:rPr lang="ko-KR" altLang="en-US">
                <a:solidFill>
                  <a:schemeClr val="tx1"/>
                </a:solidFill>
              </a:rPr>
              <a:t> 정보 수정 및 출입허용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8" name="사각형: 둥근 모서리 9"/>
          <p:cNvSpPr/>
          <p:nvPr/>
        </p:nvSpPr>
        <p:spPr>
          <a:xfrm>
            <a:off x="6703356" y="4022803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허가되지 않은 사용자면 </a:t>
            </a:r>
            <a:endParaRPr lang="ko-KR" altLang="en-US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출입거부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80" name="직선 화살표 연결선 1079"/>
          <p:cNvCxnSpPr>
            <a:stCxn id="1074" idx="2"/>
            <a:endCxn id="1075" idx="0"/>
          </p:cNvCxnSpPr>
          <p:nvPr/>
        </p:nvCxnSpPr>
        <p:spPr>
          <a:xfrm rot="16200000" flipH="1">
            <a:off x="3994406" y="2952505"/>
            <a:ext cx="254526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직선 화살표 연결선 1080"/>
          <p:cNvCxnSpPr>
            <a:stCxn id="1075" idx="2"/>
            <a:endCxn id="1076" idx="0"/>
          </p:cNvCxnSpPr>
          <p:nvPr/>
        </p:nvCxnSpPr>
        <p:spPr>
          <a:xfrm rot="16200000" flipH="1" flipV="1">
            <a:off x="3999383" y="3900516"/>
            <a:ext cx="244572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직선 화살표 연결선 1081"/>
          <p:cNvCxnSpPr>
            <a:stCxn id="1076" idx="3"/>
            <a:endCxn id="1077" idx="1"/>
          </p:cNvCxnSpPr>
          <p:nvPr/>
        </p:nvCxnSpPr>
        <p:spPr>
          <a:xfrm rot="5400000" flipH="1" flipV="1">
            <a:off x="5817295" y="3485973"/>
            <a:ext cx="943034" cy="829086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직선 화살표 연결선 1082"/>
          <p:cNvCxnSpPr>
            <a:stCxn id="1076" idx="3"/>
            <a:endCxn id="1078" idx="1"/>
          </p:cNvCxnSpPr>
          <p:nvPr/>
        </p:nvCxnSpPr>
        <p:spPr>
          <a:xfrm>
            <a:off x="5874269" y="4372034"/>
            <a:ext cx="829087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사각형: 둥근 모서리 1"/>
          <p:cNvSpPr/>
          <p:nvPr/>
        </p:nvSpPr>
        <p:spPr>
          <a:xfrm>
            <a:off x="1014974" y="2203843"/>
            <a:ext cx="1173446" cy="54434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인증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cxnSp>
        <p:nvCxnSpPr>
          <p:cNvPr id="1085" name="직선 연결선 1084"/>
          <p:cNvCxnSpPr>
            <a:stCxn id="1084" idx="3"/>
          </p:cNvCxnSpPr>
          <p:nvPr/>
        </p:nvCxnSpPr>
        <p:spPr>
          <a:xfrm>
            <a:off x="2188420" y="2476013"/>
            <a:ext cx="1806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6" name="사각형: 둥근 모서리 9"/>
          <p:cNvSpPr/>
          <p:nvPr/>
        </p:nvSpPr>
        <p:spPr>
          <a:xfrm>
            <a:off x="2286918" y="5370360"/>
            <a:ext cx="3505200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카메라에 얼굴을 인식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87" name="직선 화살표 연결선 1086"/>
          <p:cNvCxnSpPr/>
          <p:nvPr/>
        </p:nvCxnSpPr>
        <p:spPr>
          <a:xfrm>
            <a:off x="5792119" y="5719591"/>
            <a:ext cx="405245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9" name="사각형: 둥근 모서리 1"/>
          <p:cNvSpPr/>
          <p:nvPr/>
        </p:nvSpPr>
        <p:spPr>
          <a:xfrm>
            <a:off x="1094258" y="5365218"/>
            <a:ext cx="1014877" cy="693320"/>
          </a:xfrm>
          <a:prstGeom prst="roundRect">
            <a:avLst>
              <a:gd name="adj" fmla="val 24775"/>
            </a:avLst>
          </a:prstGeom>
          <a:solidFill>
            <a:srgbClr val="8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사용기록 조회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cxnSp>
        <p:nvCxnSpPr>
          <p:cNvPr id="1091" name="직선 연결선 1090"/>
          <p:cNvCxnSpPr/>
          <p:nvPr/>
        </p:nvCxnSpPr>
        <p:spPr>
          <a:xfrm>
            <a:off x="2109137" y="5711878"/>
            <a:ext cx="1806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사각형: 둥근 모서리 9"/>
          <p:cNvSpPr/>
          <p:nvPr/>
        </p:nvSpPr>
        <p:spPr>
          <a:xfrm>
            <a:off x="6197364" y="5365218"/>
            <a:ext cx="3851565" cy="698462"/>
          </a:xfrm>
          <a:prstGeom prst="roundRect">
            <a:avLst>
              <a:gd name="adj" fmla="val 70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허가되지 않은 사용자 문구 출력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TextBox 5"/>
          <p:cNvSpPr txBox="1"/>
          <p:nvPr/>
        </p:nvSpPr>
        <p:spPr>
          <a:xfrm>
            <a:off x="674195" y="0"/>
            <a:ext cx="4075423" cy="4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유스케이스  다이어그램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cxnSp>
        <p:nvCxnSpPr>
          <p:cNvPr id="1116" name="직선 화살표 연결선 1115"/>
          <p:cNvCxnSpPr>
            <a:stCxn id="1131" idx="4"/>
            <a:endCxn id="1136" idx="0"/>
          </p:cNvCxnSpPr>
          <p:nvPr/>
        </p:nvCxnSpPr>
        <p:spPr>
          <a:xfrm rot="10800000" flipV="1">
            <a:off x="974609" y="4105159"/>
            <a:ext cx="930195" cy="629580"/>
          </a:xfrm>
          <a:prstGeom prst="straightConnector1">
            <a:avLst/>
          </a:prstGeom>
          <a:ln>
            <a:solidFill>
              <a:schemeClr val="dk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직선 화살표 연결선 1116"/>
          <p:cNvCxnSpPr>
            <a:stCxn id="1131" idx="4"/>
            <a:endCxn id="1132" idx="0"/>
          </p:cNvCxnSpPr>
          <p:nvPr/>
        </p:nvCxnSpPr>
        <p:spPr>
          <a:xfrm>
            <a:off x="1904805" y="4105159"/>
            <a:ext cx="965202" cy="629580"/>
          </a:xfrm>
          <a:prstGeom prst="straightConnector1">
            <a:avLst/>
          </a:prstGeom>
          <a:ln>
            <a:solidFill>
              <a:schemeClr val="dk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직선 화살표 연결선 1118"/>
          <p:cNvCxnSpPr>
            <a:stCxn id="1137" idx="4"/>
            <a:endCxn id="1135" idx="0"/>
          </p:cNvCxnSpPr>
          <p:nvPr/>
        </p:nvCxnSpPr>
        <p:spPr>
          <a:xfrm rot="10800000" flipV="1">
            <a:off x="7252406" y="4105156"/>
            <a:ext cx="1904878" cy="629578"/>
          </a:xfrm>
          <a:prstGeom prst="straightConnector1">
            <a:avLst/>
          </a:prstGeom>
          <a:ln>
            <a:solidFill>
              <a:schemeClr val="dk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직선 화살표 연결선 1119"/>
          <p:cNvCxnSpPr>
            <a:stCxn id="1137" idx="4"/>
            <a:endCxn id="1133" idx="0"/>
          </p:cNvCxnSpPr>
          <p:nvPr/>
        </p:nvCxnSpPr>
        <p:spPr>
          <a:xfrm rot="16200000" flipH="1">
            <a:off x="8843245" y="4419195"/>
            <a:ext cx="629578" cy="1502"/>
          </a:xfrm>
          <a:prstGeom prst="straightConnector1">
            <a:avLst/>
          </a:prstGeom>
          <a:ln>
            <a:solidFill>
              <a:schemeClr val="dk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직선 화살표 연결선 1120"/>
          <p:cNvCxnSpPr>
            <a:stCxn id="1137" idx="4"/>
            <a:endCxn id="1134" idx="0"/>
          </p:cNvCxnSpPr>
          <p:nvPr/>
        </p:nvCxnSpPr>
        <p:spPr>
          <a:xfrm>
            <a:off x="9157284" y="4105156"/>
            <a:ext cx="1955996" cy="629578"/>
          </a:xfrm>
          <a:prstGeom prst="straightConnector1">
            <a:avLst/>
          </a:prstGeom>
          <a:ln>
            <a:solidFill>
              <a:schemeClr val="dk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7" name="그림 112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37055" y="1863446"/>
            <a:ext cx="640054" cy="803205"/>
          </a:xfrm>
          <a:prstGeom prst="rect">
            <a:avLst/>
          </a:prstGeom>
        </p:spPr>
      </p:pic>
      <p:pic>
        <p:nvPicPr>
          <p:cNvPr id="1128" name="그림 112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38758" y="1863442"/>
            <a:ext cx="640054" cy="803205"/>
          </a:xfrm>
          <a:prstGeom prst="rect">
            <a:avLst/>
          </a:prstGeom>
        </p:spPr>
      </p:pic>
      <p:sp>
        <p:nvSpPr>
          <p:cNvPr id="1129" name="TextBox 1128"/>
          <p:cNvSpPr txBox="1"/>
          <p:nvPr/>
        </p:nvSpPr>
        <p:spPr>
          <a:xfrm>
            <a:off x="3677109" y="2084253"/>
            <a:ext cx="912981" cy="363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사용자</a:t>
            </a:r>
            <a:endParaRPr lang="ko-KR" altLang="en-US"/>
          </a:p>
        </p:txBody>
      </p:sp>
      <p:sp>
        <p:nvSpPr>
          <p:cNvPr id="1130" name="TextBox 1129"/>
          <p:cNvSpPr txBox="1"/>
          <p:nvPr/>
        </p:nvSpPr>
        <p:spPr>
          <a:xfrm>
            <a:off x="9423482" y="2084249"/>
            <a:ext cx="884209" cy="361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관리자</a:t>
            </a:r>
            <a:endParaRPr lang="ko-KR" altLang="en-US"/>
          </a:p>
        </p:txBody>
      </p:sp>
      <p:sp>
        <p:nvSpPr>
          <p:cNvPr id="1131" name="타원 1130"/>
          <p:cNvSpPr/>
          <p:nvPr/>
        </p:nvSpPr>
        <p:spPr>
          <a:xfrm>
            <a:off x="1097704" y="3429003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700">
                <a:solidFill>
                  <a:schemeClr val="dk1"/>
                </a:solidFill>
              </a:rPr>
              <a:t>얼굴 인식 시스템</a:t>
            </a:r>
            <a:endParaRPr lang="ko-KR" altLang="en-US" sz="1700">
              <a:solidFill>
                <a:schemeClr val="dk1"/>
              </a:solidFill>
            </a:endParaRPr>
          </a:p>
        </p:txBody>
      </p:sp>
      <p:sp>
        <p:nvSpPr>
          <p:cNvPr id="1132" name="타원 1131"/>
          <p:cNvSpPr/>
          <p:nvPr/>
        </p:nvSpPr>
        <p:spPr>
          <a:xfrm>
            <a:off x="2062907" y="4734739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결제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프로그램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133" name="타원 1132"/>
          <p:cNvSpPr/>
          <p:nvPr/>
        </p:nvSpPr>
        <p:spPr>
          <a:xfrm>
            <a:off x="8353184" y="4734735"/>
            <a:ext cx="1611201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사용자 등록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134" name="타원 1133"/>
          <p:cNvSpPr/>
          <p:nvPr/>
        </p:nvSpPr>
        <p:spPr>
          <a:xfrm>
            <a:off x="10307690" y="4734735"/>
            <a:ext cx="1611201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사용자 제거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135" name="타원 1134"/>
          <p:cNvSpPr/>
          <p:nvPr/>
        </p:nvSpPr>
        <p:spPr>
          <a:xfrm>
            <a:off x="6445304" y="4734734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인증기록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열람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136" name="타원 1135"/>
          <p:cNvSpPr/>
          <p:nvPr/>
        </p:nvSpPr>
        <p:spPr>
          <a:xfrm>
            <a:off x="167508" y="4734739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인증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프로그램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137" name="타원 1136"/>
          <p:cNvSpPr/>
          <p:nvPr/>
        </p:nvSpPr>
        <p:spPr>
          <a:xfrm>
            <a:off x="8350183" y="3429000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로그인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138" name="타원 1136"/>
          <p:cNvSpPr/>
          <p:nvPr/>
        </p:nvSpPr>
        <p:spPr>
          <a:xfrm>
            <a:off x="3921682" y="3429003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로그인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139" name="타원 1136"/>
          <p:cNvSpPr/>
          <p:nvPr/>
        </p:nvSpPr>
        <p:spPr>
          <a:xfrm>
            <a:off x="3921682" y="4734743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인증기록 열람</a:t>
            </a: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1140" name="직선 화살표 연결선 1116"/>
          <p:cNvCxnSpPr>
            <a:stCxn id="1138" idx="4"/>
            <a:endCxn id="1139" idx="0"/>
          </p:cNvCxnSpPr>
          <p:nvPr/>
        </p:nvCxnSpPr>
        <p:spPr>
          <a:xfrm rot="16200000" flipH="1">
            <a:off x="4413991" y="4419951"/>
            <a:ext cx="629583" cy="0"/>
          </a:xfrm>
          <a:prstGeom prst="straightConnector1">
            <a:avLst/>
          </a:prstGeom>
          <a:ln>
            <a:solidFill>
              <a:schemeClr val="dk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"/>
          <p:cNvCxnSpPr>
            <a:stCxn id="1127" idx="2"/>
            <a:endCxn id="1131" idx="0"/>
          </p:cNvCxnSpPr>
          <p:nvPr/>
        </p:nvCxnSpPr>
        <p:spPr>
          <a:xfrm rot="10800000" flipV="1">
            <a:off x="1904805" y="2666651"/>
            <a:ext cx="1452276" cy="762352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"/>
          <p:cNvCxnSpPr>
            <a:stCxn id="1127" idx="2"/>
            <a:endCxn id="1138" idx="0"/>
          </p:cNvCxnSpPr>
          <p:nvPr/>
        </p:nvCxnSpPr>
        <p:spPr>
          <a:xfrm>
            <a:off x="3357082" y="2666651"/>
            <a:ext cx="1371701" cy="762352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"/>
          <p:cNvCxnSpPr>
            <a:stCxn id="1128" idx="2"/>
            <a:endCxn id="1137" idx="0"/>
          </p:cNvCxnSpPr>
          <p:nvPr/>
        </p:nvCxnSpPr>
        <p:spPr>
          <a:xfrm rot="5400000">
            <a:off x="8776859" y="3047073"/>
            <a:ext cx="762352" cy="1501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4" name="타원 1131"/>
          <p:cNvSpPr/>
          <p:nvPr/>
        </p:nvSpPr>
        <p:spPr>
          <a:xfrm>
            <a:off x="2062907" y="5790541"/>
            <a:ext cx="1614202" cy="676156"/>
          </a:xfrm>
          <a:prstGeom prst="ellipse">
            <a:avLst/>
          </a:prstGeom>
          <a:solidFill>
            <a:srgbClr val="d9d9d9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700">
                <a:solidFill>
                  <a:schemeClr val="dk1"/>
                </a:solidFill>
              </a:rPr>
              <a:t>메뉴 선택</a:t>
            </a:r>
            <a:endParaRPr lang="ko-KR" altLang="en-US" sz="1700">
              <a:solidFill>
                <a:schemeClr val="dk1"/>
              </a:solidFill>
            </a:endParaRPr>
          </a:p>
        </p:txBody>
      </p:sp>
      <p:cxnSp>
        <p:nvCxnSpPr>
          <p:cNvPr id="1145" name=""/>
          <p:cNvCxnSpPr>
            <a:stCxn id="1132" idx="4"/>
            <a:endCxn id="1144" idx="0"/>
          </p:cNvCxnSpPr>
          <p:nvPr/>
        </p:nvCxnSpPr>
        <p:spPr>
          <a:xfrm rot="16200000" flipH="1">
            <a:off x="2680182" y="5600721"/>
            <a:ext cx="379652" cy="1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9" name="TextBox 5"/>
          <p:cNvSpPr txBox="1"/>
          <p:nvPr/>
        </p:nvSpPr>
        <p:spPr>
          <a:xfrm>
            <a:off x="674195" y="0"/>
            <a:ext cx="4075423" cy="46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 err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유스케이스</a:t>
            </a:r>
            <a:r>
              <a:rPr lang="ko-KR" altLang="en-US" sz="2500" b="1" dirty="0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  식별자 목록</a:t>
            </a:r>
            <a:endParaRPr lang="ko-KR" altLang="en-US" sz="2500" b="1" dirty="0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graphicFrame>
        <p:nvGraphicFramePr>
          <p:cNvPr id="1070" name="표 2"/>
          <p:cNvGraphicFramePr/>
          <p:nvPr>
            <p:extLst>
              <p:ext uri="{D42A27DB-BD31-4B8C-83A1-F6EECF244321}">
                <p14:modId xmlns:p14="http://schemas.microsoft.com/office/powerpoint/2010/main" val="1267320725"/>
              </p:ext>
            </p:extLst>
          </p:nvPr>
        </p:nvGraphicFramePr>
        <p:xfrm>
          <a:off x="2218518" y="1330709"/>
          <a:ext cx="6572884" cy="4317638"/>
        </p:xfrm>
        <a:graphic>
          <a:graphicData uri="http://schemas.openxmlformats.org/drawingml/2006/table">
            <a:tbl>
              <a:tblPr firstRow="1" bandRow="1"/>
              <a:tblGrid>
                <a:gridCol w="1716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3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9318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900" b="1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식별자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900" b="1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행위자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900" b="1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설명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622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UC-</a:t>
                      </a:r>
                      <a:r>
                        <a:rPr lang="en-US" altLang="ko-KR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A</a:t>
                      </a: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01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관리자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사용 기록 열람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727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UC-A02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관리자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사용자 등록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622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UC-A03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관리자 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사용자 제거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622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UC-M0</a:t>
                      </a:r>
                      <a:r>
                        <a:rPr lang="en-US" altLang="ko-KR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1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회원 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사용 기록 열람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727"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UC-M02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회원 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00112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>
                            <a:alpha val="100000"/>
                          </a:srgbClr>
                        </a:buClr>
                        <a:buSzPct val="100000"/>
                        <a:buNone/>
                        <a:defRPr lang="ko-KR" altLang="en-US"/>
                      </a:pPr>
                      <a:r>
                        <a:rPr lang="ko-KR" altLang="en-US" sz="1600" b="0" i="0" spc="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j-cs"/>
                          <a:sym typeface="Wingdings"/>
                        </a:rPr>
                        <a:t>본인 인증</a:t>
                      </a:r>
                    </a:p>
                  </a:txBody>
                  <a:tcPr marL="68565" marR="685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9" name="TextBox 5"/>
          <p:cNvSpPr txBox="1"/>
          <p:nvPr/>
        </p:nvSpPr>
        <p:spPr>
          <a:xfrm>
            <a:off x="674195" y="14931"/>
            <a:ext cx="4640970" cy="46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solidFill>
                  <a:srgbClr val="272123"/>
                </a:solidFill>
                <a:latin typeface="한컴 고딕"/>
                <a:ea typeface="한컴 고딕"/>
              </a:rPr>
              <a:t>클래스 다이어그램 </a:t>
            </a:r>
            <a:r>
              <a:rPr lang="en-US" altLang="ko-KR" sz="2500" b="1">
                <a:solidFill>
                  <a:srgbClr val="272123"/>
                </a:solidFill>
                <a:latin typeface="한컴 고딕"/>
                <a:ea typeface="한컴 고딕"/>
              </a:rPr>
              <a:t>- </a:t>
            </a:r>
            <a:r>
              <a:rPr lang="ko-KR" altLang="en-US" sz="2500" b="1">
                <a:solidFill>
                  <a:srgbClr val="272123"/>
                </a:solidFill>
                <a:latin typeface="한컴 고딕"/>
                <a:ea typeface="한컴 고딕"/>
              </a:rPr>
              <a:t>통합 </a:t>
            </a:r>
            <a:r>
              <a:rPr lang="en-US" altLang="ko-KR" sz="2500" b="1">
                <a:solidFill>
                  <a:srgbClr val="272123"/>
                </a:solidFill>
                <a:latin typeface="한컴 고딕"/>
                <a:ea typeface="한컴 고딕"/>
              </a:rPr>
              <a:t>UML</a:t>
            </a:r>
            <a:endParaRPr lang="en-US" altLang="ko-KR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27263" y="906064"/>
            <a:ext cx="7687318" cy="551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9" name="TextBox 5"/>
          <p:cNvSpPr txBox="1"/>
          <p:nvPr/>
        </p:nvSpPr>
        <p:spPr>
          <a:xfrm>
            <a:off x="674195" y="14931"/>
            <a:ext cx="40754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solidFill>
                  <a:srgbClr val="272123"/>
                </a:solidFill>
                <a:latin typeface="한컴 고딕"/>
                <a:ea typeface="한컴 고딕"/>
              </a:rPr>
              <a:t>클래스 다이어그램 </a:t>
            </a:r>
            <a:r>
              <a:rPr lang="en-US" altLang="ko-KR" sz="2500" b="1" dirty="0">
                <a:solidFill>
                  <a:srgbClr val="272123"/>
                </a:solidFill>
                <a:latin typeface="한컴 고딕"/>
                <a:ea typeface="한컴 고딕"/>
              </a:rPr>
              <a:t>- </a:t>
            </a:r>
            <a:r>
              <a:rPr lang="ko-KR" altLang="en-US" sz="2500" b="1" dirty="0">
                <a:solidFill>
                  <a:srgbClr val="272123"/>
                </a:solidFill>
                <a:latin typeface="한컴 고딕"/>
                <a:ea typeface="한컴 고딕"/>
              </a:rPr>
              <a:t>인증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0ED1F1-7A62-46BD-A5B2-9AE968001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1028700"/>
            <a:ext cx="70294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9" name="TextBox 5"/>
          <p:cNvSpPr txBox="1"/>
          <p:nvPr/>
        </p:nvSpPr>
        <p:spPr>
          <a:xfrm>
            <a:off x="687094" y="46495"/>
            <a:ext cx="59745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solidFill>
                  <a:srgbClr val="272123"/>
                </a:solidFill>
                <a:latin typeface="한컴 고딕"/>
                <a:ea typeface="한컴 고딕"/>
              </a:rPr>
              <a:t>클래스 다이어그램 </a:t>
            </a:r>
            <a:r>
              <a:rPr lang="en-US" altLang="ko-KR" sz="2500" b="1">
                <a:solidFill>
                  <a:srgbClr val="272123"/>
                </a:solidFill>
                <a:latin typeface="한컴 고딕"/>
                <a:ea typeface="한컴 고딕"/>
              </a:rPr>
              <a:t>– </a:t>
            </a:r>
            <a:r>
              <a:rPr lang="ko-KR" altLang="en-US" sz="2500" b="1">
                <a:solidFill>
                  <a:srgbClr val="272123"/>
                </a:solidFill>
                <a:latin typeface="한컴 고딕"/>
                <a:ea typeface="한컴 고딕"/>
              </a:rPr>
              <a:t>사용자 등록 및 제거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14537" y="1266825"/>
            <a:ext cx="8162925" cy="4324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9" name="TextBox 5"/>
          <p:cNvSpPr txBox="1"/>
          <p:nvPr/>
        </p:nvSpPr>
        <p:spPr>
          <a:xfrm>
            <a:off x="674195" y="34206"/>
            <a:ext cx="653143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>
                <a:solidFill>
                  <a:srgbClr val="272123"/>
                </a:solidFill>
                <a:latin typeface="한컴 고딕"/>
                <a:ea typeface="한컴 고딕"/>
              </a:rPr>
              <a:t>클래스 다이어그램</a:t>
            </a:r>
            <a:r>
              <a:rPr lang="en-US" altLang="ko-KR" sz="2500" b="1">
                <a:solidFill>
                  <a:srgbClr val="272123"/>
                </a:solidFill>
                <a:latin typeface="한컴 고딕"/>
                <a:ea typeface="한컴 고딕"/>
              </a:rPr>
              <a:t> – </a:t>
            </a:r>
            <a:r>
              <a:rPr lang="ko-KR" altLang="en-US" sz="2500" b="1">
                <a:solidFill>
                  <a:srgbClr val="272123"/>
                </a:solidFill>
                <a:latin typeface="한컴 고딕"/>
                <a:ea typeface="한컴 고딕"/>
              </a:rPr>
              <a:t>사용기록 조회 </a:t>
            </a:r>
            <a:r>
              <a:rPr lang="en-US" altLang="ko-KR" sz="2500" b="1">
                <a:solidFill>
                  <a:srgbClr val="272123"/>
                </a:solidFill>
                <a:latin typeface="한컴 고딕"/>
                <a:ea typeface="한컴 고딕"/>
              </a:rPr>
              <a:t>(</a:t>
            </a:r>
            <a:r>
              <a:rPr lang="ko-KR" altLang="en-US" sz="2500" b="1">
                <a:solidFill>
                  <a:srgbClr val="272123"/>
                </a:solidFill>
                <a:latin typeface="한컴 고딕"/>
                <a:ea typeface="한컴 고딕"/>
              </a:rPr>
              <a:t>관리자</a:t>
            </a:r>
            <a:r>
              <a:rPr lang="en-US" altLang="ko-KR" sz="2500" b="1">
                <a:solidFill>
                  <a:srgbClr val="272123"/>
                </a:solidFill>
                <a:latin typeface="한컴 고딕"/>
                <a:ea typeface="한컴 고딕"/>
              </a:rPr>
              <a:t>)</a:t>
            </a:r>
            <a:endParaRPr lang="ko-KR" altLang="en-US" sz="2500" b="1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86000" y="976312"/>
            <a:ext cx="7620000" cy="4905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03</a:t>
            </a:r>
            <a:endParaRPr lang="en-US" altLang="ko-KR" sz="160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9" name="TextBox 5"/>
          <p:cNvSpPr txBox="1"/>
          <p:nvPr/>
        </p:nvSpPr>
        <p:spPr>
          <a:xfrm>
            <a:off x="674195" y="19606"/>
            <a:ext cx="653143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solidFill>
                  <a:srgbClr val="272123"/>
                </a:solidFill>
                <a:latin typeface="한컴 고딕"/>
                <a:ea typeface="한컴 고딕"/>
              </a:rPr>
              <a:t>클래스 다이어그램 </a:t>
            </a:r>
            <a:r>
              <a:rPr lang="en-US" altLang="ko-KR" sz="2500" b="1" dirty="0">
                <a:solidFill>
                  <a:srgbClr val="272123"/>
                </a:solidFill>
                <a:latin typeface="한컴 고딕"/>
                <a:ea typeface="한컴 고딕"/>
              </a:rPr>
              <a:t>– </a:t>
            </a:r>
            <a:r>
              <a:rPr lang="ko-KR" altLang="en-US" sz="2500" b="1" dirty="0">
                <a:solidFill>
                  <a:srgbClr val="272123"/>
                </a:solidFill>
                <a:latin typeface="한컴 고딕"/>
                <a:ea typeface="한컴 고딕"/>
              </a:rPr>
              <a:t>사용기록 조회 </a:t>
            </a:r>
            <a:r>
              <a:rPr lang="en-US" altLang="ko-KR" sz="2500" b="1" dirty="0">
                <a:solidFill>
                  <a:srgbClr val="272123"/>
                </a:solidFill>
                <a:latin typeface="한컴 고딕"/>
                <a:ea typeface="한컴 고딕"/>
              </a:rPr>
              <a:t>(</a:t>
            </a:r>
            <a:r>
              <a:rPr lang="ko-KR" altLang="en-US" sz="2500" b="1" dirty="0">
                <a:solidFill>
                  <a:srgbClr val="272123"/>
                </a:solidFill>
                <a:latin typeface="한컴 고딕"/>
                <a:ea typeface="한컴 고딕"/>
              </a:rPr>
              <a:t>사용자</a:t>
            </a:r>
            <a:r>
              <a:rPr lang="en-US" altLang="ko-KR" sz="2500" b="1" dirty="0">
                <a:solidFill>
                  <a:srgbClr val="272123"/>
                </a:solidFill>
                <a:latin typeface="한컴 고딕"/>
                <a:ea typeface="한컴 고딕"/>
              </a:rPr>
              <a:t>)</a:t>
            </a:r>
            <a:endParaRPr lang="ko-KR" altLang="en-US" sz="2500" b="1" dirty="0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D8D2EF-189F-4003-84F0-3B80F3F8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" y="1195387"/>
            <a:ext cx="1050607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 w="9525">
                  <a:solidFill>
                    <a:prstClr val="white">
                      <a:lumMod val="85000"/>
                      <a:alpha val="30000"/>
                    </a:prstClr>
                  </a:solidFill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Yoon 윤고딕 520_TT"/>
                <a:ea typeface="Yoon 윤고딕 520_TT"/>
                <a:cs typeface="+mn-cs"/>
              </a:rPr>
              <a:t>04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Yoon 윤고딕 520_TT"/>
              <a:ea typeface="Yoon 윤고딕 520_TT"/>
              <a:cs typeface="+mn-cs"/>
            </a:endParaRPr>
          </a:p>
        </p:txBody>
      </p:sp>
      <p:sp>
        <p:nvSpPr>
          <p:cNvPr id="1069" name="TextBox 5"/>
          <p:cNvSpPr txBox="1"/>
          <p:nvPr/>
        </p:nvSpPr>
        <p:spPr>
          <a:xfrm>
            <a:off x="674195" y="0"/>
            <a:ext cx="40754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한컴 고딕"/>
                <a:ea typeface="한컴 고딕"/>
                <a:cs typeface="+mn-cs"/>
              </a:rPr>
              <a:t>속성 </a:t>
            </a:r>
            <a:r>
              <a:rPr lang="en-US" altLang="ko-KR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&amp; </a:t>
            </a:r>
            <a:r>
              <a:rPr lang="ko-KR" altLang="en-US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오퍼레이션 정의</a:t>
            </a:r>
            <a:endParaRPr kumimoji="0" lang="ko-KR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272123"/>
              </a:solidFill>
              <a:effectLst/>
              <a:uLnTx/>
              <a:uFillTx/>
              <a:latin typeface="한컴 고딕"/>
              <a:ea typeface="한컴 고딕"/>
              <a:cs typeface="+mn-cs"/>
            </a:endParaRPr>
          </a:p>
        </p:txBody>
      </p:sp>
      <p:graphicFrame>
        <p:nvGraphicFramePr>
          <p:cNvPr id="19" name="표 5">
            <a:extLst>
              <a:ext uri="{FF2B5EF4-FFF2-40B4-BE49-F238E27FC236}">
                <a16:creationId xmlns:a16="http://schemas.microsoft.com/office/drawing/2014/main" id="{15945AF0-B821-4A46-924F-DD89791F8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512950"/>
              </p:ext>
            </p:extLst>
          </p:nvPr>
        </p:nvGraphicFramePr>
        <p:xfrm>
          <a:off x="1067089" y="2520384"/>
          <a:ext cx="83256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700">
                  <a:extLst>
                    <a:ext uri="{9D8B030D-6E8A-4147-A177-3AD203B41FA5}">
                      <a16:colId xmlns:a16="http://schemas.microsoft.com/office/drawing/2014/main" val="3019454441"/>
                    </a:ext>
                  </a:extLst>
                </a:gridCol>
                <a:gridCol w="1435700">
                  <a:extLst>
                    <a:ext uri="{9D8B030D-6E8A-4147-A177-3AD203B41FA5}">
                      <a16:colId xmlns:a16="http://schemas.microsoft.com/office/drawing/2014/main" val="77078270"/>
                    </a:ext>
                  </a:extLst>
                </a:gridCol>
                <a:gridCol w="1435700">
                  <a:extLst>
                    <a:ext uri="{9D8B030D-6E8A-4147-A177-3AD203B41FA5}">
                      <a16:colId xmlns:a16="http://schemas.microsoft.com/office/drawing/2014/main" val="3847553196"/>
                    </a:ext>
                  </a:extLst>
                </a:gridCol>
                <a:gridCol w="1375111">
                  <a:extLst>
                    <a:ext uri="{9D8B030D-6E8A-4147-A177-3AD203B41FA5}">
                      <a16:colId xmlns:a16="http://schemas.microsoft.com/office/drawing/2014/main" val="816281592"/>
                    </a:ext>
                  </a:extLst>
                </a:gridCol>
                <a:gridCol w="2643447">
                  <a:extLst>
                    <a:ext uri="{9D8B030D-6E8A-4147-A177-3AD203B41FA5}">
                      <a16:colId xmlns:a16="http://schemas.microsoft.com/office/drawing/2014/main" val="1655299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널 허용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endParaRPr lang="ko-KR" altLang="en-US" sz="1800" b="0" i="0" u="none" strike="noStrike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3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고유 식별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9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49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전화번호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전화번호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4787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1D2E5A0-62A1-492B-AC6E-4929A67FA735}"/>
              </a:ext>
            </a:extLst>
          </p:cNvPr>
          <p:cNvSpPr txBox="1"/>
          <p:nvPr/>
        </p:nvSpPr>
        <p:spPr>
          <a:xfrm>
            <a:off x="1067089" y="985227"/>
            <a:ext cx="32040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InformationPerson</a:t>
            </a:r>
            <a:endParaRPr lang="ko-KR" altLang="en-US" sz="2500" dirty="0"/>
          </a:p>
        </p:txBody>
      </p:sp>
      <p:graphicFrame>
        <p:nvGraphicFramePr>
          <p:cNvPr id="22" name="표 4">
            <a:extLst>
              <a:ext uri="{FF2B5EF4-FFF2-40B4-BE49-F238E27FC236}">
                <a16:creationId xmlns:a16="http://schemas.microsoft.com/office/drawing/2014/main" id="{936B17A8-3F20-44A3-9556-A83E9C688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074367"/>
              </p:ext>
            </p:extLst>
          </p:nvPr>
        </p:nvGraphicFramePr>
        <p:xfrm>
          <a:off x="1095715" y="4507354"/>
          <a:ext cx="9908771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0196">
                  <a:extLst>
                    <a:ext uri="{9D8B030D-6E8A-4147-A177-3AD203B41FA5}">
                      <a16:colId xmlns:a16="http://schemas.microsoft.com/office/drawing/2014/main" val="2527418631"/>
                    </a:ext>
                  </a:extLst>
                </a:gridCol>
                <a:gridCol w="2360815">
                  <a:extLst>
                    <a:ext uri="{9D8B030D-6E8A-4147-A177-3AD203B41FA5}">
                      <a16:colId xmlns:a16="http://schemas.microsoft.com/office/drawing/2014/main" val="3158333317"/>
                    </a:ext>
                  </a:extLst>
                </a:gridCol>
                <a:gridCol w="1197032">
                  <a:extLst>
                    <a:ext uri="{9D8B030D-6E8A-4147-A177-3AD203B41FA5}">
                      <a16:colId xmlns:a16="http://schemas.microsoft.com/office/drawing/2014/main" val="1571651390"/>
                    </a:ext>
                  </a:extLst>
                </a:gridCol>
                <a:gridCol w="3740728">
                  <a:extLst>
                    <a:ext uri="{9D8B030D-6E8A-4147-A177-3AD203B41FA5}">
                      <a16:colId xmlns:a16="http://schemas.microsoft.com/office/drawing/2014/main" val="2947421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95448"/>
                  </a:ext>
                </a:extLst>
              </a:tr>
              <a:tr h="2519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정보</a:t>
                      </a:r>
                      <a:r>
                        <a:rPr lang="en-US" altLang="ko-KR" dirty="0"/>
                        <a:t>(ex.</a:t>
                      </a:r>
                      <a:r>
                        <a:rPr lang="ko-KR" altLang="en-US" dirty="0"/>
                        <a:t> 이름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사용자의 정보를 조회한다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2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모든 사용자의 정보를 조회한다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85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submit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정보를 저장한다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39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91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04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0FE400C-CDC8-4DAC-8862-526004644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461973"/>
              </p:ext>
            </p:extLst>
          </p:nvPr>
        </p:nvGraphicFramePr>
        <p:xfrm>
          <a:off x="1022996" y="2267760"/>
          <a:ext cx="9856814" cy="1112520"/>
        </p:xfrm>
        <a:graphic>
          <a:graphicData uri="http://schemas.openxmlformats.org/drawingml/2006/table">
            <a:tbl>
              <a:tblPr firstRow="1" bandRow="1"/>
              <a:tblGrid>
                <a:gridCol w="1543150">
                  <a:extLst>
                    <a:ext uri="{9D8B030D-6E8A-4147-A177-3AD203B41FA5}">
                      <a16:colId xmlns:a16="http://schemas.microsoft.com/office/drawing/2014/main" val="3019454441"/>
                    </a:ext>
                  </a:extLst>
                </a:gridCol>
                <a:gridCol w="1543150">
                  <a:extLst>
                    <a:ext uri="{9D8B030D-6E8A-4147-A177-3AD203B41FA5}">
                      <a16:colId xmlns:a16="http://schemas.microsoft.com/office/drawing/2014/main" val="77078270"/>
                    </a:ext>
                  </a:extLst>
                </a:gridCol>
                <a:gridCol w="1543150">
                  <a:extLst>
                    <a:ext uri="{9D8B030D-6E8A-4147-A177-3AD203B41FA5}">
                      <a16:colId xmlns:a16="http://schemas.microsoft.com/office/drawing/2014/main" val="3847553196"/>
                    </a:ext>
                  </a:extLst>
                </a:gridCol>
                <a:gridCol w="1478026">
                  <a:extLst>
                    <a:ext uri="{9D8B030D-6E8A-4147-A177-3AD203B41FA5}">
                      <a16:colId xmlns:a16="http://schemas.microsoft.com/office/drawing/2014/main" val="816281592"/>
                    </a:ext>
                  </a:extLst>
                </a:gridCol>
                <a:gridCol w="3749338">
                  <a:extLst>
                    <a:ext uri="{9D8B030D-6E8A-4147-A177-3AD203B41FA5}">
                      <a16:colId xmlns:a16="http://schemas.microsoft.com/office/drawing/2014/main" val="165529995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자료형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널 허용 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endParaRPr lang="ko-KR" altLang="en-US" sz="1800" b="0" i="0" u="none" strike="noStrike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03917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사진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사용자 이미지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49777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라벨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사용자의 이름 정보가 담긴 리스트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7876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931C093-E9AF-4FDF-971A-66EFB7066B71}"/>
              </a:ext>
            </a:extLst>
          </p:cNvPr>
          <p:cNvSpPr txBox="1"/>
          <p:nvPr/>
        </p:nvSpPr>
        <p:spPr>
          <a:xfrm>
            <a:off x="1119187" y="893148"/>
            <a:ext cx="32040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 err="1">
                <a:solidFill>
                  <a:srgbClr val="000000"/>
                </a:solidFill>
                <a:latin typeface="Helvetica" panose="020B0604020202020204" pitchFamily="34" charset="0"/>
              </a:rPr>
              <a:t>FaceRecognition</a:t>
            </a:r>
            <a:endParaRPr lang="ko-KR" altLang="en-US" sz="2500" dirty="0">
              <a:solidFill>
                <a:prstClr val="black"/>
              </a:solidFill>
              <a:latin typeface="맑은 고딕" panose="020F0502020204030204"/>
            </a:endParaRPr>
          </a:p>
        </p:txBody>
      </p:sp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D01D1EA4-ABC8-4490-A1EA-DF84B1B25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282818"/>
              </p:ext>
            </p:extLst>
          </p:nvPr>
        </p:nvGraphicFramePr>
        <p:xfrm>
          <a:off x="1022997" y="3899360"/>
          <a:ext cx="9854277" cy="1854200"/>
        </p:xfrm>
        <a:graphic>
          <a:graphicData uri="http://schemas.openxmlformats.org/drawingml/2006/table">
            <a:tbl>
              <a:tblPr firstRow="1" bandRow="1"/>
              <a:tblGrid>
                <a:gridCol w="1946446">
                  <a:extLst>
                    <a:ext uri="{9D8B030D-6E8A-4147-A177-3AD203B41FA5}">
                      <a16:colId xmlns:a16="http://schemas.microsoft.com/office/drawing/2014/main" val="2527418631"/>
                    </a:ext>
                  </a:extLst>
                </a:gridCol>
                <a:gridCol w="1989056">
                  <a:extLst>
                    <a:ext uri="{9D8B030D-6E8A-4147-A177-3AD203B41FA5}">
                      <a16:colId xmlns:a16="http://schemas.microsoft.com/office/drawing/2014/main" val="3158333317"/>
                    </a:ext>
                  </a:extLst>
                </a:gridCol>
                <a:gridCol w="1819373">
                  <a:extLst>
                    <a:ext uri="{9D8B030D-6E8A-4147-A177-3AD203B41FA5}">
                      <a16:colId xmlns:a16="http://schemas.microsoft.com/office/drawing/2014/main" val="1571651390"/>
                    </a:ext>
                  </a:extLst>
                </a:gridCol>
                <a:gridCol w="4099402">
                  <a:extLst>
                    <a:ext uri="{9D8B030D-6E8A-4147-A177-3AD203B41FA5}">
                      <a16:colId xmlns:a16="http://schemas.microsoft.com/office/drawing/2014/main" val="294742116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954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imageEncoding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사용자들의 사진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 err="1"/>
                        <a:t>인코딩된</a:t>
                      </a:r>
                      <a:r>
                        <a:rPr lang="ko-KR" altLang="en-US" dirty="0"/>
                        <a:t> 값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사진들을 인코딩한다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2802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checkAttendance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수정하기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인증 성공 여부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인증 결과를 확인한다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082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dirty="0" err="1"/>
                        <a:t>userSearch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인증 내역 조회 로직 호출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6444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identifyUser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dirty="0"/>
                        <a:t>인증 수행 후 내역 저장 로직 호출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858422"/>
                  </a:ext>
                </a:extLst>
              </a:tr>
            </a:tbl>
          </a:graphicData>
        </a:graphic>
      </p:graphicFrame>
      <p:sp>
        <p:nvSpPr>
          <p:cNvPr id="14" name="TextBox 5">
            <a:extLst>
              <a:ext uri="{FF2B5EF4-FFF2-40B4-BE49-F238E27FC236}">
                <a16:creationId xmlns:a16="http://schemas.microsoft.com/office/drawing/2014/main" id="{CF6FAC28-0542-463D-9871-ABC5231B6D7F}"/>
              </a:ext>
            </a:extLst>
          </p:cNvPr>
          <p:cNvSpPr txBox="1"/>
          <p:nvPr/>
        </p:nvSpPr>
        <p:spPr>
          <a:xfrm>
            <a:off x="674195" y="0"/>
            <a:ext cx="40754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한컴 고딕"/>
                <a:ea typeface="한컴 고딕"/>
                <a:cs typeface="+mn-cs"/>
              </a:rPr>
              <a:t>속성 </a:t>
            </a:r>
            <a:r>
              <a:rPr lang="en-US" altLang="ko-KR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&amp; </a:t>
            </a:r>
            <a:r>
              <a:rPr lang="ko-KR" altLang="en-US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오퍼레이션 정의</a:t>
            </a:r>
            <a:endParaRPr kumimoji="0" lang="ko-KR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272123"/>
              </a:solidFill>
              <a:effectLst/>
              <a:uLnTx/>
              <a:uFillTx/>
              <a:latin typeface="한컴 고딕"/>
              <a:ea typeface="한컴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1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6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04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2EC7E5-3D08-40DD-A2FB-3BCEFF11ED50}"/>
              </a:ext>
            </a:extLst>
          </p:cNvPr>
          <p:cNvSpPr txBox="1"/>
          <p:nvPr/>
        </p:nvSpPr>
        <p:spPr>
          <a:xfrm>
            <a:off x="1119187" y="950173"/>
            <a:ext cx="32040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Attendance</a:t>
            </a:r>
            <a:endParaRPr lang="ko-KR" altLang="en-US" sz="2500" dirty="0"/>
          </a:p>
        </p:txBody>
      </p:sp>
      <p:graphicFrame>
        <p:nvGraphicFramePr>
          <p:cNvPr id="13" name="표 4">
            <a:extLst>
              <a:ext uri="{FF2B5EF4-FFF2-40B4-BE49-F238E27FC236}">
                <a16:creationId xmlns:a16="http://schemas.microsoft.com/office/drawing/2014/main" id="{DEE60909-E0B1-4573-876B-6969AB559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65835"/>
              </p:ext>
            </p:extLst>
          </p:nvPr>
        </p:nvGraphicFramePr>
        <p:xfrm>
          <a:off x="1056241" y="4291502"/>
          <a:ext cx="8983305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23">
                  <a:extLst>
                    <a:ext uri="{9D8B030D-6E8A-4147-A177-3AD203B41FA5}">
                      <a16:colId xmlns:a16="http://schemas.microsoft.com/office/drawing/2014/main" val="2527418631"/>
                    </a:ext>
                  </a:extLst>
                </a:gridCol>
                <a:gridCol w="2337847">
                  <a:extLst>
                    <a:ext uri="{9D8B030D-6E8A-4147-A177-3AD203B41FA5}">
                      <a16:colId xmlns:a16="http://schemas.microsoft.com/office/drawing/2014/main" val="3158333317"/>
                    </a:ext>
                  </a:extLst>
                </a:gridCol>
                <a:gridCol w="1706252">
                  <a:extLst>
                    <a:ext uri="{9D8B030D-6E8A-4147-A177-3AD203B41FA5}">
                      <a16:colId xmlns:a16="http://schemas.microsoft.com/office/drawing/2014/main" val="1571651390"/>
                    </a:ext>
                  </a:extLst>
                </a:gridCol>
                <a:gridCol w="3440783">
                  <a:extLst>
                    <a:ext uri="{9D8B030D-6E8A-4147-A177-3AD203B41FA5}">
                      <a16:colId xmlns:a16="http://schemas.microsoft.com/office/drawing/2014/main" val="2947421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95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특정 사용자의 인증이력을 조회하기 위한 로직을 수행한다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2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관리자만 접근 가능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모든 사용자의 인증이력을 조회하기 위한 로직을 수행한다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85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submit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코드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인증 이력을 저장하기 위한 로직을 수행한다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392632"/>
                  </a:ext>
                </a:extLst>
              </a:tr>
            </a:tbl>
          </a:graphicData>
        </a:graphic>
      </p:graphicFrame>
      <p:sp>
        <p:nvSpPr>
          <p:cNvPr id="14" name="TextBox 5">
            <a:extLst>
              <a:ext uri="{FF2B5EF4-FFF2-40B4-BE49-F238E27FC236}">
                <a16:creationId xmlns:a16="http://schemas.microsoft.com/office/drawing/2014/main" id="{687C9AA1-9AB6-4264-80F7-CCED0C684DE0}"/>
              </a:ext>
            </a:extLst>
          </p:cNvPr>
          <p:cNvSpPr txBox="1"/>
          <p:nvPr/>
        </p:nvSpPr>
        <p:spPr>
          <a:xfrm>
            <a:off x="674195" y="0"/>
            <a:ext cx="40754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한컴 고딕"/>
                <a:ea typeface="한컴 고딕"/>
                <a:cs typeface="+mn-cs"/>
              </a:rPr>
              <a:t>속성 </a:t>
            </a:r>
            <a:r>
              <a:rPr lang="en-US" altLang="ko-KR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&amp; </a:t>
            </a:r>
            <a:r>
              <a:rPr lang="ko-KR" altLang="en-US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오퍼레이션 정의</a:t>
            </a:r>
            <a:endParaRPr kumimoji="0" lang="ko-KR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272123"/>
              </a:solidFill>
              <a:effectLst/>
              <a:uLnTx/>
              <a:uFillTx/>
              <a:latin typeface="한컴 고딕"/>
              <a:ea typeface="한컴 고딕"/>
              <a:cs typeface="+mn-cs"/>
            </a:endParaRPr>
          </a:p>
        </p:txBody>
      </p:sp>
      <p:graphicFrame>
        <p:nvGraphicFramePr>
          <p:cNvPr id="16" name="표 5">
            <a:extLst>
              <a:ext uri="{FF2B5EF4-FFF2-40B4-BE49-F238E27FC236}">
                <a16:creationId xmlns:a16="http://schemas.microsoft.com/office/drawing/2014/main" id="{E4E492CD-E616-4AAD-B186-E90AD5C9E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06587"/>
              </p:ext>
            </p:extLst>
          </p:nvPr>
        </p:nvGraphicFramePr>
        <p:xfrm>
          <a:off x="1056241" y="2708622"/>
          <a:ext cx="82803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441">
                  <a:extLst>
                    <a:ext uri="{9D8B030D-6E8A-4147-A177-3AD203B41FA5}">
                      <a16:colId xmlns:a16="http://schemas.microsoft.com/office/drawing/2014/main" val="3019454441"/>
                    </a:ext>
                  </a:extLst>
                </a:gridCol>
                <a:gridCol w="1435700">
                  <a:extLst>
                    <a:ext uri="{9D8B030D-6E8A-4147-A177-3AD203B41FA5}">
                      <a16:colId xmlns:a16="http://schemas.microsoft.com/office/drawing/2014/main" val="77078270"/>
                    </a:ext>
                  </a:extLst>
                </a:gridCol>
                <a:gridCol w="1435700">
                  <a:extLst>
                    <a:ext uri="{9D8B030D-6E8A-4147-A177-3AD203B41FA5}">
                      <a16:colId xmlns:a16="http://schemas.microsoft.com/office/drawing/2014/main" val="3847553196"/>
                    </a:ext>
                  </a:extLst>
                </a:gridCol>
                <a:gridCol w="1375111">
                  <a:extLst>
                    <a:ext uri="{9D8B030D-6E8A-4147-A177-3AD203B41FA5}">
                      <a16:colId xmlns:a16="http://schemas.microsoft.com/office/drawing/2014/main" val="816281592"/>
                    </a:ext>
                  </a:extLst>
                </a:gridCol>
                <a:gridCol w="2643447">
                  <a:extLst>
                    <a:ext uri="{9D8B030D-6E8A-4147-A177-3AD203B41FA5}">
                      <a16:colId xmlns:a16="http://schemas.microsoft.com/office/drawing/2014/main" val="1655299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널 허용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endParaRPr lang="ko-KR" altLang="en-US" sz="1800" b="0" i="0" u="none" strike="noStrike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23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고유 식별 번호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0039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이름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7497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01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5037" y="1236136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04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graphicFrame>
        <p:nvGraphicFramePr>
          <p:cNvPr id="10" name="표 5">
            <a:extLst>
              <a:ext uri="{FF2B5EF4-FFF2-40B4-BE49-F238E27FC236}">
                <a16:creationId xmlns:a16="http://schemas.microsoft.com/office/drawing/2014/main" id="{13E751FC-C08B-4C3C-AD06-238C7217E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56321"/>
              </p:ext>
            </p:extLst>
          </p:nvPr>
        </p:nvGraphicFramePr>
        <p:xfrm>
          <a:off x="1127432" y="2687320"/>
          <a:ext cx="83256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700">
                  <a:extLst>
                    <a:ext uri="{9D8B030D-6E8A-4147-A177-3AD203B41FA5}">
                      <a16:colId xmlns:a16="http://schemas.microsoft.com/office/drawing/2014/main" val="3019454441"/>
                    </a:ext>
                  </a:extLst>
                </a:gridCol>
                <a:gridCol w="1435700">
                  <a:extLst>
                    <a:ext uri="{9D8B030D-6E8A-4147-A177-3AD203B41FA5}">
                      <a16:colId xmlns:a16="http://schemas.microsoft.com/office/drawing/2014/main" val="77078270"/>
                    </a:ext>
                  </a:extLst>
                </a:gridCol>
                <a:gridCol w="1435700">
                  <a:extLst>
                    <a:ext uri="{9D8B030D-6E8A-4147-A177-3AD203B41FA5}">
                      <a16:colId xmlns:a16="http://schemas.microsoft.com/office/drawing/2014/main" val="3847553196"/>
                    </a:ext>
                  </a:extLst>
                </a:gridCol>
                <a:gridCol w="1375111">
                  <a:extLst>
                    <a:ext uri="{9D8B030D-6E8A-4147-A177-3AD203B41FA5}">
                      <a16:colId xmlns:a16="http://schemas.microsoft.com/office/drawing/2014/main" val="816281592"/>
                    </a:ext>
                  </a:extLst>
                </a:gridCol>
                <a:gridCol w="2643447">
                  <a:extLst>
                    <a:ext uri="{9D8B030D-6E8A-4147-A177-3AD203B41FA5}">
                      <a16:colId xmlns:a16="http://schemas.microsoft.com/office/drawing/2014/main" val="1655299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속성명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자료형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널 허용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endParaRPr lang="ko-KR" altLang="en-US" sz="1800" b="0" i="0" u="none" strike="noStrike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23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고유 식별 번호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0039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이름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749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일시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uint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타임스탬프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특정 시각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46173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A972872-17EA-42E7-AEC3-72C1A3CAA09B}"/>
              </a:ext>
            </a:extLst>
          </p:cNvPr>
          <p:cNvSpPr txBox="1"/>
          <p:nvPr/>
        </p:nvSpPr>
        <p:spPr>
          <a:xfrm>
            <a:off x="1127432" y="956005"/>
            <a:ext cx="60932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UseHistory</a:t>
            </a:r>
            <a:endParaRPr lang="ko-KR" altLang="en-US" sz="2500" dirty="0"/>
          </a:p>
        </p:txBody>
      </p:sp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3F13494A-2973-4459-AFDB-E76A2FDCA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598441"/>
              </p:ext>
            </p:extLst>
          </p:nvPr>
        </p:nvGraphicFramePr>
        <p:xfrm>
          <a:off x="1127432" y="4657665"/>
          <a:ext cx="104906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976">
                  <a:extLst>
                    <a:ext uri="{9D8B030D-6E8A-4147-A177-3AD203B41FA5}">
                      <a16:colId xmlns:a16="http://schemas.microsoft.com/office/drawing/2014/main" val="2527418631"/>
                    </a:ext>
                  </a:extLst>
                </a:gridCol>
                <a:gridCol w="2582597">
                  <a:extLst>
                    <a:ext uri="{9D8B030D-6E8A-4147-A177-3AD203B41FA5}">
                      <a16:colId xmlns:a16="http://schemas.microsoft.com/office/drawing/2014/main" val="3158333317"/>
                    </a:ext>
                  </a:extLst>
                </a:gridCol>
                <a:gridCol w="1342399">
                  <a:extLst>
                    <a:ext uri="{9D8B030D-6E8A-4147-A177-3AD203B41FA5}">
                      <a16:colId xmlns:a16="http://schemas.microsoft.com/office/drawing/2014/main" val="1571651390"/>
                    </a:ext>
                  </a:extLst>
                </a:gridCol>
                <a:gridCol w="4004690">
                  <a:extLst>
                    <a:ext uri="{9D8B030D-6E8A-4147-A177-3AD203B41FA5}">
                      <a16:colId xmlns:a16="http://schemas.microsoft.com/office/drawing/2014/main" val="2947421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오퍼레이션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반환값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95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 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인증 이력을 저장한다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2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사용자의 인증 내역을 조회한다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85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historyAll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모든 사용자의 인증 내역을 조회한다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392632"/>
                  </a:ext>
                </a:extLst>
              </a:tr>
            </a:tbl>
          </a:graphicData>
        </a:graphic>
      </p:graphicFrame>
      <p:sp>
        <p:nvSpPr>
          <p:cNvPr id="13" name="TextBox 5">
            <a:extLst>
              <a:ext uri="{FF2B5EF4-FFF2-40B4-BE49-F238E27FC236}">
                <a16:creationId xmlns:a16="http://schemas.microsoft.com/office/drawing/2014/main" id="{3D7A7E61-F61B-4181-BA2A-8F59E03A6BE4}"/>
              </a:ext>
            </a:extLst>
          </p:cNvPr>
          <p:cNvSpPr txBox="1"/>
          <p:nvPr/>
        </p:nvSpPr>
        <p:spPr>
          <a:xfrm>
            <a:off x="674195" y="0"/>
            <a:ext cx="40754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한컴 고딕"/>
                <a:ea typeface="한컴 고딕"/>
                <a:cs typeface="+mn-cs"/>
              </a:rPr>
              <a:t>속성 </a:t>
            </a:r>
            <a:r>
              <a:rPr lang="en-US" altLang="ko-KR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&amp; </a:t>
            </a:r>
            <a:r>
              <a:rPr lang="ko-KR" altLang="en-US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오퍼레이션 정의</a:t>
            </a:r>
            <a:endParaRPr kumimoji="0" lang="ko-KR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272123"/>
              </a:solidFill>
              <a:effectLst/>
              <a:uLnTx/>
              <a:uFillTx/>
              <a:latin typeface="한컴 고딕"/>
              <a:ea typeface="한컴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50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04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8C7AEDA-0243-4868-8BE3-89855FCAA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46440"/>
              </p:ext>
            </p:extLst>
          </p:nvPr>
        </p:nvGraphicFramePr>
        <p:xfrm>
          <a:off x="1039354" y="1541780"/>
          <a:ext cx="10113292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323">
                  <a:extLst>
                    <a:ext uri="{9D8B030D-6E8A-4147-A177-3AD203B41FA5}">
                      <a16:colId xmlns:a16="http://schemas.microsoft.com/office/drawing/2014/main" val="3542433449"/>
                    </a:ext>
                  </a:extLst>
                </a:gridCol>
                <a:gridCol w="1685495">
                  <a:extLst>
                    <a:ext uri="{9D8B030D-6E8A-4147-A177-3AD203B41FA5}">
                      <a16:colId xmlns:a16="http://schemas.microsoft.com/office/drawing/2014/main" val="3046791271"/>
                    </a:ext>
                  </a:extLst>
                </a:gridCol>
                <a:gridCol w="2092271">
                  <a:extLst>
                    <a:ext uri="{9D8B030D-6E8A-4147-A177-3AD203B41FA5}">
                      <a16:colId xmlns:a16="http://schemas.microsoft.com/office/drawing/2014/main" val="1804512777"/>
                    </a:ext>
                  </a:extLst>
                </a:gridCol>
                <a:gridCol w="3807203">
                  <a:extLst>
                    <a:ext uri="{9D8B030D-6E8A-4147-A177-3AD203B41FA5}">
                      <a16:colId xmlns:a16="http://schemas.microsoft.com/office/drawing/2014/main" val="1938280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유형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관계 클래스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862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UserView</a:t>
                      </a:r>
                      <a:endParaRPr lang="ko-KR" altLang="en-US" dirty="0"/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연관클래스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FaceRecognition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인증을 위한 로직을 호출한다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09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FaceRecognition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Attendance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인증이 된 내역을 저장하기위한      로직을 호출한다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97386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Attendance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UseHistory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실제 </a:t>
                      </a:r>
                      <a:r>
                        <a:rPr lang="en-US" altLang="ko-KR"/>
                        <a:t>DB</a:t>
                      </a:r>
                      <a:r>
                        <a:rPr lang="ko-KR" altLang="en-US"/>
                        <a:t>에 저장하기 위한                  로직을 처리한다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0254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SearchView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조회된 내역을 전달한다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67965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AdminView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EAEDF8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Attendance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 정보를 요청한다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318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InformationPerson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요청된 정보를 전달한다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10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SearchView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FaceRecognition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개인 사용자가 이용내역을 요청하기 위한 로직을 호출한다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096871"/>
                  </a:ext>
                </a:extLst>
              </a:tr>
            </a:tbl>
          </a:graphicData>
        </a:graphic>
      </p:graphicFrame>
      <p:sp>
        <p:nvSpPr>
          <p:cNvPr id="18" name="TextBox 5">
            <a:extLst>
              <a:ext uri="{FF2B5EF4-FFF2-40B4-BE49-F238E27FC236}">
                <a16:creationId xmlns:a16="http://schemas.microsoft.com/office/drawing/2014/main" id="{0CF72DD6-D696-4D01-935C-F0C01D0FD679}"/>
              </a:ext>
            </a:extLst>
          </p:cNvPr>
          <p:cNvSpPr txBox="1"/>
          <p:nvPr/>
        </p:nvSpPr>
        <p:spPr>
          <a:xfrm>
            <a:off x="674195" y="0"/>
            <a:ext cx="40754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effectLst/>
                <a:uLnTx/>
                <a:uFillTx/>
                <a:latin typeface="한컴 고딕"/>
                <a:ea typeface="한컴 고딕"/>
                <a:cs typeface="+mn-cs"/>
              </a:rPr>
              <a:t>속성 </a:t>
            </a:r>
            <a:r>
              <a:rPr lang="en-US" altLang="ko-KR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&amp; </a:t>
            </a:r>
            <a:r>
              <a:rPr lang="ko-KR" altLang="en-US" sz="2500" b="1" dirty="0">
                <a:ln w="9525">
                  <a:solidFill>
                    <a:prstClr val="black">
                      <a:alpha val="30000"/>
                    </a:prst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오퍼레이션 정의</a:t>
            </a:r>
            <a:endParaRPr kumimoji="0" lang="ko-KR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272123"/>
              </a:solidFill>
              <a:effectLst/>
              <a:uLnTx/>
              <a:uFillTx/>
              <a:latin typeface="한컴 고딕"/>
              <a:ea typeface="한컴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49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05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1068" name="TextBox 5"/>
          <p:cNvSpPr txBox="1"/>
          <p:nvPr/>
        </p:nvSpPr>
        <p:spPr>
          <a:xfrm>
            <a:off x="674195" y="0"/>
            <a:ext cx="329449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시퀀스 다이어그램</a:t>
            </a:r>
            <a:endParaRPr lang="ko-KR" altLang="en-US" sz="2500" b="1" dirty="0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22A366-4F3E-4C14-827D-287A57CAA62F}"/>
              </a:ext>
            </a:extLst>
          </p:cNvPr>
          <p:cNvSpPr/>
          <p:nvPr/>
        </p:nvSpPr>
        <p:spPr>
          <a:xfrm>
            <a:off x="1155277" y="1814062"/>
            <a:ext cx="1375792" cy="382995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AF5F86-40BE-400D-883B-11A9E30D05E1}"/>
              </a:ext>
            </a:extLst>
          </p:cNvPr>
          <p:cNvSpPr/>
          <p:nvPr/>
        </p:nvSpPr>
        <p:spPr>
          <a:xfrm>
            <a:off x="4115177" y="1811936"/>
            <a:ext cx="1916183" cy="38512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얼굴 식별시스템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E07745-41FF-4CC4-83A7-91DA084B378C}"/>
              </a:ext>
            </a:extLst>
          </p:cNvPr>
          <p:cNvSpPr txBox="1"/>
          <p:nvPr/>
        </p:nvSpPr>
        <p:spPr>
          <a:xfrm>
            <a:off x="935213" y="909578"/>
            <a:ext cx="545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 얼굴인증 시퀀스 다이어그램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EFD7650-CB5D-4743-84F7-672B0E71358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843173" y="2197057"/>
            <a:ext cx="0" cy="3431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CB06F6-2E4D-4020-918F-E4D8801F49C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073269" y="2197057"/>
            <a:ext cx="0" cy="34150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6FE695B-441D-4A6C-B3A0-4ABAF714FDDF}"/>
              </a:ext>
            </a:extLst>
          </p:cNvPr>
          <p:cNvCxnSpPr/>
          <p:nvPr/>
        </p:nvCxnSpPr>
        <p:spPr>
          <a:xfrm>
            <a:off x="1934911" y="3532552"/>
            <a:ext cx="30312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925E78E-D17F-49BD-B1CE-BDC3A8D65C4F}"/>
              </a:ext>
            </a:extLst>
          </p:cNvPr>
          <p:cNvSpPr txBox="1"/>
          <p:nvPr/>
        </p:nvSpPr>
        <p:spPr>
          <a:xfrm>
            <a:off x="2401227" y="3244736"/>
            <a:ext cx="20986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1: </a:t>
            </a:r>
            <a:r>
              <a:rPr lang="ko-KR" altLang="en-US" sz="1200" dirty="0"/>
              <a:t>얼굴 정보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웹캠</a:t>
            </a:r>
            <a:r>
              <a:rPr lang="ko-KR" altLang="en-US" sz="1200" dirty="0"/>
              <a:t> 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F9B60D6-7038-4733-AE32-C63A69B3B806}"/>
              </a:ext>
            </a:extLst>
          </p:cNvPr>
          <p:cNvCxnSpPr>
            <a:cxnSpLocks/>
          </p:cNvCxnSpPr>
          <p:nvPr/>
        </p:nvCxnSpPr>
        <p:spPr>
          <a:xfrm flipH="1">
            <a:off x="1934911" y="4913630"/>
            <a:ext cx="30312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1B29D3B-0287-43D2-A3AA-4CA841E5521A}"/>
              </a:ext>
            </a:extLst>
          </p:cNvPr>
          <p:cNvSpPr txBox="1"/>
          <p:nvPr/>
        </p:nvSpPr>
        <p:spPr>
          <a:xfrm>
            <a:off x="2344601" y="4424477"/>
            <a:ext cx="225800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3: </a:t>
            </a:r>
            <a:r>
              <a:rPr lang="ko-KR" altLang="en-US" sz="1200" dirty="0"/>
              <a:t>인증 여부 및</a:t>
            </a:r>
            <a:endParaRPr lang="en-US" altLang="ko-KR" sz="1200" dirty="0"/>
          </a:p>
          <a:p>
            <a:r>
              <a:rPr lang="ko-KR" altLang="en-US" sz="1200" dirty="0"/>
              <a:t>사용자 정보</a:t>
            </a:r>
            <a:r>
              <a:rPr lang="en-US" altLang="ko-KR" sz="1200" dirty="0"/>
              <a:t>(</a:t>
            </a:r>
            <a:r>
              <a:rPr lang="ko-KR" altLang="en-US" sz="1200" dirty="0"/>
              <a:t>이름</a:t>
            </a:r>
            <a:r>
              <a:rPr lang="en-US" altLang="ko-KR" sz="1200" dirty="0"/>
              <a:t>, </a:t>
            </a:r>
            <a:r>
              <a:rPr lang="ko-KR" altLang="en-US" sz="1200" dirty="0"/>
              <a:t>인증시간</a:t>
            </a:r>
            <a:r>
              <a:rPr lang="en-US" altLang="ko-KR" sz="1200" dirty="0"/>
              <a:t>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89A589-BD27-4246-A3B9-85C73931104F}"/>
              </a:ext>
            </a:extLst>
          </p:cNvPr>
          <p:cNvSpPr/>
          <p:nvPr/>
        </p:nvSpPr>
        <p:spPr>
          <a:xfrm>
            <a:off x="1355201" y="2373996"/>
            <a:ext cx="5049575" cy="33288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B72751B6-4626-4D7A-808C-A659DE0F1294}"/>
              </a:ext>
            </a:extLst>
          </p:cNvPr>
          <p:cNvSpPr/>
          <p:nvPr/>
        </p:nvSpPr>
        <p:spPr>
          <a:xfrm>
            <a:off x="1379327" y="2382911"/>
            <a:ext cx="822120" cy="394282"/>
          </a:xfrm>
          <a:custGeom>
            <a:avLst/>
            <a:gdLst>
              <a:gd name="connsiteX0" fmla="*/ 0 w 822120"/>
              <a:gd name="connsiteY0" fmla="*/ 394282 h 394282"/>
              <a:gd name="connsiteX1" fmla="*/ 629174 w 822120"/>
              <a:gd name="connsiteY1" fmla="*/ 394282 h 394282"/>
              <a:gd name="connsiteX2" fmla="*/ 822120 w 822120"/>
              <a:gd name="connsiteY2" fmla="*/ 201336 h 394282"/>
              <a:gd name="connsiteX3" fmla="*/ 822120 w 822120"/>
              <a:gd name="connsiteY3" fmla="*/ 0 h 39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120" h="394282">
                <a:moveTo>
                  <a:pt x="0" y="394282"/>
                </a:moveTo>
                <a:lnTo>
                  <a:pt x="629174" y="394282"/>
                </a:lnTo>
                <a:lnTo>
                  <a:pt x="822120" y="201336"/>
                </a:lnTo>
                <a:lnTo>
                  <a:pt x="8221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Loop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43DD42-0465-4BC9-A7DA-B0556D63379E}"/>
              </a:ext>
            </a:extLst>
          </p:cNvPr>
          <p:cNvSpPr/>
          <p:nvPr/>
        </p:nvSpPr>
        <p:spPr>
          <a:xfrm>
            <a:off x="1095141" y="1814062"/>
            <a:ext cx="5519956" cy="396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FF5BE-E7EE-46EE-8947-B923D5C2B258}"/>
              </a:ext>
            </a:extLst>
          </p:cNvPr>
          <p:cNvSpPr txBox="1"/>
          <p:nvPr/>
        </p:nvSpPr>
        <p:spPr>
          <a:xfrm>
            <a:off x="2218468" y="2363720"/>
            <a:ext cx="260982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if </a:t>
            </a:r>
            <a:r>
              <a:rPr lang="ko-KR" altLang="en-US" sz="1200" b="1" dirty="0"/>
              <a:t>얼굴인식정보 </a:t>
            </a:r>
            <a:r>
              <a:rPr lang="en-US" altLang="ko-KR" sz="1200" b="1" dirty="0"/>
              <a:t>!= null</a:t>
            </a:r>
            <a:endParaRPr lang="ko-KR" altLang="en-US" sz="1200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5F1593D-5A63-48B1-A0F6-301EE107008C}"/>
              </a:ext>
            </a:extLst>
          </p:cNvPr>
          <p:cNvSpPr/>
          <p:nvPr/>
        </p:nvSpPr>
        <p:spPr>
          <a:xfrm>
            <a:off x="5013443" y="3456535"/>
            <a:ext cx="139063" cy="1548321"/>
          </a:xfrm>
          <a:prstGeom prst="rect">
            <a:avLst/>
          </a:prstGeom>
          <a:solidFill>
            <a:srgbClr val="D9F0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43B69E-84AE-4999-9F6A-D293098B82A3}"/>
              </a:ext>
            </a:extLst>
          </p:cNvPr>
          <p:cNvSpPr/>
          <p:nvPr/>
        </p:nvSpPr>
        <p:spPr>
          <a:xfrm>
            <a:off x="1646283" y="3945180"/>
            <a:ext cx="4619415" cy="10596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1DEB739C-EAD9-41E4-91F3-682CA791E408}"/>
              </a:ext>
            </a:extLst>
          </p:cNvPr>
          <p:cNvSpPr/>
          <p:nvPr/>
        </p:nvSpPr>
        <p:spPr>
          <a:xfrm>
            <a:off x="1646283" y="3938292"/>
            <a:ext cx="452062" cy="180560"/>
          </a:xfrm>
          <a:custGeom>
            <a:avLst/>
            <a:gdLst>
              <a:gd name="connsiteX0" fmla="*/ 0 w 822120"/>
              <a:gd name="connsiteY0" fmla="*/ 394282 h 394282"/>
              <a:gd name="connsiteX1" fmla="*/ 629174 w 822120"/>
              <a:gd name="connsiteY1" fmla="*/ 394282 h 394282"/>
              <a:gd name="connsiteX2" fmla="*/ 822120 w 822120"/>
              <a:gd name="connsiteY2" fmla="*/ 201336 h 394282"/>
              <a:gd name="connsiteX3" fmla="*/ 822120 w 822120"/>
              <a:gd name="connsiteY3" fmla="*/ 0 h 39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120" h="394282">
                <a:moveTo>
                  <a:pt x="0" y="394282"/>
                </a:moveTo>
                <a:lnTo>
                  <a:pt x="629174" y="394282"/>
                </a:lnTo>
                <a:lnTo>
                  <a:pt x="822120" y="201336"/>
                </a:lnTo>
                <a:lnTo>
                  <a:pt x="8221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opt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4BA122-71B2-4D83-98DA-7F383A47C754}"/>
              </a:ext>
            </a:extLst>
          </p:cNvPr>
          <p:cNvSpPr txBox="1"/>
          <p:nvPr/>
        </p:nvSpPr>
        <p:spPr>
          <a:xfrm>
            <a:off x="2037065" y="3922832"/>
            <a:ext cx="303123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b="1" dirty="0"/>
              <a:t>인증된 사람인 경우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26618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712038" y="1236138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05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17166B-39EC-4F71-B83C-4FB4E86FAFEA}"/>
              </a:ext>
            </a:extLst>
          </p:cNvPr>
          <p:cNvSpPr/>
          <p:nvPr/>
        </p:nvSpPr>
        <p:spPr>
          <a:xfrm>
            <a:off x="1094263" y="998582"/>
            <a:ext cx="1369059" cy="3796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1DA403-D7C0-4662-8E65-8537849330B4}"/>
              </a:ext>
            </a:extLst>
          </p:cNvPr>
          <p:cNvSpPr/>
          <p:nvPr/>
        </p:nvSpPr>
        <p:spPr>
          <a:xfrm>
            <a:off x="4054163" y="995092"/>
            <a:ext cx="1906805" cy="3817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얼굴 식별시스템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E8089A-4E07-4BCB-B3A6-7311C5147D0A}"/>
              </a:ext>
            </a:extLst>
          </p:cNvPr>
          <p:cNvSpPr/>
          <p:nvPr/>
        </p:nvSpPr>
        <p:spPr>
          <a:xfrm>
            <a:off x="7075962" y="998710"/>
            <a:ext cx="1639657" cy="39625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회원인증정보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D95A831-CC11-412D-90B9-5CB1235C71F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778793" y="1378206"/>
            <a:ext cx="0" cy="5182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D0E0DD1-5686-403F-AA51-4EC333A6810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007566" y="1376824"/>
            <a:ext cx="0" cy="5182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0807BF-B826-4D8D-861A-504F42EF2ECF}"/>
              </a:ext>
            </a:extLst>
          </p:cNvPr>
          <p:cNvCxnSpPr>
            <a:cxnSpLocks/>
          </p:cNvCxnSpPr>
          <p:nvPr/>
        </p:nvCxnSpPr>
        <p:spPr>
          <a:xfrm>
            <a:off x="1858512" y="1820988"/>
            <a:ext cx="30164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22AE23A-750F-4962-9689-8AAA582F101B}"/>
              </a:ext>
            </a:extLst>
          </p:cNvPr>
          <p:cNvSpPr txBox="1"/>
          <p:nvPr/>
        </p:nvSpPr>
        <p:spPr>
          <a:xfrm>
            <a:off x="1873898" y="1541865"/>
            <a:ext cx="3084742" cy="274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1: </a:t>
            </a:r>
            <a:r>
              <a:rPr lang="ko-KR" altLang="en-US" sz="1200" dirty="0"/>
              <a:t>얼굴 정보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웹캠</a:t>
            </a:r>
            <a:r>
              <a:rPr lang="ko-KR" altLang="en-US" sz="1200" dirty="0"/>
              <a:t> 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D8B345C-AED0-4644-A014-50E3A8F4F2F4}"/>
              </a:ext>
            </a:extLst>
          </p:cNvPr>
          <p:cNvCxnSpPr>
            <a:cxnSpLocks/>
          </p:cNvCxnSpPr>
          <p:nvPr/>
        </p:nvCxnSpPr>
        <p:spPr>
          <a:xfrm>
            <a:off x="5069723" y="2077967"/>
            <a:ext cx="28021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953027B-0C70-42B5-A0EF-30122897B2C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895791" y="1394964"/>
            <a:ext cx="0" cy="51739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407FFC-366E-4642-A7CD-21039D5C935B}"/>
              </a:ext>
            </a:extLst>
          </p:cNvPr>
          <p:cNvSpPr txBox="1"/>
          <p:nvPr/>
        </p:nvSpPr>
        <p:spPr>
          <a:xfrm>
            <a:off x="5275229" y="1800968"/>
            <a:ext cx="2088333" cy="274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1: </a:t>
            </a:r>
            <a:r>
              <a:rPr lang="ko-KR" altLang="en-US" sz="1200" dirty="0"/>
              <a:t>인증 정보 요청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3B970C-CE13-49D3-9A5D-77BC1EF8334C}"/>
              </a:ext>
            </a:extLst>
          </p:cNvPr>
          <p:cNvSpPr/>
          <p:nvPr/>
        </p:nvSpPr>
        <p:spPr>
          <a:xfrm>
            <a:off x="1034127" y="998581"/>
            <a:ext cx="7681492" cy="5668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4CA0D4-B321-4274-AD25-978A9C61D6D7}"/>
              </a:ext>
            </a:extLst>
          </p:cNvPr>
          <p:cNvSpPr/>
          <p:nvPr/>
        </p:nvSpPr>
        <p:spPr>
          <a:xfrm>
            <a:off x="1291362" y="1541866"/>
            <a:ext cx="7062339" cy="212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446405D6-2B21-455D-8E93-5E6B6D6D5426}"/>
              </a:ext>
            </a:extLst>
          </p:cNvPr>
          <p:cNvSpPr/>
          <p:nvPr/>
        </p:nvSpPr>
        <p:spPr>
          <a:xfrm>
            <a:off x="1272855" y="1525089"/>
            <a:ext cx="686248" cy="301599"/>
          </a:xfrm>
          <a:custGeom>
            <a:avLst/>
            <a:gdLst>
              <a:gd name="connsiteX0" fmla="*/ 0 w 822120"/>
              <a:gd name="connsiteY0" fmla="*/ 394282 h 394282"/>
              <a:gd name="connsiteX1" fmla="*/ 629174 w 822120"/>
              <a:gd name="connsiteY1" fmla="*/ 394282 h 394282"/>
              <a:gd name="connsiteX2" fmla="*/ 822120 w 822120"/>
              <a:gd name="connsiteY2" fmla="*/ 201336 h 394282"/>
              <a:gd name="connsiteX3" fmla="*/ 822120 w 822120"/>
              <a:gd name="connsiteY3" fmla="*/ 0 h 39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120" h="394282">
                <a:moveTo>
                  <a:pt x="0" y="394282"/>
                </a:moveTo>
                <a:lnTo>
                  <a:pt x="629174" y="394282"/>
                </a:lnTo>
                <a:lnTo>
                  <a:pt x="822120" y="201336"/>
                </a:lnTo>
                <a:lnTo>
                  <a:pt x="8221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908EDC8-AB8C-4AEE-A973-E46564CC602A}"/>
              </a:ext>
            </a:extLst>
          </p:cNvPr>
          <p:cNvCxnSpPr>
            <a:cxnSpLocks/>
          </p:cNvCxnSpPr>
          <p:nvPr/>
        </p:nvCxnSpPr>
        <p:spPr>
          <a:xfrm>
            <a:off x="1858512" y="4262216"/>
            <a:ext cx="60096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632FF61-43B7-45DC-A747-CF7FB473E7A8}"/>
              </a:ext>
            </a:extLst>
          </p:cNvPr>
          <p:cNvSpPr txBox="1"/>
          <p:nvPr/>
        </p:nvSpPr>
        <p:spPr>
          <a:xfrm>
            <a:off x="1873897" y="3983093"/>
            <a:ext cx="55660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1: </a:t>
            </a:r>
            <a:r>
              <a:rPr lang="ko-KR" altLang="en-US" sz="1200" dirty="0"/>
              <a:t>인증 정보 요청</a:t>
            </a:r>
            <a:r>
              <a:rPr lang="en-US" altLang="ko-KR" sz="1200" dirty="0"/>
              <a:t>(</a:t>
            </a:r>
            <a:r>
              <a:rPr lang="ko-KR" altLang="en-US" sz="1200" dirty="0"/>
              <a:t>이름</a:t>
            </a:r>
            <a:r>
              <a:rPr lang="en-US" altLang="ko-KR" sz="1200" dirty="0"/>
              <a:t>, </a:t>
            </a:r>
            <a:r>
              <a:rPr lang="ko-KR" altLang="en-US" sz="1200" dirty="0"/>
              <a:t>핸드폰번호</a:t>
            </a:r>
            <a:r>
              <a:rPr lang="en-US" altLang="ko-KR" sz="1200" dirty="0"/>
              <a:t>, </a:t>
            </a:r>
            <a:r>
              <a:rPr lang="ko-KR" altLang="en-US" sz="1200" dirty="0"/>
              <a:t>인증시간 등</a:t>
            </a:r>
            <a:r>
              <a:rPr lang="en-US" altLang="ko-KR" sz="1200" dirty="0"/>
              <a:t>) (</a:t>
            </a:r>
            <a:r>
              <a:rPr lang="ko-KR" altLang="en-US" sz="1200" dirty="0"/>
              <a:t>제거</a:t>
            </a:r>
            <a:r>
              <a:rPr lang="en-US" altLang="ko-KR" sz="1200" dirty="0"/>
              <a:t>, </a:t>
            </a:r>
            <a:r>
              <a:rPr lang="ko-KR" altLang="en-US" sz="1200" dirty="0"/>
              <a:t>등록</a:t>
            </a:r>
            <a:r>
              <a:rPr lang="en-US" altLang="ko-KR" sz="1200" dirty="0"/>
              <a:t>, </a:t>
            </a:r>
            <a:r>
              <a:rPr lang="ko-KR" altLang="en-US" sz="1200" dirty="0"/>
              <a:t>조회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5838402-33BC-40AC-BD17-DCFB38492EFA}"/>
              </a:ext>
            </a:extLst>
          </p:cNvPr>
          <p:cNvSpPr/>
          <p:nvPr/>
        </p:nvSpPr>
        <p:spPr>
          <a:xfrm>
            <a:off x="1291362" y="3983094"/>
            <a:ext cx="7062339" cy="2034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EA54E52B-9BDE-476F-82BB-34B35E7E646E}"/>
              </a:ext>
            </a:extLst>
          </p:cNvPr>
          <p:cNvSpPr/>
          <p:nvPr/>
        </p:nvSpPr>
        <p:spPr>
          <a:xfrm>
            <a:off x="1272855" y="3966317"/>
            <a:ext cx="686248" cy="301599"/>
          </a:xfrm>
          <a:custGeom>
            <a:avLst/>
            <a:gdLst>
              <a:gd name="connsiteX0" fmla="*/ 0 w 822120"/>
              <a:gd name="connsiteY0" fmla="*/ 394282 h 394282"/>
              <a:gd name="connsiteX1" fmla="*/ 629174 w 822120"/>
              <a:gd name="connsiteY1" fmla="*/ 394282 h 394282"/>
              <a:gd name="connsiteX2" fmla="*/ 822120 w 822120"/>
              <a:gd name="connsiteY2" fmla="*/ 201336 h 394282"/>
              <a:gd name="connsiteX3" fmla="*/ 822120 w 822120"/>
              <a:gd name="connsiteY3" fmla="*/ 0 h 39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120" h="394282">
                <a:moveTo>
                  <a:pt x="0" y="394282"/>
                </a:moveTo>
                <a:lnTo>
                  <a:pt x="629174" y="394282"/>
                </a:lnTo>
                <a:lnTo>
                  <a:pt x="822120" y="201336"/>
                </a:lnTo>
                <a:lnTo>
                  <a:pt x="8221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관리자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EE4773E-5A2E-49C5-9E20-2BB5229BE90A}"/>
              </a:ext>
            </a:extLst>
          </p:cNvPr>
          <p:cNvCxnSpPr>
            <a:cxnSpLocks/>
          </p:cNvCxnSpPr>
          <p:nvPr/>
        </p:nvCxnSpPr>
        <p:spPr>
          <a:xfrm flipH="1">
            <a:off x="1873897" y="3118867"/>
            <a:ext cx="59979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81AE315-B5BD-49DB-8C18-EE88FAC54B66}"/>
              </a:ext>
            </a:extLst>
          </p:cNvPr>
          <p:cNvSpPr/>
          <p:nvPr/>
        </p:nvSpPr>
        <p:spPr>
          <a:xfrm>
            <a:off x="7868165" y="4181060"/>
            <a:ext cx="187840" cy="1331622"/>
          </a:xfrm>
          <a:prstGeom prst="rect">
            <a:avLst/>
          </a:prstGeom>
          <a:solidFill>
            <a:srgbClr val="D9F0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4446BC-71A2-4E62-AAF6-DD3E6F65D0A5}"/>
              </a:ext>
            </a:extLst>
          </p:cNvPr>
          <p:cNvSpPr txBox="1"/>
          <p:nvPr/>
        </p:nvSpPr>
        <p:spPr>
          <a:xfrm>
            <a:off x="1832669" y="2806193"/>
            <a:ext cx="3084742" cy="27456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2: </a:t>
            </a:r>
            <a:r>
              <a:rPr lang="ko-KR" altLang="en-US" sz="1200" dirty="0"/>
              <a:t>사용자에 관한 인증정보 제공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EC7E054-F98A-49A8-B2E8-DC68C6AF165F}"/>
              </a:ext>
            </a:extLst>
          </p:cNvPr>
          <p:cNvCxnSpPr>
            <a:cxnSpLocks/>
          </p:cNvCxnSpPr>
          <p:nvPr/>
        </p:nvCxnSpPr>
        <p:spPr>
          <a:xfrm flipH="1">
            <a:off x="1873897" y="5417450"/>
            <a:ext cx="59979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0CB69EE-B949-4070-A451-38E79834AD4E}"/>
              </a:ext>
            </a:extLst>
          </p:cNvPr>
          <p:cNvSpPr txBox="1"/>
          <p:nvPr/>
        </p:nvSpPr>
        <p:spPr>
          <a:xfrm>
            <a:off x="1873897" y="5081883"/>
            <a:ext cx="5323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2: </a:t>
            </a:r>
            <a:r>
              <a:rPr lang="ko-KR" altLang="en-US" sz="1200" dirty="0"/>
              <a:t>인증 정보 통보</a:t>
            </a:r>
            <a:r>
              <a:rPr lang="en-US" altLang="ko-KR" sz="1200" dirty="0"/>
              <a:t>(</a:t>
            </a:r>
            <a:r>
              <a:rPr lang="ko-KR" altLang="en-US" sz="1200" dirty="0"/>
              <a:t>이름</a:t>
            </a:r>
            <a:r>
              <a:rPr lang="en-US" altLang="ko-KR" sz="1200" dirty="0"/>
              <a:t>, </a:t>
            </a:r>
            <a:r>
              <a:rPr lang="ko-KR" altLang="en-US" sz="1200" dirty="0"/>
              <a:t>핸드폰번호</a:t>
            </a:r>
            <a:r>
              <a:rPr lang="en-US" altLang="ko-KR" sz="1200" dirty="0"/>
              <a:t>, </a:t>
            </a:r>
            <a:r>
              <a:rPr lang="ko-KR" altLang="en-US" sz="1200" dirty="0"/>
              <a:t>인증시간 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0F5B890-2D29-4100-9697-3C28D27B0E31}"/>
              </a:ext>
            </a:extLst>
          </p:cNvPr>
          <p:cNvSpPr/>
          <p:nvPr/>
        </p:nvSpPr>
        <p:spPr>
          <a:xfrm>
            <a:off x="1598484" y="4712775"/>
            <a:ext cx="7012448" cy="17700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9CACFC1B-3579-400C-9B42-F8F038F09A44}"/>
              </a:ext>
            </a:extLst>
          </p:cNvPr>
          <p:cNvSpPr/>
          <p:nvPr/>
        </p:nvSpPr>
        <p:spPr>
          <a:xfrm>
            <a:off x="1598484" y="4722804"/>
            <a:ext cx="686248" cy="301599"/>
          </a:xfrm>
          <a:custGeom>
            <a:avLst/>
            <a:gdLst>
              <a:gd name="connsiteX0" fmla="*/ 0 w 822120"/>
              <a:gd name="connsiteY0" fmla="*/ 394282 h 394282"/>
              <a:gd name="connsiteX1" fmla="*/ 629174 w 822120"/>
              <a:gd name="connsiteY1" fmla="*/ 394282 h 394282"/>
              <a:gd name="connsiteX2" fmla="*/ 822120 w 822120"/>
              <a:gd name="connsiteY2" fmla="*/ 201336 h 394282"/>
              <a:gd name="connsiteX3" fmla="*/ 822120 w 822120"/>
              <a:gd name="connsiteY3" fmla="*/ 0 h 39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120" h="394282">
                <a:moveTo>
                  <a:pt x="0" y="394282"/>
                </a:moveTo>
                <a:lnTo>
                  <a:pt x="629174" y="394282"/>
                </a:lnTo>
                <a:lnTo>
                  <a:pt x="822120" y="201336"/>
                </a:lnTo>
                <a:lnTo>
                  <a:pt x="8221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opt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3173A5-6793-4471-B562-089A299733EC}"/>
              </a:ext>
            </a:extLst>
          </p:cNvPr>
          <p:cNvSpPr txBox="1"/>
          <p:nvPr/>
        </p:nvSpPr>
        <p:spPr>
          <a:xfrm>
            <a:off x="2284732" y="4718474"/>
            <a:ext cx="3536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b="1" dirty="0"/>
              <a:t>조건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조회일 때 </a:t>
            </a:r>
            <a:r>
              <a:rPr lang="en-US" altLang="ko-KR" sz="1200" b="1" dirty="0"/>
              <a:t>] (!</a:t>
            </a:r>
            <a:r>
              <a:rPr lang="ko-KR" altLang="en-US" sz="1200" b="1" dirty="0"/>
              <a:t>제거</a:t>
            </a:r>
            <a:r>
              <a:rPr lang="en-US" altLang="ko-KR" sz="1200" b="1" dirty="0"/>
              <a:t>,</a:t>
            </a:r>
            <a:r>
              <a:rPr lang="ko-KR" altLang="en-US" sz="1200" b="1" dirty="0"/>
              <a:t>등록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2E92C6A1-9A4C-490B-9556-120D9ABFBF61}"/>
              </a:ext>
            </a:extLst>
          </p:cNvPr>
          <p:cNvSpPr txBox="1"/>
          <p:nvPr/>
        </p:nvSpPr>
        <p:spPr>
          <a:xfrm>
            <a:off x="674195" y="0"/>
            <a:ext cx="329449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시퀀스 다이어그램</a:t>
            </a:r>
            <a:endParaRPr lang="ko-KR" altLang="en-US" sz="2500" b="1" dirty="0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592B53-DCC9-47DD-BD14-4ECB5B393267}"/>
              </a:ext>
            </a:extLst>
          </p:cNvPr>
          <p:cNvSpPr txBox="1"/>
          <p:nvPr/>
        </p:nvSpPr>
        <p:spPr>
          <a:xfrm>
            <a:off x="960656" y="570552"/>
            <a:ext cx="545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유저 인증정보 요청 시퀀스 </a:t>
            </a:r>
            <a:r>
              <a:rPr lang="ko-KR" altLang="en-US" dirty="0"/>
              <a:t>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401187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각 삼각형 8"/>
          <p:cNvSpPr/>
          <p:nvPr/>
        </p:nvSpPr>
        <p:spPr>
          <a:xfrm rot="5400000">
            <a:off x="1471888" y="1773466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05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526DB88-3587-4424-9D5C-434CC5D6357B}"/>
              </a:ext>
            </a:extLst>
          </p:cNvPr>
          <p:cNvSpPr txBox="1"/>
          <p:nvPr/>
        </p:nvSpPr>
        <p:spPr>
          <a:xfrm>
            <a:off x="674195" y="0"/>
            <a:ext cx="329449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시퀀스 다이어그램</a:t>
            </a:r>
            <a:endParaRPr lang="ko-KR" altLang="en-US" sz="2500" b="1" dirty="0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FB0130-7DAC-486A-A433-519065A2B619}"/>
              </a:ext>
            </a:extLst>
          </p:cNvPr>
          <p:cNvSpPr/>
          <p:nvPr/>
        </p:nvSpPr>
        <p:spPr>
          <a:xfrm>
            <a:off x="1078630" y="1571086"/>
            <a:ext cx="7625055" cy="50063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544925-7BDD-4C50-BE5C-8F7F1912DE14}"/>
              </a:ext>
            </a:extLst>
          </p:cNvPr>
          <p:cNvSpPr/>
          <p:nvPr/>
        </p:nvSpPr>
        <p:spPr>
          <a:xfrm>
            <a:off x="1078630" y="1571085"/>
            <a:ext cx="1369059" cy="37962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825D02-629E-4196-A701-D3F165659125}"/>
              </a:ext>
            </a:extLst>
          </p:cNvPr>
          <p:cNvSpPr/>
          <p:nvPr/>
        </p:nvSpPr>
        <p:spPr>
          <a:xfrm>
            <a:off x="3382943" y="1577027"/>
            <a:ext cx="1107348" cy="3817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웹서버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BFD105-7DB0-4D5D-873C-D7429B2415E3}"/>
              </a:ext>
            </a:extLst>
          </p:cNvPr>
          <p:cNvSpPr/>
          <p:nvPr/>
        </p:nvSpPr>
        <p:spPr>
          <a:xfrm>
            <a:off x="5220622" y="1568977"/>
            <a:ext cx="1906805" cy="3817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얼굴인식시스템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8FAAD2-74ED-4652-BED4-AB538069DC58}"/>
              </a:ext>
            </a:extLst>
          </p:cNvPr>
          <p:cNvSpPr/>
          <p:nvPr/>
        </p:nvSpPr>
        <p:spPr>
          <a:xfrm>
            <a:off x="7579170" y="1568977"/>
            <a:ext cx="973122" cy="38173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6C00D69-14E0-462A-B78E-DB0CB978CAC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763160" y="1950709"/>
            <a:ext cx="0" cy="4526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80003F4-FB24-4995-B147-9E62B16C6F86}"/>
              </a:ext>
            </a:extLst>
          </p:cNvPr>
          <p:cNvCxnSpPr>
            <a:cxnSpLocks/>
          </p:cNvCxnSpPr>
          <p:nvPr/>
        </p:nvCxnSpPr>
        <p:spPr>
          <a:xfrm>
            <a:off x="3940159" y="1966809"/>
            <a:ext cx="0" cy="4509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2A1F64A-8A13-4204-8D09-DF7FA239F070}"/>
              </a:ext>
            </a:extLst>
          </p:cNvPr>
          <p:cNvCxnSpPr>
            <a:cxnSpLocks/>
          </p:cNvCxnSpPr>
          <p:nvPr/>
        </p:nvCxnSpPr>
        <p:spPr>
          <a:xfrm>
            <a:off x="6177566" y="1958759"/>
            <a:ext cx="0" cy="45179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F07174D-3CBC-46AB-A977-23A0B38E8330}"/>
              </a:ext>
            </a:extLst>
          </p:cNvPr>
          <p:cNvCxnSpPr>
            <a:cxnSpLocks/>
          </p:cNvCxnSpPr>
          <p:nvPr/>
        </p:nvCxnSpPr>
        <p:spPr>
          <a:xfrm flipH="1">
            <a:off x="8062190" y="1950709"/>
            <a:ext cx="3541" cy="4526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D727129-765E-4B17-9325-6837A9943161}"/>
              </a:ext>
            </a:extLst>
          </p:cNvPr>
          <p:cNvCxnSpPr>
            <a:cxnSpLocks/>
          </p:cNvCxnSpPr>
          <p:nvPr/>
        </p:nvCxnSpPr>
        <p:spPr>
          <a:xfrm>
            <a:off x="1763160" y="2307405"/>
            <a:ext cx="2008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A9AB90-B767-4ACC-A6A3-E7D834AF1A12}"/>
              </a:ext>
            </a:extLst>
          </p:cNvPr>
          <p:cNvSpPr txBox="1"/>
          <p:nvPr/>
        </p:nvSpPr>
        <p:spPr>
          <a:xfrm>
            <a:off x="1838480" y="2030406"/>
            <a:ext cx="244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1: </a:t>
            </a:r>
            <a:r>
              <a:rPr lang="ko-KR" altLang="en-US" sz="1200" dirty="0"/>
              <a:t>얼굴 카메라에 넣기 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1FE3610-088A-4DB6-8970-452E736120D7}"/>
              </a:ext>
            </a:extLst>
          </p:cNvPr>
          <p:cNvCxnSpPr>
            <a:cxnSpLocks/>
          </p:cNvCxnSpPr>
          <p:nvPr/>
        </p:nvCxnSpPr>
        <p:spPr>
          <a:xfrm>
            <a:off x="4219617" y="2625671"/>
            <a:ext cx="17507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50383F9-C92F-4320-9B62-EBECB62EE730}"/>
              </a:ext>
            </a:extLst>
          </p:cNvPr>
          <p:cNvSpPr txBox="1"/>
          <p:nvPr/>
        </p:nvSpPr>
        <p:spPr>
          <a:xfrm>
            <a:off x="4219617" y="2315116"/>
            <a:ext cx="24425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2: </a:t>
            </a:r>
            <a:r>
              <a:rPr lang="ko-KR" altLang="en-US" sz="1200" dirty="0"/>
              <a:t>얼굴 정보 전달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3F0243C-1AFC-4A99-93B0-E63E39589F2D}"/>
              </a:ext>
            </a:extLst>
          </p:cNvPr>
          <p:cNvCxnSpPr>
            <a:cxnSpLocks/>
          </p:cNvCxnSpPr>
          <p:nvPr/>
        </p:nvCxnSpPr>
        <p:spPr>
          <a:xfrm>
            <a:off x="6272559" y="3128930"/>
            <a:ext cx="1689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26390DA-E1DB-4ABE-9AC2-CBF104D4D7CD}"/>
              </a:ext>
            </a:extLst>
          </p:cNvPr>
          <p:cNvSpPr txBox="1"/>
          <p:nvPr/>
        </p:nvSpPr>
        <p:spPr>
          <a:xfrm>
            <a:off x="6261185" y="2833239"/>
            <a:ext cx="244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2.1: </a:t>
            </a:r>
            <a:r>
              <a:rPr lang="ko-KR" altLang="en-US" sz="1200" dirty="0"/>
              <a:t>인증 정보 전달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F030E7-510A-491C-BA53-36E098B2EB5F}"/>
              </a:ext>
            </a:extLst>
          </p:cNvPr>
          <p:cNvSpPr/>
          <p:nvPr/>
        </p:nvSpPr>
        <p:spPr>
          <a:xfrm>
            <a:off x="3852371" y="2189628"/>
            <a:ext cx="183387" cy="3787623"/>
          </a:xfrm>
          <a:prstGeom prst="rect">
            <a:avLst/>
          </a:prstGeom>
          <a:solidFill>
            <a:srgbClr val="D9F0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2769898-FE45-4CA8-BDB1-142F80D9408B}"/>
              </a:ext>
            </a:extLst>
          </p:cNvPr>
          <p:cNvCxnSpPr>
            <a:cxnSpLocks/>
          </p:cNvCxnSpPr>
          <p:nvPr/>
        </p:nvCxnSpPr>
        <p:spPr>
          <a:xfrm flipH="1">
            <a:off x="4195639" y="5030977"/>
            <a:ext cx="175073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B82DEC6-C8F3-4F0B-849E-683EE0C505F1}"/>
              </a:ext>
            </a:extLst>
          </p:cNvPr>
          <p:cNvSpPr txBox="1"/>
          <p:nvPr/>
        </p:nvSpPr>
        <p:spPr>
          <a:xfrm>
            <a:off x="4159753" y="4739581"/>
            <a:ext cx="1717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3: </a:t>
            </a:r>
            <a:r>
              <a:rPr lang="ko-KR" altLang="en-US" sz="1200" dirty="0"/>
              <a:t>원하는 정보수신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BAEB0DE-F580-4710-8A56-D7D497C6FA62}"/>
              </a:ext>
            </a:extLst>
          </p:cNvPr>
          <p:cNvCxnSpPr>
            <a:cxnSpLocks/>
          </p:cNvCxnSpPr>
          <p:nvPr/>
        </p:nvCxnSpPr>
        <p:spPr>
          <a:xfrm flipH="1">
            <a:off x="1805356" y="5865184"/>
            <a:ext cx="200115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9BC7BC2-94B4-4A61-B35A-F290F39AEFF1}"/>
              </a:ext>
            </a:extLst>
          </p:cNvPr>
          <p:cNvSpPr txBox="1"/>
          <p:nvPr/>
        </p:nvSpPr>
        <p:spPr>
          <a:xfrm>
            <a:off x="1904624" y="5430099"/>
            <a:ext cx="179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4: </a:t>
            </a:r>
            <a:r>
              <a:rPr lang="ko-KR" altLang="en-US" sz="1200" dirty="0"/>
              <a:t>인증된 얼굴에 대한 정보 수신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C837135-8799-4DED-BF21-96993CB3EDD4}"/>
              </a:ext>
            </a:extLst>
          </p:cNvPr>
          <p:cNvSpPr/>
          <p:nvPr/>
        </p:nvSpPr>
        <p:spPr>
          <a:xfrm>
            <a:off x="1458545" y="2030407"/>
            <a:ext cx="6928576" cy="4446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A41621A-C2A1-4F2E-9372-CB227F34783C}"/>
              </a:ext>
            </a:extLst>
          </p:cNvPr>
          <p:cNvSpPr/>
          <p:nvPr/>
        </p:nvSpPr>
        <p:spPr>
          <a:xfrm>
            <a:off x="6067680" y="2527364"/>
            <a:ext cx="2828300" cy="26009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18DF012-27C3-4C67-A585-1633616FC1E7}"/>
              </a:ext>
            </a:extLst>
          </p:cNvPr>
          <p:cNvSpPr/>
          <p:nvPr/>
        </p:nvSpPr>
        <p:spPr>
          <a:xfrm>
            <a:off x="6067680" y="2537392"/>
            <a:ext cx="686248" cy="301599"/>
          </a:xfrm>
          <a:custGeom>
            <a:avLst/>
            <a:gdLst>
              <a:gd name="connsiteX0" fmla="*/ 0 w 822120"/>
              <a:gd name="connsiteY0" fmla="*/ 394282 h 394282"/>
              <a:gd name="connsiteX1" fmla="*/ 629174 w 822120"/>
              <a:gd name="connsiteY1" fmla="*/ 394282 h 394282"/>
              <a:gd name="connsiteX2" fmla="*/ 822120 w 822120"/>
              <a:gd name="connsiteY2" fmla="*/ 201336 h 394282"/>
              <a:gd name="connsiteX3" fmla="*/ 822120 w 822120"/>
              <a:gd name="connsiteY3" fmla="*/ 0 h 39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120" h="394282">
                <a:moveTo>
                  <a:pt x="0" y="394282"/>
                </a:moveTo>
                <a:lnTo>
                  <a:pt x="629174" y="394282"/>
                </a:lnTo>
                <a:lnTo>
                  <a:pt x="822120" y="201336"/>
                </a:lnTo>
                <a:lnTo>
                  <a:pt x="8221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alt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41C1BD6-FB33-4250-9E07-1AB525C39101}"/>
              </a:ext>
            </a:extLst>
          </p:cNvPr>
          <p:cNvCxnSpPr/>
          <p:nvPr/>
        </p:nvCxnSpPr>
        <p:spPr>
          <a:xfrm>
            <a:off x="6067680" y="3686892"/>
            <a:ext cx="282830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B04DBFE-4288-449F-BB89-CE3BDFEAB952}"/>
              </a:ext>
            </a:extLst>
          </p:cNvPr>
          <p:cNvSpPr txBox="1"/>
          <p:nvPr/>
        </p:nvSpPr>
        <p:spPr>
          <a:xfrm>
            <a:off x="6753928" y="2527363"/>
            <a:ext cx="205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인증인 경우</a:t>
            </a:r>
            <a:endParaRPr lang="ko-KR" altLang="en-US" sz="1200" b="1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E306221-E9AB-458C-A182-463BF8525323}"/>
              </a:ext>
            </a:extLst>
          </p:cNvPr>
          <p:cNvCxnSpPr>
            <a:cxnSpLocks/>
          </p:cNvCxnSpPr>
          <p:nvPr/>
        </p:nvCxnSpPr>
        <p:spPr>
          <a:xfrm>
            <a:off x="6272559" y="4123519"/>
            <a:ext cx="1689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603A97B-8735-4AD6-B07D-5E76CE0494E2}"/>
              </a:ext>
            </a:extLst>
          </p:cNvPr>
          <p:cNvSpPr txBox="1"/>
          <p:nvPr/>
        </p:nvSpPr>
        <p:spPr>
          <a:xfrm>
            <a:off x="6261185" y="3827828"/>
            <a:ext cx="244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2.1: </a:t>
            </a:r>
            <a:r>
              <a:rPr lang="ko-KR" altLang="en-US" sz="1200" dirty="0"/>
              <a:t>인증 정보 요청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213A4A3-822B-437F-B0DC-2BA09AC0B3D5}"/>
              </a:ext>
            </a:extLst>
          </p:cNvPr>
          <p:cNvCxnSpPr>
            <a:cxnSpLocks/>
          </p:cNvCxnSpPr>
          <p:nvPr/>
        </p:nvCxnSpPr>
        <p:spPr>
          <a:xfrm flipH="1">
            <a:off x="6261185" y="4840880"/>
            <a:ext cx="17111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9CEA122-CFFE-4983-8C76-00759C925002}"/>
              </a:ext>
            </a:extLst>
          </p:cNvPr>
          <p:cNvSpPr txBox="1"/>
          <p:nvPr/>
        </p:nvSpPr>
        <p:spPr>
          <a:xfrm>
            <a:off x="6261185" y="4540410"/>
            <a:ext cx="244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2.1: </a:t>
            </a:r>
            <a:r>
              <a:rPr lang="ko-KR" altLang="en-US" sz="1200" dirty="0"/>
              <a:t>원하는 정보 전달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6A2618-39ED-4502-96B5-BE6430BB9C94}"/>
              </a:ext>
            </a:extLst>
          </p:cNvPr>
          <p:cNvSpPr txBox="1"/>
          <p:nvPr/>
        </p:nvSpPr>
        <p:spPr>
          <a:xfrm>
            <a:off x="1066061" y="881379"/>
            <a:ext cx="545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통합 시퀀스 다이어그램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007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92851" y="-351793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rot="10800000">
            <a:off x="698609" y="491903"/>
            <a:ext cx="11493391" cy="81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0" y="906064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32832" y="901661"/>
            <a:ext cx="541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n w="9525"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oon 윤고딕 520_TT"/>
                <a:ea typeface="Yoon 윤고딕 520_TT"/>
              </a:rPr>
              <a:t>06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  <a:latin typeface="Yoon 윤고딕 520_TT"/>
              <a:ea typeface="Yoon 윤고딕 520_TT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526DB88-3587-4424-9D5C-434CC5D6357B}"/>
              </a:ext>
            </a:extLst>
          </p:cNvPr>
          <p:cNvSpPr txBox="1"/>
          <p:nvPr/>
        </p:nvSpPr>
        <p:spPr>
          <a:xfrm>
            <a:off x="674195" y="0"/>
            <a:ext cx="329449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 err="1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비기능</a:t>
            </a:r>
            <a:r>
              <a:rPr lang="ko-KR" altLang="en-US" sz="2500" b="1" dirty="0">
                <a:ln w="952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한컴 고딕"/>
                <a:ea typeface="한컴 고딕"/>
              </a:rPr>
              <a:t> 요구사항</a:t>
            </a:r>
            <a:endParaRPr lang="ko-KR" altLang="en-US" sz="2500" b="1" dirty="0">
              <a:solidFill>
                <a:srgbClr val="272123"/>
              </a:solidFill>
              <a:latin typeface="한컴 고딕"/>
              <a:ea typeface="한컴 고딕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0150874-9D8F-4308-9A98-BA67DBD6D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881918"/>
              </p:ext>
            </p:extLst>
          </p:nvPr>
        </p:nvGraphicFramePr>
        <p:xfrm>
          <a:off x="1253799" y="1070282"/>
          <a:ext cx="8305008" cy="4717436"/>
        </p:xfrm>
        <a:graphic>
          <a:graphicData uri="http://schemas.openxmlformats.org/drawingml/2006/table">
            <a:tbl>
              <a:tblPr/>
              <a:tblGrid>
                <a:gridCol w="2763113">
                  <a:extLst>
                    <a:ext uri="{9D8B030D-6E8A-4147-A177-3AD203B41FA5}">
                      <a16:colId xmlns:a16="http://schemas.microsoft.com/office/drawing/2014/main" val="1160502726"/>
                    </a:ext>
                  </a:extLst>
                </a:gridCol>
                <a:gridCol w="5541895">
                  <a:extLst>
                    <a:ext uri="{9D8B030D-6E8A-4147-A177-3AD203B41FA5}">
                      <a16:colId xmlns:a16="http://schemas.microsoft.com/office/drawing/2014/main" val="3004534488"/>
                    </a:ext>
                  </a:extLst>
                </a:gridCol>
              </a:tblGrid>
              <a:tr h="372571"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b="1" dirty="0">
                          <a:solidFill>
                            <a:schemeClr val="tx1"/>
                          </a:solidFill>
                          <a:effectLst/>
                        </a:rPr>
                        <a:t>제품 요구사항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Noto Sans Light"/>
                        </a:rPr>
                        <a:t>사용성</a:t>
                      </a:r>
                      <a:r>
                        <a:rPr lang="en-US" altLang="ko-KR" b="1" dirty="0">
                          <a:effectLst/>
                          <a:latin typeface="Noto Sans Light"/>
                        </a:rPr>
                        <a:t>(Usability)</a:t>
                      </a:r>
                      <a:r>
                        <a:rPr lang="ko-KR" altLang="en-US" dirty="0">
                          <a:effectLst/>
                          <a:latin typeface="Noto Sans Light"/>
                        </a:rPr>
                        <a:t>  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:   </a:t>
                      </a:r>
                    </a:p>
                    <a:p>
                      <a:r>
                        <a:rPr lang="ko-KR" altLang="en-US" dirty="0">
                          <a:effectLst/>
                          <a:latin typeface="Noto Sans Light"/>
                        </a:rPr>
                        <a:t>별도의 추가 동작 없이 사용자가 얼굴을 카메라에 인식을 함으로써 인식이 가능하게 해야 한다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0255572"/>
                  </a:ext>
                </a:extLst>
              </a:tr>
              <a:tr h="1090316">
                <a:tc vMerge="1">
                  <a:txBody>
                    <a:bodyPr/>
                    <a:lstStyle/>
                    <a:p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Noto Sans Light"/>
                        </a:rPr>
                        <a:t>성능</a:t>
                      </a:r>
                      <a:r>
                        <a:rPr lang="en-US" altLang="ko-KR" b="1" dirty="0">
                          <a:effectLst/>
                          <a:latin typeface="Noto Sans Light"/>
                        </a:rPr>
                        <a:t>(Performance)</a:t>
                      </a:r>
                      <a:r>
                        <a:rPr lang="ko-KR" altLang="en-US" dirty="0">
                          <a:effectLst/>
                          <a:latin typeface="Noto Sans Light"/>
                        </a:rPr>
                        <a:t>  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: </a:t>
                      </a:r>
                    </a:p>
                    <a:p>
                      <a:r>
                        <a:rPr lang="ko-KR" altLang="en-US" dirty="0">
                          <a:effectLst/>
                          <a:latin typeface="Noto Sans Light"/>
                        </a:rPr>
                        <a:t>인증이 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1</a:t>
                      </a:r>
                      <a:r>
                        <a:rPr lang="ko-KR" altLang="en-US" dirty="0">
                          <a:effectLst/>
                          <a:latin typeface="Noto Sans Light"/>
                        </a:rPr>
                        <a:t>초 이내에 되어야 한다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. </a:t>
                      </a:r>
                      <a:endParaRPr lang="ko-KR" altLang="en-US" dirty="0">
                        <a:effectLst/>
                        <a:latin typeface="Noto Sans Light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8669198"/>
                  </a:ext>
                </a:extLst>
              </a:tr>
              <a:tr h="391832">
                <a:tc vMerge="1">
                  <a:txBody>
                    <a:bodyPr/>
                    <a:lstStyle/>
                    <a:p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Noto Sans Light"/>
                        </a:rPr>
                        <a:t>정확성</a:t>
                      </a:r>
                      <a:r>
                        <a:rPr lang="en-US" altLang="ko-KR" b="1" dirty="0">
                          <a:effectLst/>
                          <a:latin typeface="Noto Sans Light"/>
                        </a:rPr>
                        <a:t>(Accuracy)</a:t>
                      </a:r>
                      <a:r>
                        <a:rPr lang="ko-KR" altLang="en-US" dirty="0">
                          <a:effectLst/>
                          <a:latin typeface="Noto Sans Light"/>
                        </a:rPr>
                        <a:t>  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: </a:t>
                      </a:r>
                    </a:p>
                    <a:p>
                      <a:r>
                        <a:rPr lang="en-US" altLang="ko-KR" dirty="0">
                          <a:effectLst/>
                          <a:latin typeface="Noto Sans Light"/>
                        </a:rPr>
                        <a:t>98%</a:t>
                      </a:r>
                      <a:r>
                        <a:rPr lang="ko-KR" altLang="en-US" dirty="0">
                          <a:effectLst/>
                          <a:latin typeface="Noto Sans Light"/>
                        </a:rPr>
                        <a:t>이상의 얼굴인식 정확성을 가지고 있어야 한다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.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6978767"/>
                  </a:ext>
                </a:extLst>
              </a:tr>
              <a:tr h="783664">
                <a:tc rowSpan="2"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Noto Sans Light"/>
                        </a:rPr>
                        <a:t>외부 요구사항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Noto Sans Light"/>
                        </a:rPr>
                        <a:t>보안성</a:t>
                      </a:r>
                      <a:r>
                        <a:rPr lang="en-US" altLang="ko-KR" b="1" dirty="0">
                          <a:effectLst/>
                          <a:latin typeface="Noto Sans Light"/>
                        </a:rPr>
                        <a:t>(Security)</a:t>
                      </a:r>
                      <a:r>
                        <a:rPr lang="ko-KR" altLang="en-US" dirty="0">
                          <a:effectLst/>
                          <a:latin typeface="Noto Sans Light"/>
                        </a:rPr>
                        <a:t>  </a:t>
                      </a:r>
                      <a:r>
                        <a:rPr lang="en-US" altLang="ko-KR" dirty="0">
                          <a:effectLst/>
                          <a:latin typeface="Noto Sans Light"/>
                        </a:rPr>
                        <a:t>:</a:t>
                      </a:r>
                      <a:r>
                        <a:rPr lang="ko-KR" altLang="en-US" dirty="0">
                          <a:effectLst/>
                          <a:latin typeface="Noto Sans Light"/>
                        </a:rPr>
                        <a:t> </a:t>
                      </a:r>
                      <a:endParaRPr lang="en-US" altLang="ko-KR" dirty="0">
                        <a:effectLst/>
                        <a:latin typeface="Noto Sans Light"/>
                      </a:endParaRPr>
                    </a:p>
                    <a:p>
                      <a:r>
                        <a:rPr lang="ko-KR" altLang="en-US" dirty="0">
                          <a:effectLst/>
                        </a:rPr>
                        <a:t>블록체인을 통하여 인증이력에 대한 변조가 불가능하게 해야 한다</a:t>
                      </a:r>
                      <a:r>
                        <a:rPr lang="en-US" altLang="ko-KR" dirty="0">
                          <a:effectLst/>
                        </a:rPr>
                        <a:t>.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7786631"/>
                  </a:ext>
                </a:extLst>
              </a:tr>
              <a:tr h="783664">
                <a:tc vMerge="1">
                  <a:txBody>
                    <a:bodyPr/>
                    <a:lstStyle/>
                    <a:p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</a:rPr>
                        <a:t>안전성</a:t>
                      </a:r>
                      <a:r>
                        <a:rPr lang="en-US" altLang="ko-KR" b="1" dirty="0">
                          <a:effectLst/>
                        </a:rPr>
                        <a:t>(Safety) </a:t>
                      </a:r>
                      <a:r>
                        <a:rPr lang="en-US" altLang="ko-KR" dirty="0">
                          <a:effectLst/>
                        </a:rPr>
                        <a:t>: </a:t>
                      </a:r>
                    </a:p>
                    <a:p>
                      <a:r>
                        <a:rPr lang="ko-KR" altLang="en-US" dirty="0">
                          <a:effectLst/>
                        </a:rPr>
                        <a:t>분산시스템을 사용함으로써 외부공격으로부터 데이터에 생길 피해를 방지해야 한다</a:t>
                      </a:r>
                      <a:r>
                        <a:rPr lang="en-US" altLang="ko-KR" dirty="0">
                          <a:effectLst/>
                        </a:rPr>
                        <a:t>.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706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7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38E166E-626B-4494-9882-88B9AEB39123}"/>
              </a:ext>
            </a:extLst>
          </p:cNvPr>
          <p:cNvSpPr/>
          <p:nvPr/>
        </p:nvSpPr>
        <p:spPr>
          <a:xfrm>
            <a:off x="-282804" y="-122548"/>
            <a:ext cx="12867588" cy="74188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bg1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57226986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1062</ep:Words>
  <ep:PresentationFormat>와이드스크린</ep:PresentationFormat>
  <ep:Paragraphs>176</ep:Paragraphs>
  <ep:Slides>26</ep:Slides>
  <ep:Notes>20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ep:HeadingPairs>
  <ep:TitlesOfParts>
    <vt:vector size="27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2021-03-31T09:02:00.000</dcterms:created>
  <dc:creator>wogns</dc:creator>
  <cp:lastModifiedBy>wogns</cp:lastModifiedBy>
  <dcterms:modified xsi:type="dcterms:W3CDTF">2021-06-16T10:34:41.611</dcterms:modified>
  <cp:revision>90</cp:revision>
  <dc:title>PowerPoint 프레젠테이션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