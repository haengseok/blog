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346" r:id="rId2"/>
    <p:sldId id="351" r:id="rId3"/>
    <p:sldId id="352" r:id="rId4"/>
    <p:sldId id="350" r:id="rId5"/>
    <p:sldId id="349" r:id="rId6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60" autoAdjust="0"/>
  </p:normalViewPr>
  <p:slideViewPr>
    <p:cSldViewPr>
      <p:cViewPr varScale="1">
        <p:scale>
          <a:sx n="73" d="100"/>
          <a:sy n="73" d="100"/>
        </p:scale>
        <p:origin x="1884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8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08D2BF-4B62-4760-8239-8B05BD40636A}" type="datetimeFigureOut">
              <a:rPr lang="ko-KR" altLang="en-US" smtClean="0"/>
              <a:t>2021-09-24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FA34A-1F45-457E-BA2C-25E15C6040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93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EFA34A-1F45-457E-BA2C-25E15C60402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665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2021-09-24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2021-09-24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2021-09-24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2021-09-24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2021-09-24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2021-09-24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2021-09-24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2021-09-24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2021-09-24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2021-09-24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2021-09-24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D55A759-1D05-4E38-978B-3AFBFC041C1F}" type="datetimeFigureOut">
              <a:rPr lang="ko-KR" altLang="en-US" smtClean="0"/>
              <a:pPr/>
              <a:t>2021-09-24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marL="320040" indent="-320040" algn="r" defTabSz="914400" rtl="0" eaLnBrk="1" latinLnBrk="1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1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1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1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1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1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1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1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1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1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3">
            <a:extLst>
              <a:ext uri="{FF2B5EF4-FFF2-40B4-BE49-F238E27FC236}">
                <a16:creationId xmlns:a16="http://schemas.microsoft.com/office/drawing/2014/main" id="{1F819B4E-B15A-489D-9490-8A4923780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1412776"/>
            <a:ext cx="7272808" cy="4959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1" indent="-457200">
              <a:lnSpc>
                <a:spcPct val="110000"/>
              </a:lnSpc>
              <a:spcBef>
                <a:spcPts val="1800"/>
              </a:spcBef>
              <a:spcAft>
                <a:spcPts val="300"/>
              </a:spcAft>
              <a:buFontTx/>
              <a:buAutoNum type="arabicPeriod"/>
              <a:defRPr/>
            </a:pPr>
            <a:r>
              <a:rPr lang="ko-KR" altLang="en-US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프로젝트 계획서 </a:t>
            </a:r>
            <a:r>
              <a:rPr lang="ko-KR" altLang="en-US" sz="1600" b="1" spc="-100" dirty="0" smtClean="0">
                <a:latin typeface="새굴림" panose="02030600000101010101" pitchFamily="18" charset="-127"/>
                <a:ea typeface="새굴림" panose="02030600000101010101" pitchFamily="18" charset="-127"/>
              </a:rPr>
              <a:t>발표</a:t>
            </a:r>
            <a:r>
              <a:rPr lang="en-US" altLang="ko-KR" sz="1600" b="1" spc="-100" dirty="0" smtClean="0">
                <a:latin typeface="새굴림" panose="02030600000101010101" pitchFamily="18" charset="-127"/>
                <a:ea typeface="새굴림" panose="02030600000101010101" pitchFamily="18" charset="-127"/>
              </a:rPr>
              <a:t>(</a:t>
            </a:r>
            <a:r>
              <a:rPr lang="ko-KR" altLang="en-US" sz="1600" b="1" spc="-100" dirty="0" smtClean="0">
                <a:latin typeface="새굴림" panose="02030600000101010101" pitchFamily="18" charset="-127"/>
                <a:ea typeface="새굴림" panose="02030600000101010101" pitchFamily="18" charset="-127"/>
              </a:rPr>
              <a:t>개요</a:t>
            </a:r>
            <a:r>
              <a:rPr lang="en-US" altLang="ko-KR" sz="1600" b="1" spc="-100" dirty="0" smtClean="0">
                <a:latin typeface="새굴림" panose="02030600000101010101" pitchFamily="18" charset="-127"/>
                <a:ea typeface="새굴림" panose="02030600000101010101" pitchFamily="18" charset="-127"/>
              </a:rPr>
              <a:t>, </a:t>
            </a:r>
            <a:r>
              <a:rPr lang="ko-KR" altLang="en-US" sz="1600" b="1" spc="-100" dirty="0" smtClean="0">
                <a:latin typeface="새굴림" panose="02030600000101010101" pitchFamily="18" charset="-127"/>
                <a:ea typeface="새굴림" panose="02030600000101010101" pitchFamily="18" charset="-127"/>
              </a:rPr>
              <a:t>동기</a:t>
            </a:r>
            <a:r>
              <a:rPr lang="en-US" altLang="ko-KR" sz="1600" b="1" spc="-100" dirty="0" smtClean="0">
                <a:latin typeface="새굴림" panose="02030600000101010101" pitchFamily="18" charset="-127"/>
                <a:ea typeface="새굴림" panose="02030600000101010101" pitchFamily="18" charset="-127"/>
              </a:rPr>
              <a:t>, </a:t>
            </a:r>
            <a:r>
              <a:rPr lang="ko-KR" altLang="en-US" sz="1600" b="1" spc="-100" dirty="0" smtClean="0">
                <a:latin typeface="새굴림" panose="02030600000101010101" pitchFamily="18" charset="-127"/>
                <a:ea typeface="새굴림" panose="02030600000101010101" pitchFamily="18" charset="-127"/>
              </a:rPr>
              <a:t>시스템구성도</a:t>
            </a:r>
            <a:r>
              <a:rPr lang="en-US" altLang="ko-KR" sz="1600" b="1" spc="-100" dirty="0" smtClean="0">
                <a:latin typeface="새굴림" panose="02030600000101010101" pitchFamily="18" charset="-127"/>
                <a:ea typeface="새굴림" panose="02030600000101010101" pitchFamily="18" charset="-127"/>
              </a:rPr>
              <a:t>, </a:t>
            </a:r>
            <a:r>
              <a:rPr lang="ko-KR" altLang="en-US" sz="1600" b="1" spc="-100" dirty="0" smtClean="0">
                <a:latin typeface="새굴림" panose="02030600000101010101" pitchFamily="18" charset="-127"/>
                <a:ea typeface="새굴림" panose="02030600000101010101" pitchFamily="18" charset="-127"/>
              </a:rPr>
              <a:t>기능</a:t>
            </a:r>
            <a:r>
              <a:rPr lang="en-US" altLang="ko-KR" sz="1600" b="1" spc="-100" dirty="0" smtClean="0">
                <a:latin typeface="새굴림" panose="02030600000101010101" pitchFamily="18" charset="-127"/>
                <a:ea typeface="새굴림" panose="02030600000101010101" pitchFamily="18" charset="-127"/>
              </a:rPr>
              <a:t>, </a:t>
            </a:r>
            <a:r>
              <a:rPr lang="ko-KR" altLang="en-US" sz="1600" b="1" spc="-100" dirty="0" smtClean="0">
                <a:latin typeface="새굴림" panose="02030600000101010101" pitchFamily="18" charset="-127"/>
                <a:ea typeface="새굴림" panose="02030600000101010101" pitchFamily="18" charset="-127"/>
              </a:rPr>
              <a:t>기대효과</a:t>
            </a:r>
            <a:r>
              <a:rPr lang="en-US" altLang="ko-KR" sz="1600" b="1" spc="-100" dirty="0" smtClean="0">
                <a:latin typeface="새굴림" panose="02030600000101010101" pitchFamily="18" charset="-127"/>
                <a:ea typeface="새굴림" panose="02030600000101010101" pitchFamily="18" charset="-127"/>
              </a:rPr>
              <a:t> </a:t>
            </a:r>
            <a:r>
              <a:rPr lang="ko-KR" altLang="en-US" sz="1600" b="1" spc="-100" dirty="0" smtClean="0">
                <a:latin typeface="새굴림" panose="02030600000101010101" pitchFamily="18" charset="-127"/>
                <a:ea typeface="새굴림" panose="02030600000101010101" pitchFamily="18" charset="-127"/>
              </a:rPr>
              <a:t>등</a:t>
            </a:r>
            <a: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)</a:t>
            </a:r>
          </a:p>
          <a:p>
            <a:pPr lvl="1" indent="-457200">
              <a:lnSpc>
                <a:spcPct val="110000"/>
              </a:lnSpc>
              <a:spcBef>
                <a:spcPts val="1800"/>
              </a:spcBef>
              <a:spcAft>
                <a:spcPts val="300"/>
              </a:spcAft>
              <a:buFontTx/>
              <a:buAutoNum type="arabicPeriod"/>
              <a:defRPr/>
            </a:pPr>
            <a:r>
              <a:rPr lang="ko-KR" altLang="en-US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프로젝트 </a:t>
            </a:r>
            <a:r>
              <a:rPr lang="ko-KR" altLang="en-US" sz="1600" b="1" spc="-100" dirty="0" err="1">
                <a:latin typeface="새굴림" panose="02030600000101010101" pitchFamily="18" charset="-127"/>
                <a:ea typeface="새굴림" panose="02030600000101010101" pitchFamily="18" charset="-127"/>
              </a:rPr>
              <a:t>유스케이스</a:t>
            </a:r>
            <a:r>
              <a:rPr lang="ko-KR" altLang="en-US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 모델링 </a:t>
            </a:r>
            <a: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– </a:t>
            </a:r>
            <a:r>
              <a:rPr lang="ko-KR" altLang="en-US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문제 설명서</a:t>
            </a:r>
            <a:endParaRPr lang="en-US" altLang="ko-KR" sz="1600" b="1" spc="-100" dirty="0">
              <a:latin typeface="새굴림" panose="02030600000101010101" pitchFamily="18" charset="-127"/>
              <a:ea typeface="새굴림" panose="02030600000101010101" pitchFamily="18" charset="-127"/>
            </a:endParaRPr>
          </a:p>
          <a:p>
            <a:pPr lvl="1" indent="-457200">
              <a:lnSpc>
                <a:spcPct val="110000"/>
              </a:lnSpc>
              <a:spcBef>
                <a:spcPts val="1800"/>
              </a:spcBef>
              <a:spcAft>
                <a:spcPts val="300"/>
              </a:spcAft>
              <a:buFontTx/>
              <a:buAutoNum type="arabicPeriod"/>
              <a:defRPr/>
            </a:pPr>
            <a:r>
              <a:rPr lang="ko-KR" altLang="en-US" sz="1600" b="1" spc="-100" dirty="0" err="1">
                <a:latin typeface="새굴림" panose="02030600000101010101" pitchFamily="18" charset="-127"/>
                <a:ea typeface="새굴림" panose="02030600000101010101" pitchFamily="18" charset="-127"/>
              </a:rPr>
              <a:t>유스케이스</a:t>
            </a:r>
            <a:r>
              <a:rPr lang="ko-KR" altLang="en-US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 다이어그램</a:t>
            </a:r>
            <a: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/>
            </a:r>
            <a:b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</a:br>
            <a: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1-1. </a:t>
            </a:r>
            <a:r>
              <a:rPr lang="ko-KR" altLang="en-US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각 </a:t>
            </a:r>
            <a:r>
              <a:rPr lang="ko-KR" altLang="en-US" sz="1600" b="1" spc="-100" dirty="0" err="1">
                <a:latin typeface="새굴림" panose="02030600000101010101" pitchFamily="18" charset="-127"/>
                <a:ea typeface="새굴림" panose="02030600000101010101" pitchFamily="18" charset="-127"/>
              </a:rPr>
              <a:t>유스케이스</a:t>
            </a:r>
            <a:r>
              <a:rPr lang="ko-KR" altLang="en-US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 시나리오 작성</a:t>
            </a:r>
            <a: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/>
            </a:r>
            <a:b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</a:br>
            <a: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1-2. </a:t>
            </a:r>
            <a:r>
              <a:rPr lang="ko-KR" altLang="en-US" sz="1600" b="1" spc="-100" dirty="0" err="1">
                <a:latin typeface="새굴림" panose="02030600000101010101" pitchFamily="18" charset="-127"/>
                <a:ea typeface="새굴림" panose="02030600000101010101" pitchFamily="18" charset="-127"/>
              </a:rPr>
              <a:t>유스케이스</a:t>
            </a:r>
            <a:r>
              <a:rPr lang="ko-KR" altLang="en-US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 다이어그램 작성</a:t>
            </a:r>
            <a: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/>
            </a:r>
            <a:b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</a:br>
            <a: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1-3. </a:t>
            </a:r>
            <a:r>
              <a:rPr lang="ko-KR" altLang="en-US" sz="1600" b="1" spc="-100" dirty="0" err="1">
                <a:latin typeface="새굴림" panose="02030600000101010101" pitchFamily="18" charset="-127"/>
                <a:ea typeface="새굴림" panose="02030600000101010101" pitchFamily="18" charset="-127"/>
              </a:rPr>
              <a:t>유스케이스</a:t>
            </a:r>
            <a:r>
              <a:rPr lang="ko-KR" altLang="en-US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 </a:t>
            </a:r>
            <a:r>
              <a:rPr lang="ko-KR" altLang="en-US" sz="1600" b="1" spc="-100" dirty="0" err="1">
                <a:latin typeface="새굴림" panose="02030600000101010101" pitchFamily="18" charset="-127"/>
                <a:ea typeface="새굴림" panose="02030600000101010101" pitchFamily="18" charset="-127"/>
              </a:rPr>
              <a:t>식별자</a:t>
            </a:r>
            <a:r>
              <a:rPr lang="ko-KR" altLang="en-US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 목록 작성</a:t>
            </a:r>
            <a:endParaRPr lang="en-US" altLang="ko-KR" sz="1600" b="1" spc="-100" dirty="0">
              <a:latin typeface="새굴림" panose="02030600000101010101" pitchFamily="18" charset="-127"/>
              <a:ea typeface="새굴림" panose="02030600000101010101" pitchFamily="18" charset="-127"/>
            </a:endParaRPr>
          </a:p>
          <a:p>
            <a:pPr lvl="1" indent="-457200">
              <a:lnSpc>
                <a:spcPct val="110000"/>
              </a:lnSpc>
              <a:spcBef>
                <a:spcPts val="1800"/>
              </a:spcBef>
              <a:spcAft>
                <a:spcPts val="300"/>
              </a:spcAft>
              <a:buFontTx/>
              <a:buAutoNum type="arabicPeriod"/>
              <a:defRPr/>
            </a:pPr>
            <a:r>
              <a:rPr lang="ko-KR" altLang="en-US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클래스 다이어그램</a:t>
            </a:r>
            <a: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/>
            </a:r>
            <a:b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</a:br>
            <a: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2-1. </a:t>
            </a:r>
            <a:r>
              <a:rPr lang="ko-KR" altLang="en-US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클래스다이어그램 작성</a:t>
            </a:r>
            <a: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/>
            </a:r>
            <a:b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</a:br>
            <a: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2-2. </a:t>
            </a:r>
            <a:r>
              <a:rPr lang="ko-KR" altLang="en-US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속성의 정의</a:t>
            </a:r>
            <a: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/>
            </a:r>
            <a:b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</a:br>
            <a: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2-3. </a:t>
            </a:r>
            <a:r>
              <a:rPr lang="ko-KR" altLang="en-US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오퍼레이션의 정의</a:t>
            </a:r>
            <a: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/>
            </a:r>
            <a:b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</a:br>
            <a:r>
              <a:rPr lang="en-US" altLang="ko-KR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2-4. </a:t>
            </a:r>
            <a:r>
              <a:rPr lang="ko-KR" altLang="en-US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관계정보</a:t>
            </a:r>
            <a:endParaRPr lang="en-US" altLang="ko-KR" sz="1600" b="1" spc="-100" dirty="0">
              <a:latin typeface="새굴림" panose="02030600000101010101" pitchFamily="18" charset="-127"/>
              <a:ea typeface="새굴림" panose="02030600000101010101" pitchFamily="18" charset="-127"/>
            </a:endParaRPr>
          </a:p>
          <a:p>
            <a:pPr lvl="1" indent="-457200">
              <a:lnSpc>
                <a:spcPct val="110000"/>
              </a:lnSpc>
              <a:spcBef>
                <a:spcPts val="1800"/>
              </a:spcBef>
              <a:spcAft>
                <a:spcPts val="300"/>
              </a:spcAft>
              <a:buFontTx/>
              <a:buAutoNum type="arabicPeriod"/>
              <a:defRPr/>
            </a:pPr>
            <a:r>
              <a:rPr lang="ko-KR" altLang="en-US" sz="1600" b="1" spc="-100" dirty="0">
                <a:latin typeface="새굴림" panose="02030600000101010101" pitchFamily="18" charset="-127"/>
                <a:ea typeface="새굴림" panose="02030600000101010101" pitchFamily="18" charset="-127"/>
              </a:rPr>
              <a:t>시퀀스 </a:t>
            </a:r>
            <a:r>
              <a:rPr lang="ko-KR" altLang="en-US" sz="1600" b="1" spc="-100" dirty="0" smtClean="0">
                <a:latin typeface="새굴림" panose="02030600000101010101" pitchFamily="18" charset="-127"/>
                <a:ea typeface="새굴림" panose="02030600000101010101" pitchFamily="18" charset="-127"/>
              </a:rPr>
              <a:t>다이어그램</a:t>
            </a:r>
            <a:endParaRPr lang="en-US" altLang="ko-KR" sz="1600" b="1" spc="-100" dirty="0" smtClean="0">
              <a:latin typeface="새굴림" panose="02030600000101010101" pitchFamily="18" charset="-127"/>
              <a:ea typeface="새굴림" panose="02030600000101010101" pitchFamily="18" charset="-127"/>
            </a:endParaRPr>
          </a:p>
          <a:p>
            <a:pPr lvl="1" indent="-457200">
              <a:lnSpc>
                <a:spcPct val="110000"/>
              </a:lnSpc>
              <a:spcBef>
                <a:spcPts val="1800"/>
              </a:spcBef>
              <a:spcAft>
                <a:spcPts val="300"/>
              </a:spcAft>
              <a:buFontTx/>
              <a:buAutoNum type="arabicPeriod"/>
              <a:defRPr/>
            </a:pPr>
            <a:r>
              <a:rPr lang="ko-KR" altLang="en-US" sz="1600" b="1" spc="-100" dirty="0" smtClean="0">
                <a:latin typeface="새굴림" panose="02030600000101010101" pitchFamily="18" charset="-127"/>
                <a:ea typeface="새굴림" panose="02030600000101010101" pitchFamily="18" charset="-127"/>
              </a:rPr>
              <a:t>비 기능 요구사항</a:t>
            </a:r>
            <a:r>
              <a:rPr lang="en-US" altLang="ko-KR" sz="1600" dirty="0"/>
              <a:t>(HW, </a:t>
            </a:r>
            <a:r>
              <a:rPr lang="ko-KR" altLang="en-US" sz="1600" dirty="0"/>
              <a:t>인터페이스</a:t>
            </a:r>
            <a:r>
              <a:rPr lang="en-US" altLang="ko-KR" sz="1600" dirty="0"/>
              <a:t>, </a:t>
            </a:r>
            <a:r>
              <a:rPr lang="ko-KR" altLang="en-US" sz="1600" dirty="0"/>
              <a:t>성능</a:t>
            </a:r>
            <a:r>
              <a:rPr lang="en-US" altLang="ko-KR" sz="1600" dirty="0"/>
              <a:t>, </a:t>
            </a:r>
            <a:r>
              <a:rPr lang="ko-KR" altLang="en-US" sz="1600" dirty="0"/>
              <a:t>품질 요구사항 등</a:t>
            </a:r>
            <a:r>
              <a:rPr lang="en-US" altLang="ko-KR" sz="1600" dirty="0" smtClean="0"/>
              <a:t>)</a:t>
            </a:r>
            <a:endParaRPr lang="en-US" altLang="ko-KR" sz="1600" b="1" spc="-100" dirty="0">
              <a:latin typeface="새굴림" panose="02030600000101010101" pitchFamily="18" charset="-127"/>
              <a:ea typeface="새굴림" panose="0203060000010101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A9C6ECE-4C2C-4896-A5B2-25FB7ECCDC1D}"/>
              </a:ext>
            </a:extLst>
          </p:cNvPr>
          <p:cNvSpPr/>
          <p:nvPr/>
        </p:nvSpPr>
        <p:spPr>
          <a:xfrm>
            <a:off x="974916" y="484822"/>
            <a:ext cx="48397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200" b="1" dirty="0">
                <a:latin typeface="HY그래픽" panose="02030600000101010101" pitchFamily="18" charset="-127"/>
                <a:ea typeface="HY그래픽" panose="02030600000101010101" pitchFamily="18" charset="-127"/>
              </a:rPr>
              <a:t>요구사항 </a:t>
            </a:r>
            <a:r>
              <a:rPr lang="ko-KR" altLang="en-US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  <a:t>명세서 발표 </a:t>
            </a:r>
            <a:r>
              <a:rPr lang="ko-KR" altLang="en-US" sz="3200" b="1" dirty="0">
                <a:latin typeface="HY그래픽" panose="02030600000101010101" pitchFamily="18" charset="-127"/>
                <a:ea typeface="HY그래픽" panose="02030600000101010101" pitchFamily="18" charset="-127"/>
              </a:rPr>
              <a:t>안내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574800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 txBox="1">
            <a:spLocks noChangeArrowheads="1"/>
          </p:cNvSpPr>
          <p:nvPr/>
        </p:nvSpPr>
        <p:spPr bwMode="auto">
          <a:xfrm>
            <a:off x="6116067" y="553354"/>
            <a:ext cx="2664296" cy="575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282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7" tIns="45708" rIns="91417" bIns="4570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8001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돋움체" panose="020B0609000101010101" pitchFamily="49" charset="-127"/>
              <a:buChar char="►"/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돋움체" panose="020B0609000101010101" pitchFamily="49" charset="-127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itchFamily="18" charset="2"/>
              <a:buChar char="-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itchFamily="18" charset="2"/>
              <a:buChar char="-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itchFamily="18" charset="2"/>
              <a:buChar char="-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itchFamily="18" charset="2"/>
              <a:buChar char="-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58775" indent="-358775" defTabSz="898525">
              <a:buClr>
                <a:srgbClr val="000000"/>
              </a:buClr>
            </a:pPr>
            <a:endParaRPr lang="en-US" altLang="ko-KR" b="0" kern="0" dirty="0">
              <a:solidFill>
                <a:srgbClr val="00000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610349" y="1189038"/>
            <a:ext cx="3680109" cy="4760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25282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859" tIns="17859" rIns="17859" bIns="17859" anchor="ctr"/>
          <a:lstStyle>
            <a:lvl1pPr marL="539750" defTabSz="898525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89013" indent="-269875" defTabSz="898525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438275" indent="-269875" defTabSz="898525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89125" indent="-269875" defTabSz="898525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38388" indent="-269875" defTabSz="898525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95588" indent="-269875" defTabSz="8985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52788" indent="-269875" defTabSz="8985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09988" indent="-269875" defTabSz="8985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67188" indent="-269875" defTabSz="8985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1.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개 요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1.1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시스템의 목적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1.2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범위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1.3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정의</a:t>
            </a: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약어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1.4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참조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2.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기능적 요구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2.1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외부 인터페이스 요구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2.1.1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사용자 인터페이스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2.1.2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하드웨어 인터페이스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2.1.3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소프트웨어 및 통신 인터페이스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2.2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기능 요구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2.2.1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기능 </a:t>
            </a: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#1(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사용 사례 </a:t>
            </a: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#1)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2.2.2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기능 </a:t>
            </a: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#2(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사용 사례 </a:t>
            </a: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#2)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...</a:t>
            </a:r>
            <a:endParaRPr lang="en-US" altLang="ko-KR" sz="1400" b="1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A9C6ECE-4C2C-4896-A5B2-25FB7ECCDC1D}"/>
              </a:ext>
            </a:extLst>
          </p:cNvPr>
          <p:cNvSpPr/>
          <p:nvPr/>
        </p:nvSpPr>
        <p:spPr>
          <a:xfrm>
            <a:off x="974916" y="484822"/>
            <a:ext cx="79175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b="1" dirty="0">
                <a:latin typeface="HY그래픽" panose="02030600000101010101" pitchFamily="18" charset="-127"/>
                <a:ea typeface="HY그래픽" panose="02030600000101010101" pitchFamily="18" charset="-127"/>
              </a:rPr>
              <a:t>요구사항 </a:t>
            </a:r>
            <a:r>
              <a:rPr lang="ko-KR" altLang="en-US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  <a:t>명세서 작성 </a:t>
            </a:r>
            <a:r>
              <a:rPr lang="en-US" altLang="ko-KR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  <a:t>(</a:t>
            </a:r>
            <a:r>
              <a:rPr lang="ko-KR" altLang="en-US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  <a:t>예시 </a:t>
            </a:r>
            <a:r>
              <a:rPr lang="en-US" altLang="ko-KR" sz="3200" kern="0" dirty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IEEE </a:t>
            </a:r>
            <a:r>
              <a:rPr lang="en-US" altLang="ko-KR" sz="3200" kern="0" dirty="0" smtClean="0">
                <a:solidFill>
                  <a:srgbClr val="000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830</a:t>
            </a:r>
            <a:r>
              <a:rPr lang="en-US" altLang="ko-KR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  <a:t>)</a:t>
            </a:r>
            <a:endParaRPr lang="ko-KR" altLang="en-US" sz="3200" dirty="0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499992" y="1189038"/>
            <a:ext cx="3680109" cy="3752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25282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859" tIns="17859" rIns="17859" bIns="17859" anchor="ctr"/>
          <a:lstStyle>
            <a:lvl1pPr marL="539750" defTabSz="898525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89013" indent="-269875" defTabSz="898525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438275" indent="-269875" defTabSz="898525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89125" indent="-269875" defTabSz="898525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338388" indent="-269875" defTabSz="898525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95588" indent="-269875" defTabSz="8985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52788" indent="-269875" defTabSz="8985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09988" indent="-269875" defTabSz="8985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67188" indent="-269875" defTabSz="8985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 smtClean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...</a:t>
            </a:r>
            <a:endParaRPr lang="en-US" altLang="ko-KR" sz="1400" b="1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  <a:sym typeface="Wingdings" panose="05000000000000000000" pitchFamily="2" charset="2"/>
            </a:endParaRP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3.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기타 요구 및 제약 사항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3.1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성능 요구</a:t>
            </a: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반응 시간</a:t>
            </a: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처리 소요 시간</a:t>
            </a: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처리율</a:t>
            </a: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)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3.2 H/W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요구</a:t>
            </a: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기억 장치 규모</a:t>
            </a: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통신수용도</a:t>
            </a: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)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3.3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예외 조건 및 이의 처리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3.4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자원</a:t>
            </a: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인력에 대한 제약 조건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4.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인수 조건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4.1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기능 시험 및 성능 시험</a:t>
            </a:r>
          </a:p>
          <a:p>
            <a:pPr algn="just" eaLnBrk="1" latinLnBrk="1" hangingPunct="1">
              <a:lnSpc>
                <a:spcPct val="14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5. </a:t>
            </a:r>
            <a:r>
              <a:rPr lang="ko-KR" altLang="en-US" sz="1400" b="1" dirty="0">
                <a:solidFill>
                  <a:srgbClr val="000000"/>
                </a:solidFill>
                <a:latin typeface="굴림" panose="020B0600000101010101" pitchFamily="50" charset="-127"/>
                <a:ea typeface="굴림" panose="020B0600000101010101" pitchFamily="50" charset="-127"/>
                <a:sym typeface="Wingdings" panose="05000000000000000000" pitchFamily="2" charset="2"/>
              </a:rPr>
              <a:t>참고 자료</a:t>
            </a:r>
          </a:p>
        </p:txBody>
      </p:sp>
    </p:spTree>
    <p:extLst>
      <p:ext uri="{BB962C8B-B14F-4D97-AF65-F5344CB8AC3E}">
        <p14:creationId xmlns:p14="http://schemas.microsoft.com/office/powerpoint/2010/main" val="3856426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 txBox="1">
            <a:spLocks/>
          </p:cNvSpPr>
          <p:nvPr/>
        </p:nvSpPr>
        <p:spPr>
          <a:xfrm>
            <a:off x="482724" y="1543323"/>
            <a:ext cx="2433092" cy="4045917"/>
          </a:xfrm>
          <a:prstGeom prst="rect">
            <a:avLst/>
          </a:prstGeom>
        </p:spPr>
        <p:txBody>
          <a:bodyPr/>
          <a:lstStyle>
            <a:lvl1pPr marL="228600" indent="-182880" algn="l" defTabSz="914400" rtl="0" eaLnBrk="1" latinLnBrk="1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1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960" indent="-182880" algn="l" defTabSz="914400" rtl="0" eaLnBrk="1" latinLnBrk="1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182880" algn="l" defTabSz="914400" rtl="0" eaLnBrk="1" latinLnBrk="1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89888" indent="-182880" algn="l" defTabSz="914400" rtl="0" eaLnBrk="1" latinLnBrk="1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64208" indent="-182880" algn="l" defTabSz="914400" rtl="0" eaLnBrk="1" latinLnBrk="1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65960" indent="-182880" algn="l" defTabSz="914400" rtl="0" eaLnBrk="1" latinLnBrk="1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86000" indent="-182880" algn="l" defTabSz="914400" rtl="0" eaLnBrk="1" latinLnBrk="1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87752" indent="-182880" algn="l" defTabSz="914400" rtl="0" eaLnBrk="1" latinLnBrk="1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Georgia" pitchFamily="18" charset="0"/>
              <a:buAutoNum type="arabicPeriod"/>
            </a:pPr>
            <a:r>
              <a:rPr lang="ko-KR" altLang="en-US" sz="1400" b="1" dirty="0" smtClean="0"/>
              <a:t>소개</a:t>
            </a:r>
            <a:endParaRPr lang="en-US" altLang="ko-KR" sz="1400" b="1" dirty="0" smtClean="0"/>
          </a:p>
          <a:p>
            <a:pPr marL="0" indent="0" latinLnBrk="0">
              <a:buFont typeface="Georgia" pitchFamily="18" charset="0"/>
              <a:buNone/>
            </a:pPr>
            <a:r>
              <a:rPr lang="en-US" altLang="ko-KR" sz="1400" b="1" dirty="0" smtClean="0"/>
              <a:t>1.1 </a:t>
            </a:r>
            <a:r>
              <a:rPr lang="ko-KR" altLang="en-US" sz="1400" b="1" dirty="0" smtClean="0"/>
              <a:t>목적</a:t>
            </a:r>
          </a:p>
          <a:p>
            <a:pPr marL="0" indent="0" latinLnBrk="0">
              <a:buFont typeface="Georgia" pitchFamily="18" charset="0"/>
              <a:buNone/>
            </a:pPr>
            <a:r>
              <a:rPr lang="en-US" altLang="ko-KR" sz="1400" b="1" dirty="0" smtClean="0"/>
              <a:t>1.2 </a:t>
            </a:r>
            <a:r>
              <a:rPr lang="ko-KR" altLang="en-US" sz="1400" b="1" dirty="0" smtClean="0"/>
              <a:t>문서 규칙</a:t>
            </a:r>
          </a:p>
          <a:p>
            <a:pPr marL="0" indent="0" latinLnBrk="0">
              <a:buFont typeface="Georgia" pitchFamily="18" charset="0"/>
              <a:buNone/>
            </a:pPr>
            <a:r>
              <a:rPr lang="en-US" altLang="ko-KR" sz="1400" b="1" dirty="0" smtClean="0"/>
              <a:t>1.3 </a:t>
            </a:r>
            <a:r>
              <a:rPr lang="ko-KR" altLang="en-US" sz="1400" b="1" dirty="0" smtClean="0"/>
              <a:t>프로젝트 범위</a:t>
            </a:r>
          </a:p>
          <a:p>
            <a:pPr marL="0" indent="0" latinLnBrk="0">
              <a:buFont typeface="Georgia" pitchFamily="18" charset="0"/>
              <a:buNone/>
            </a:pPr>
            <a:r>
              <a:rPr lang="en-US" altLang="ko-KR" sz="1400" b="1" dirty="0" smtClean="0"/>
              <a:t>1.4 </a:t>
            </a:r>
            <a:r>
              <a:rPr lang="ko-KR" altLang="en-US" sz="1400" b="1" dirty="0" smtClean="0"/>
              <a:t>참조</a:t>
            </a:r>
          </a:p>
          <a:p>
            <a:pPr marL="0" indent="0" latinLnBrk="0">
              <a:buFont typeface="Georgia" pitchFamily="18" charset="0"/>
              <a:buNone/>
            </a:pPr>
            <a:r>
              <a:rPr lang="en-US" altLang="ko-KR" sz="1400" b="1" dirty="0" smtClean="0"/>
              <a:t>2. </a:t>
            </a:r>
            <a:r>
              <a:rPr lang="ko-KR" altLang="en-US" sz="1400" b="1" dirty="0" smtClean="0"/>
              <a:t>전반적인 설명</a:t>
            </a:r>
          </a:p>
          <a:p>
            <a:pPr marL="0" indent="0" latinLnBrk="0">
              <a:buFont typeface="Georgia" pitchFamily="18" charset="0"/>
              <a:buNone/>
            </a:pPr>
            <a:r>
              <a:rPr lang="en-US" altLang="ko-KR" sz="1400" b="1" dirty="0" smtClean="0"/>
              <a:t>2.1 </a:t>
            </a:r>
            <a:r>
              <a:rPr lang="ko-KR" altLang="en-US" sz="1400" b="1" dirty="0" smtClean="0"/>
              <a:t>제품 관점</a:t>
            </a:r>
          </a:p>
          <a:p>
            <a:pPr marL="0" indent="0" latinLnBrk="0">
              <a:buFont typeface="Georgia" pitchFamily="18" charset="0"/>
              <a:buNone/>
            </a:pPr>
            <a:r>
              <a:rPr lang="en-US" altLang="ko-KR" sz="1400" b="1" dirty="0" smtClean="0"/>
              <a:t>2.2 </a:t>
            </a:r>
            <a:r>
              <a:rPr lang="ko-KR" altLang="en-US" sz="1400" b="1" dirty="0" smtClean="0"/>
              <a:t>사용자 클래스 및 특징</a:t>
            </a:r>
          </a:p>
          <a:p>
            <a:pPr marL="0" indent="0" latinLnBrk="0">
              <a:buFont typeface="Georgia" pitchFamily="18" charset="0"/>
              <a:buNone/>
            </a:pPr>
            <a:r>
              <a:rPr lang="en-US" altLang="ko-KR" sz="1400" b="1" dirty="0" smtClean="0"/>
              <a:t>2.3 </a:t>
            </a:r>
            <a:r>
              <a:rPr lang="ko-KR" altLang="en-US" sz="1400" b="1" dirty="0" err="1" smtClean="0"/>
              <a:t>운영환경</a:t>
            </a:r>
            <a:endParaRPr lang="ko-KR" altLang="en-US" sz="1400" b="1" dirty="0" smtClean="0"/>
          </a:p>
          <a:p>
            <a:pPr marL="0" indent="0" latinLnBrk="0">
              <a:buFont typeface="Georgia" pitchFamily="18" charset="0"/>
              <a:buNone/>
            </a:pPr>
            <a:r>
              <a:rPr lang="en-US" altLang="ko-KR" sz="1400" b="1" dirty="0" smtClean="0"/>
              <a:t>2.4 </a:t>
            </a:r>
            <a:r>
              <a:rPr lang="ko-KR" altLang="en-US" sz="1400" b="1" dirty="0" smtClean="0"/>
              <a:t>설계 및 구현 제약 조건</a:t>
            </a:r>
          </a:p>
          <a:p>
            <a:pPr marL="0" indent="0" latinLnBrk="0">
              <a:buFont typeface="Georgia" pitchFamily="18" charset="0"/>
              <a:buNone/>
            </a:pPr>
            <a:r>
              <a:rPr lang="en-US" altLang="ko-KR" sz="1400" b="1" dirty="0" smtClean="0"/>
              <a:t>2.5 </a:t>
            </a:r>
            <a:r>
              <a:rPr lang="ko-KR" altLang="en-US" sz="1400" b="1" dirty="0" smtClean="0"/>
              <a:t>가정 및 의존성</a:t>
            </a:r>
            <a:endParaRPr lang="ko-KR" altLang="en-US" sz="1400" b="1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2915816" y="1543323"/>
            <a:ext cx="2952328" cy="3818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맑은고딕"/>
                <a:ea typeface="맑은 고딕" panose="020B0503020000020004" pitchFamily="50" charset="-127"/>
                <a:cs typeface="+mn-cs"/>
              </a:defRPr>
            </a:lvl1pPr>
            <a:lvl2pPr marL="8001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돋움체" panose="020B0609000101010101" pitchFamily="49" charset="-127"/>
              <a:buChar char="►"/>
              <a:defRPr kumimoji="1" sz="2000">
                <a:solidFill>
                  <a:schemeClr val="tx1"/>
                </a:solidFill>
                <a:latin typeface="맑은고딕"/>
                <a:ea typeface="맑은 고딕" panose="020B0503020000020004" pitchFamily="50" charset="-127"/>
              </a:defRPr>
            </a:lvl2pPr>
            <a:lvl3pPr marL="12001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맑은 고딕" panose="020B0503020000020004" pitchFamily="50" charset="-127"/>
              <a:buChar char="–"/>
              <a:defRPr kumimoji="1">
                <a:solidFill>
                  <a:schemeClr val="tx1"/>
                </a:solidFill>
                <a:latin typeface="맑은고딕"/>
                <a:ea typeface="맑은 고딕" panose="020B0503020000020004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kumimoji="1">
                <a:solidFill>
                  <a:schemeClr val="tx1"/>
                </a:solidFill>
                <a:latin typeface="맑은고딕"/>
                <a:ea typeface="맑은 고딕" panose="020B0503020000020004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kumimoji="1">
                <a:solidFill>
                  <a:schemeClr val="tx1"/>
                </a:solidFill>
                <a:latin typeface="맑은고딕"/>
                <a:ea typeface="맑은 고딕" panose="020B0503020000020004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itchFamily="18" charset="2"/>
              <a:buChar char="-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itchFamily="18" charset="2"/>
              <a:buChar char="-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itchFamily="18" charset="2"/>
              <a:buChar char="-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itchFamily="18" charset="2"/>
              <a:buChar char="-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latinLnBrk="0">
              <a:buNone/>
            </a:pPr>
            <a:r>
              <a:rPr lang="en-US" altLang="ko-KR" sz="1400" b="1" dirty="0"/>
              <a:t>3. </a:t>
            </a:r>
            <a:r>
              <a:rPr lang="ko-KR" altLang="en-US" sz="1400" b="1" dirty="0"/>
              <a:t>시스템 기능</a:t>
            </a:r>
          </a:p>
          <a:p>
            <a:pPr marL="0" indent="0" latinLnBrk="0">
              <a:buNone/>
            </a:pPr>
            <a:r>
              <a:rPr lang="en-US" altLang="ko-KR" sz="1400" b="1" dirty="0"/>
              <a:t>3.1 </a:t>
            </a:r>
            <a:r>
              <a:rPr lang="ko-KR" altLang="en-US" sz="1400" b="1" dirty="0"/>
              <a:t>시스템 기능</a:t>
            </a:r>
          </a:p>
          <a:p>
            <a:pPr marL="0" indent="0" latinLnBrk="0">
              <a:buNone/>
            </a:pPr>
            <a:r>
              <a:rPr lang="en-US" altLang="ko-KR" sz="1400" b="1" dirty="0"/>
              <a:t>3.1.1 </a:t>
            </a:r>
            <a:r>
              <a:rPr lang="ko-KR" altLang="en-US" sz="1400" b="1" dirty="0"/>
              <a:t>설명</a:t>
            </a:r>
          </a:p>
          <a:p>
            <a:pPr marL="0" indent="0" latinLnBrk="0">
              <a:buNone/>
            </a:pPr>
            <a:r>
              <a:rPr lang="en-US" altLang="ko-KR" sz="1400" b="1" dirty="0"/>
              <a:t>3.1.2 </a:t>
            </a:r>
            <a:r>
              <a:rPr lang="ko-KR" altLang="en-US" sz="1400" b="1" dirty="0"/>
              <a:t>기능적 요구 사항</a:t>
            </a:r>
          </a:p>
          <a:p>
            <a:pPr marL="0" indent="0" latinLnBrk="0">
              <a:buNone/>
            </a:pPr>
            <a:r>
              <a:rPr lang="en-US" altLang="ko-KR" sz="1400" b="1" dirty="0" smtClean="0"/>
              <a:t>4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데이터 요구 사항</a:t>
            </a:r>
          </a:p>
          <a:p>
            <a:pPr marL="0" indent="0" latinLnBrk="0">
              <a:buNone/>
            </a:pPr>
            <a:r>
              <a:rPr lang="en-US" altLang="ko-KR" sz="1400" b="1" dirty="0"/>
              <a:t>4.1 </a:t>
            </a:r>
            <a:r>
              <a:rPr lang="ko-KR" altLang="en-US" sz="1400" b="1" dirty="0"/>
              <a:t>논리 데이터 모델</a:t>
            </a:r>
          </a:p>
          <a:p>
            <a:pPr marL="0" indent="0" latinLnBrk="0">
              <a:buNone/>
            </a:pPr>
            <a:r>
              <a:rPr lang="en-US" altLang="ko-KR" sz="1400" b="1" dirty="0"/>
              <a:t>4.2 </a:t>
            </a:r>
            <a:r>
              <a:rPr lang="ko-KR" altLang="en-US" sz="1400" b="1" dirty="0"/>
              <a:t>데이터 사전</a:t>
            </a:r>
          </a:p>
          <a:p>
            <a:pPr marL="0" indent="0" latinLnBrk="0">
              <a:buNone/>
            </a:pPr>
            <a:r>
              <a:rPr lang="en-US" altLang="ko-KR" sz="1400" b="1" dirty="0"/>
              <a:t>4.3 </a:t>
            </a:r>
            <a:r>
              <a:rPr lang="ko-KR" altLang="en-US" sz="1400" b="1" dirty="0"/>
              <a:t>보고서</a:t>
            </a:r>
          </a:p>
          <a:p>
            <a:pPr marL="0" indent="0" latinLnBrk="0">
              <a:buNone/>
            </a:pPr>
            <a:r>
              <a:rPr lang="en-US" altLang="ko-KR" sz="1400" b="1" dirty="0"/>
              <a:t>4.4 </a:t>
            </a:r>
            <a:r>
              <a:rPr lang="ko-KR" altLang="en-US" sz="1400" b="1" dirty="0"/>
              <a:t>데이터 수집</a:t>
            </a:r>
            <a:r>
              <a:rPr lang="en-US" altLang="ko-KR" sz="1400" b="1" dirty="0"/>
              <a:t>, </a:t>
            </a:r>
            <a:r>
              <a:rPr lang="ko-KR" altLang="en-US" sz="1400" b="1" dirty="0" err="1"/>
              <a:t>무결성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보존 및 </a:t>
            </a:r>
            <a:r>
              <a:rPr lang="ko-KR" altLang="en-US" sz="1400" b="1" dirty="0" smtClean="0"/>
              <a:t>폐기</a:t>
            </a:r>
            <a:endParaRPr lang="ko-KR" altLang="en-US" sz="1400" b="1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5868144" y="1543323"/>
            <a:ext cx="2664296" cy="3818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맑은고딕"/>
                <a:ea typeface="맑은 고딕" panose="020B0503020000020004" pitchFamily="50" charset="-127"/>
                <a:cs typeface="+mn-cs"/>
              </a:defRPr>
            </a:lvl1pPr>
            <a:lvl2pPr marL="8001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돋움체" panose="020B0609000101010101" pitchFamily="49" charset="-127"/>
              <a:buChar char="►"/>
              <a:defRPr kumimoji="1" sz="2000">
                <a:solidFill>
                  <a:schemeClr val="tx1"/>
                </a:solidFill>
                <a:latin typeface="맑은고딕"/>
                <a:ea typeface="맑은 고딕" panose="020B0503020000020004" pitchFamily="50" charset="-127"/>
              </a:defRPr>
            </a:lvl2pPr>
            <a:lvl3pPr marL="12001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맑은 고딕" panose="020B0503020000020004" pitchFamily="50" charset="-127"/>
              <a:buChar char="–"/>
              <a:defRPr kumimoji="1">
                <a:solidFill>
                  <a:schemeClr val="tx1"/>
                </a:solidFill>
                <a:latin typeface="맑은고딕"/>
                <a:ea typeface="맑은 고딕" panose="020B0503020000020004" pitchFamily="50" charset="-127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kumimoji="1">
                <a:solidFill>
                  <a:schemeClr val="tx1"/>
                </a:solidFill>
                <a:latin typeface="맑은고딕"/>
                <a:ea typeface="맑은 고딕" panose="020B0503020000020004" pitchFamily="50" charset="-127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kumimoji="1">
                <a:solidFill>
                  <a:schemeClr val="tx1"/>
                </a:solidFill>
                <a:latin typeface="맑은고딕"/>
                <a:ea typeface="맑은 고딕" panose="020B0503020000020004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itchFamily="18" charset="2"/>
              <a:buChar char="-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itchFamily="18" charset="2"/>
              <a:buChar char="-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itchFamily="18" charset="2"/>
              <a:buChar char="-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itchFamily="18" charset="2"/>
              <a:buChar char="-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latinLnBrk="0">
              <a:buNone/>
            </a:pPr>
            <a:r>
              <a:rPr lang="en-US" altLang="ko-KR" sz="1400" b="1" kern="0" dirty="0" smtClean="0"/>
              <a:t>5. </a:t>
            </a:r>
            <a:r>
              <a:rPr lang="ko-KR" altLang="en-US" sz="1400" b="1" kern="0" dirty="0" smtClean="0"/>
              <a:t>외부 인터페이스 요구 사항</a:t>
            </a:r>
          </a:p>
          <a:p>
            <a:pPr marL="0" indent="0" latinLnBrk="0">
              <a:buNone/>
            </a:pPr>
            <a:r>
              <a:rPr lang="en-US" altLang="ko-KR" sz="1400" b="1" kern="0" dirty="0" smtClean="0"/>
              <a:t>5.1 </a:t>
            </a:r>
            <a:r>
              <a:rPr lang="ko-KR" altLang="en-US" sz="1400" b="1" kern="0" dirty="0" smtClean="0"/>
              <a:t>사용자 인터페이스</a:t>
            </a:r>
          </a:p>
          <a:p>
            <a:pPr marL="0" indent="0" latinLnBrk="0">
              <a:buNone/>
            </a:pPr>
            <a:r>
              <a:rPr lang="en-US" altLang="ko-KR" sz="1400" b="1" kern="0" dirty="0" smtClean="0"/>
              <a:t>5.2 </a:t>
            </a:r>
            <a:r>
              <a:rPr lang="ko-KR" altLang="en-US" sz="1400" b="1" kern="0" dirty="0" smtClean="0"/>
              <a:t>소프트웨어 인터페이스</a:t>
            </a:r>
          </a:p>
          <a:p>
            <a:pPr marL="0" indent="0" latinLnBrk="0">
              <a:buNone/>
            </a:pPr>
            <a:r>
              <a:rPr lang="en-US" altLang="ko-KR" sz="1400" b="1" kern="0" dirty="0" smtClean="0"/>
              <a:t>5.3 </a:t>
            </a:r>
            <a:r>
              <a:rPr lang="ko-KR" altLang="en-US" sz="1400" b="1" kern="0" dirty="0" smtClean="0"/>
              <a:t>하드웨어 인터페이스</a:t>
            </a:r>
          </a:p>
          <a:p>
            <a:pPr marL="0" indent="0" latinLnBrk="0">
              <a:buNone/>
            </a:pPr>
            <a:r>
              <a:rPr lang="en-US" altLang="ko-KR" sz="1400" b="1" kern="0" dirty="0" smtClean="0"/>
              <a:t>5.4 </a:t>
            </a:r>
            <a:r>
              <a:rPr lang="ko-KR" altLang="en-US" sz="1400" b="1" kern="0" dirty="0" smtClean="0"/>
              <a:t>통신 인터페이스</a:t>
            </a:r>
          </a:p>
          <a:p>
            <a:pPr marL="0" indent="0" latinLnBrk="0">
              <a:buNone/>
            </a:pPr>
            <a:r>
              <a:rPr lang="en-US" altLang="ko-KR" sz="1400" b="1" kern="0" dirty="0" smtClean="0"/>
              <a:t>6. </a:t>
            </a:r>
            <a:r>
              <a:rPr lang="ko-KR" altLang="en-US" sz="1400" b="1" kern="0" dirty="0" smtClean="0"/>
              <a:t>품질 속성</a:t>
            </a:r>
          </a:p>
          <a:p>
            <a:pPr marL="0" indent="0" latinLnBrk="0">
              <a:buNone/>
            </a:pPr>
            <a:r>
              <a:rPr lang="en-US" altLang="ko-KR" sz="1400" b="1" kern="0" dirty="0" smtClean="0"/>
              <a:t>6.1 </a:t>
            </a:r>
            <a:r>
              <a:rPr lang="ko-KR" altLang="en-US" sz="1400" b="1" kern="0" dirty="0" err="1" smtClean="0"/>
              <a:t>사용성</a:t>
            </a:r>
            <a:endParaRPr lang="ko-KR" altLang="en-US" sz="1400" b="1" kern="0" dirty="0" smtClean="0"/>
          </a:p>
          <a:p>
            <a:pPr marL="0" indent="0" latinLnBrk="0">
              <a:buNone/>
            </a:pPr>
            <a:r>
              <a:rPr lang="en-US" altLang="ko-KR" sz="1400" b="1" kern="0" dirty="0" smtClean="0"/>
              <a:t>6.2 </a:t>
            </a:r>
            <a:r>
              <a:rPr lang="ko-KR" altLang="en-US" sz="1400" b="1" kern="0" dirty="0" smtClean="0"/>
              <a:t>성능</a:t>
            </a:r>
          </a:p>
          <a:p>
            <a:pPr marL="0" indent="0" latinLnBrk="0">
              <a:buNone/>
            </a:pPr>
            <a:r>
              <a:rPr lang="en-US" altLang="ko-KR" sz="1400" b="1" kern="0" dirty="0" smtClean="0"/>
              <a:t>6.3 </a:t>
            </a:r>
            <a:r>
              <a:rPr lang="ko-KR" altLang="en-US" sz="1400" b="1" kern="0" dirty="0" smtClean="0"/>
              <a:t>보안</a:t>
            </a:r>
          </a:p>
          <a:p>
            <a:pPr marL="0" indent="0" latinLnBrk="0">
              <a:buNone/>
            </a:pPr>
            <a:r>
              <a:rPr lang="en-US" altLang="ko-KR" sz="1400" b="1" kern="0" dirty="0" smtClean="0"/>
              <a:t>6.4 </a:t>
            </a:r>
            <a:r>
              <a:rPr lang="ko-KR" altLang="en-US" sz="1400" b="1" kern="0" dirty="0" smtClean="0"/>
              <a:t>안전</a:t>
            </a:r>
          </a:p>
          <a:p>
            <a:pPr marL="0" indent="0" latinLnBrk="0">
              <a:buNone/>
            </a:pPr>
            <a:r>
              <a:rPr lang="en-US" altLang="ko-KR" sz="1400" b="1" kern="0" dirty="0" smtClean="0"/>
              <a:t>6.X </a:t>
            </a:r>
            <a:r>
              <a:rPr lang="ko-KR" altLang="en-US" sz="1400" b="1" kern="0" dirty="0" smtClean="0"/>
              <a:t>기타 </a:t>
            </a:r>
          </a:p>
          <a:p>
            <a:pPr marL="0" indent="0" latinLnBrk="0">
              <a:buNone/>
            </a:pPr>
            <a:r>
              <a:rPr lang="en-US" altLang="ko-KR" sz="1400" b="1" kern="0" dirty="0" smtClean="0"/>
              <a:t>7. </a:t>
            </a:r>
            <a:r>
              <a:rPr lang="ko-KR" altLang="en-US" sz="1400" b="1" kern="0" dirty="0" smtClean="0"/>
              <a:t>국제화 및 현지화 요구</a:t>
            </a:r>
          </a:p>
          <a:p>
            <a:pPr marL="0" indent="0" latinLnBrk="0">
              <a:buNone/>
            </a:pPr>
            <a:r>
              <a:rPr lang="en-US" altLang="ko-KR" sz="1400" b="1" kern="0" dirty="0" smtClean="0"/>
              <a:t>8. </a:t>
            </a:r>
            <a:r>
              <a:rPr lang="ko-KR" altLang="en-US" sz="1400" b="1" kern="0" dirty="0" smtClean="0"/>
              <a:t>기타 요구 사항</a:t>
            </a:r>
          </a:p>
          <a:p>
            <a:pPr marL="0" indent="0" latinLnBrk="0">
              <a:buNone/>
            </a:pPr>
            <a:r>
              <a:rPr lang="ko-KR" altLang="en-US" sz="1400" b="1" kern="0" dirty="0" smtClean="0"/>
              <a:t>부록 </a:t>
            </a:r>
            <a:r>
              <a:rPr lang="en-US" altLang="ko-KR" sz="1400" b="1" kern="0" dirty="0" smtClean="0"/>
              <a:t>A: </a:t>
            </a:r>
            <a:r>
              <a:rPr lang="ko-KR" altLang="en-US" sz="1400" b="1" kern="0" dirty="0" smtClean="0"/>
              <a:t>용어 사전</a:t>
            </a:r>
          </a:p>
          <a:p>
            <a:pPr marL="0" indent="0" latinLnBrk="0">
              <a:buNone/>
            </a:pPr>
            <a:r>
              <a:rPr lang="ko-KR" altLang="en-US" sz="1400" b="1" kern="0" dirty="0" smtClean="0"/>
              <a:t>부록 </a:t>
            </a:r>
            <a:r>
              <a:rPr lang="en-US" altLang="ko-KR" sz="1400" b="1" kern="0" dirty="0" smtClean="0"/>
              <a:t>B: </a:t>
            </a:r>
            <a:r>
              <a:rPr lang="ko-KR" altLang="en-US" sz="1400" b="1" kern="0" dirty="0" smtClean="0"/>
              <a:t>분석 모델</a:t>
            </a:r>
            <a:endParaRPr lang="ko-KR" altLang="en-US" sz="1400" b="1" kern="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9C6ECE-4C2C-4896-A5B2-25FB7ECCDC1D}"/>
              </a:ext>
            </a:extLst>
          </p:cNvPr>
          <p:cNvSpPr/>
          <p:nvPr/>
        </p:nvSpPr>
        <p:spPr>
          <a:xfrm>
            <a:off x="974916" y="484822"/>
            <a:ext cx="514115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200" b="1" dirty="0">
                <a:latin typeface="HY그래픽" panose="02030600000101010101" pitchFamily="18" charset="-127"/>
                <a:ea typeface="HY그래픽" panose="02030600000101010101" pitchFamily="18" charset="-127"/>
              </a:rPr>
              <a:t>요구사항 </a:t>
            </a:r>
            <a:r>
              <a:rPr lang="ko-KR" altLang="en-US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  <a:t>명세서 작성 </a:t>
            </a:r>
            <a:r>
              <a:rPr lang="en-US" altLang="ko-KR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  <a:t>(</a:t>
            </a:r>
            <a:r>
              <a:rPr lang="ko-KR" altLang="en-US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  <a:t>예시</a:t>
            </a:r>
            <a:r>
              <a:rPr lang="en-US" altLang="ko-KR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  <a:t>)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229500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 txBox="1">
            <a:spLocks/>
          </p:cNvSpPr>
          <p:nvPr/>
        </p:nvSpPr>
        <p:spPr>
          <a:xfrm>
            <a:off x="1475656" y="980728"/>
            <a:ext cx="6757833" cy="4608512"/>
          </a:xfrm>
          <a:prstGeom prst="rect">
            <a:avLst/>
          </a:prstGeom>
        </p:spPr>
        <p:txBody>
          <a:bodyPr/>
          <a:lstStyle>
            <a:lvl1pPr marL="228600" indent="-182880" algn="l" defTabSz="914400" rtl="0" eaLnBrk="1" latinLnBrk="1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1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960" indent="-182880" algn="l" defTabSz="914400" rtl="0" eaLnBrk="1" latinLnBrk="1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182880" algn="l" defTabSz="914400" rtl="0" eaLnBrk="1" latinLnBrk="1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89888" indent="-182880" algn="l" defTabSz="914400" rtl="0" eaLnBrk="1" latinLnBrk="1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64208" indent="-182880" algn="l" defTabSz="914400" rtl="0" eaLnBrk="1" latinLnBrk="1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65960" indent="-182880" algn="l" defTabSz="914400" rtl="0" eaLnBrk="1" latinLnBrk="1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86000" indent="-182880" algn="l" defTabSz="914400" rtl="0" eaLnBrk="1" latinLnBrk="1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87752" indent="-182880" algn="l" defTabSz="914400" rtl="0" eaLnBrk="1" latinLnBrk="1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Georgia" pitchFamily="18" charset="0"/>
              <a:buNone/>
            </a:pPr>
            <a:endParaRPr lang="en-US" altLang="ko-KR" sz="1800" dirty="0" smtClean="0"/>
          </a:p>
          <a:p>
            <a:pPr marL="457200" indent="-457200">
              <a:buFont typeface="Georgia" pitchFamily="18" charset="0"/>
              <a:buAutoNum type="arabicPeriod"/>
            </a:pPr>
            <a:r>
              <a:rPr lang="ko-KR" altLang="en-US" sz="1800" dirty="0" err="1" smtClean="0"/>
              <a:t>문제설명서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업무 기술서</a:t>
            </a:r>
            <a:r>
              <a:rPr lang="en-US" altLang="ko-KR" sz="1800" dirty="0" smtClean="0"/>
              <a:t>)</a:t>
            </a:r>
          </a:p>
          <a:p>
            <a:pPr marL="457200" indent="-457200">
              <a:buFont typeface="Georgia" pitchFamily="18" charset="0"/>
              <a:buAutoNum type="arabicPeriod"/>
            </a:pPr>
            <a:r>
              <a:rPr lang="ko-KR" altLang="en-US" sz="1800" dirty="0" err="1" smtClean="0"/>
              <a:t>유스케이스</a:t>
            </a:r>
            <a:r>
              <a:rPr lang="ko-KR" altLang="en-US" sz="1800" dirty="0" smtClean="0"/>
              <a:t> 다이어그램</a:t>
            </a:r>
            <a:endParaRPr lang="en-US" altLang="ko-KR" sz="1800" dirty="0" smtClean="0"/>
          </a:p>
          <a:p>
            <a:pPr marL="457200" indent="-457200">
              <a:buFont typeface="Georgia" pitchFamily="18" charset="0"/>
              <a:buAutoNum type="arabicPeriod"/>
            </a:pPr>
            <a:r>
              <a:rPr lang="ko-KR" altLang="en-US" sz="1800" dirty="0" err="1" smtClean="0"/>
              <a:t>유스케이스</a:t>
            </a:r>
            <a:r>
              <a:rPr lang="ko-KR" altLang="en-US" sz="1800" dirty="0" smtClean="0"/>
              <a:t> 시나리오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설명서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명세서</a:t>
            </a:r>
            <a:r>
              <a:rPr lang="en-US" altLang="ko-KR" sz="1800" dirty="0" smtClean="0"/>
              <a:t>)</a:t>
            </a:r>
          </a:p>
          <a:p>
            <a:pPr marL="457200" indent="-457200">
              <a:buFont typeface="Wingdings" panose="05000000000000000000" pitchFamily="2" charset="2"/>
              <a:buAutoNum type="arabicPeriod"/>
            </a:pPr>
            <a:r>
              <a:rPr lang="ko-KR" altLang="ko-KR" sz="1800" dirty="0" err="1" smtClean="0"/>
              <a:t>유스케이스</a:t>
            </a:r>
            <a:r>
              <a:rPr lang="ko-KR" altLang="ko-KR" sz="1800" dirty="0" smtClean="0"/>
              <a:t> </a:t>
            </a:r>
            <a:r>
              <a:rPr lang="ko-KR" altLang="ko-KR" sz="1800" dirty="0" err="1" smtClean="0"/>
              <a:t>식별자</a:t>
            </a:r>
            <a:r>
              <a:rPr lang="ko-KR" altLang="ko-KR" sz="1800" dirty="0" smtClean="0"/>
              <a:t> 목록</a:t>
            </a:r>
            <a:endParaRPr lang="en-US" altLang="ko-KR" sz="1800" dirty="0" smtClean="0"/>
          </a:p>
          <a:p>
            <a:pPr marL="457200" indent="-457200">
              <a:buFont typeface="Wingdings" panose="05000000000000000000" pitchFamily="2" charset="2"/>
              <a:buAutoNum type="arabicPeriod"/>
            </a:pPr>
            <a:r>
              <a:rPr lang="ko-KR" altLang="en-US" sz="1800" dirty="0" smtClean="0"/>
              <a:t>클래스다이어그램</a:t>
            </a:r>
            <a:endParaRPr lang="en-US" altLang="ko-KR" sz="1800" dirty="0" smtClean="0"/>
          </a:p>
          <a:p>
            <a:pPr marL="457200" indent="-457200">
              <a:buFont typeface="Wingdings" panose="05000000000000000000" pitchFamily="2" charset="2"/>
              <a:buAutoNum type="arabicPeriod"/>
            </a:pPr>
            <a:r>
              <a:rPr lang="ko-KR" altLang="ko-KR" sz="1800" dirty="0" smtClean="0"/>
              <a:t>관계형 데이터베이스</a:t>
            </a:r>
            <a:endParaRPr lang="en-US" altLang="ko-KR" sz="1800" dirty="0" smtClean="0"/>
          </a:p>
          <a:p>
            <a:pPr marL="457200" indent="-457200">
              <a:buFont typeface="Wingdings" panose="05000000000000000000" pitchFamily="2" charset="2"/>
              <a:buAutoNum type="arabicPeriod"/>
            </a:pPr>
            <a:r>
              <a:rPr lang="ko-KR" altLang="ko-KR" sz="1800" dirty="0" smtClean="0"/>
              <a:t>시퀀스 다이어그램</a:t>
            </a:r>
            <a:r>
              <a:rPr lang="en-US" altLang="ko-KR" sz="1800" dirty="0" smtClean="0"/>
              <a:t>(Sequence Diagram)</a:t>
            </a:r>
          </a:p>
          <a:p>
            <a:pPr marL="457200" indent="-457200">
              <a:buFont typeface="Wingdings" panose="05000000000000000000" pitchFamily="2" charset="2"/>
              <a:buAutoNum type="arabicPeriod"/>
            </a:pPr>
            <a:r>
              <a:rPr lang="ko-KR" altLang="ko-KR" sz="1800" dirty="0" smtClean="0"/>
              <a:t>속성 정의</a:t>
            </a:r>
            <a:endParaRPr lang="en-US" altLang="ko-KR" sz="1800" dirty="0" smtClean="0"/>
          </a:p>
          <a:p>
            <a:pPr marL="457200" indent="-457200">
              <a:buFont typeface="Wingdings" panose="05000000000000000000" pitchFamily="2" charset="2"/>
              <a:buAutoNum type="arabicPeriod"/>
            </a:pPr>
            <a:r>
              <a:rPr lang="ko-KR" altLang="ko-KR" sz="1800" dirty="0" smtClean="0"/>
              <a:t>오퍼레이션 정의</a:t>
            </a:r>
            <a:endParaRPr lang="en-US" altLang="ko-KR" sz="1800" dirty="0" smtClean="0"/>
          </a:p>
          <a:p>
            <a:pPr marL="457200" indent="-457200">
              <a:buFont typeface="Wingdings" panose="05000000000000000000" pitchFamily="2" charset="2"/>
              <a:buAutoNum type="arabicPeriod"/>
            </a:pPr>
            <a:r>
              <a:rPr lang="ko-KR" altLang="ko-KR" sz="1800" dirty="0" smtClean="0"/>
              <a:t>관계 정보</a:t>
            </a:r>
            <a:endParaRPr lang="en-US" altLang="ko-KR" sz="1800" dirty="0" smtClean="0"/>
          </a:p>
          <a:p>
            <a:pPr marL="457200" indent="-457200">
              <a:buFont typeface="Wingdings" panose="05000000000000000000" pitchFamily="2" charset="2"/>
              <a:buAutoNum type="arabicPeriod"/>
            </a:pPr>
            <a:r>
              <a:rPr lang="ko-KR" altLang="en-US" sz="1800" dirty="0" smtClean="0"/>
              <a:t>기타 요구사항</a:t>
            </a:r>
            <a:r>
              <a:rPr lang="en-US" altLang="ko-KR" sz="1800" dirty="0" smtClean="0"/>
              <a:t>(HW, </a:t>
            </a:r>
            <a:r>
              <a:rPr lang="ko-KR" altLang="en-US" sz="1800" dirty="0" smtClean="0"/>
              <a:t>인터페이스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성능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품질 요구사항 등</a:t>
            </a:r>
            <a:r>
              <a:rPr lang="en-US" altLang="ko-KR" sz="1800" dirty="0" smtClean="0"/>
              <a:t>)</a:t>
            </a:r>
          </a:p>
          <a:p>
            <a:pPr marL="0" indent="0">
              <a:buFont typeface="Georgia" pitchFamily="18" charset="0"/>
              <a:buNone/>
            </a:pPr>
            <a:endParaRPr lang="ko-KR" altLang="en-US" sz="1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9C6ECE-4C2C-4896-A5B2-25FB7ECCDC1D}"/>
              </a:ext>
            </a:extLst>
          </p:cNvPr>
          <p:cNvSpPr/>
          <p:nvPr/>
        </p:nvSpPr>
        <p:spPr>
          <a:xfrm>
            <a:off x="974916" y="484822"/>
            <a:ext cx="514115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200" b="1" dirty="0">
                <a:latin typeface="HY그래픽" panose="02030600000101010101" pitchFamily="18" charset="-127"/>
                <a:ea typeface="HY그래픽" panose="02030600000101010101" pitchFamily="18" charset="-127"/>
              </a:rPr>
              <a:t>요구사항 </a:t>
            </a:r>
            <a:r>
              <a:rPr lang="ko-KR" altLang="en-US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  <a:t>명세서 작성 </a:t>
            </a:r>
            <a:r>
              <a:rPr lang="en-US" altLang="ko-KR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  <a:t>(</a:t>
            </a:r>
            <a:r>
              <a:rPr lang="ko-KR" altLang="en-US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  <a:t>예시</a:t>
            </a:r>
            <a:r>
              <a:rPr lang="en-US" altLang="ko-KR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  <a:t>)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328480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D3F6542-FF05-49B2-9EC5-34D059803FA6}"/>
              </a:ext>
            </a:extLst>
          </p:cNvPr>
          <p:cNvSpPr/>
          <p:nvPr/>
        </p:nvSpPr>
        <p:spPr>
          <a:xfrm>
            <a:off x="1187624" y="1700808"/>
            <a:ext cx="770154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b="1" dirty="0">
                <a:latin typeface="HY그래픽" panose="02030600000101010101" pitchFamily="18" charset="-127"/>
                <a:ea typeface="HY그래픽" panose="02030600000101010101" pitchFamily="18" charset="-127"/>
              </a:rPr>
              <a:t>제반 문서는 </a:t>
            </a:r>
            <a:r>
              <a:rPr lang="en-US" altLang="ko-KR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  <a:t/>
            </a:r>
            <a:br>
              <a:rPr lang="en-US" altLang="ko-KR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</a:br>
            <a:r>
              <a:rPr lang="ko-KR" altLang="en-US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  <a:t>여러분의 </a:t>
            </a:r>
            <a:r>
              <a:rPr lang="ko-KR" altLang="en-US" sz="3200" b="1" dirty="0">
                <a:latin typeface="HY그래픽" panose="02030600000101010101" pitchFamily="18" charset="-127"/>
                <a:ea typeface="HY그래픽" panose="02030600000101010101" pitchFamily="18" charset="-127"/>
              </a:rPr>
              <a:t>프로젝트에 맞도록 </a:t>
            </a:r>
            <a:r>
              <a:rPr lang="en-US" altLang="ko-KR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  <a:t/>
            </a:r>
            <a:br>
              <a:rPr lang="en-US" altLang="ko-KR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</a:br>
            <a:r>
              <a:rPr lang="ko-KR" altLang="en-US" sz="3200" b="1" dirty="0" smtClean="0">
                <a:latin typeface="HY그래픽" panose="02030600000101010101" pitchFamily="18" charset="-127"/>
                <a:ea typeface="HY그래픽" panose="02030600000101010101" pitchFamily="18" charset="-127"/>
              </a:rPr>
              <a:t>수정하여  사용 </a:t>
            </a:r>
            <a:r>
              <a:rPr lang="ko-KR" altLang="en-US" sz="3200" b="1" dirty="0">
                <a:latin typeface="HY그래픽" panose="02030600000101010101" pitchFamily="18" charset="-127"/>
                <a:ea typeface="HY그래픽" panose="02030600000101010101" pitchFamily="18" charset="-127"/>
              </a:rPr>
              <a:t>바랍니다</a:t>
            </a:r>
            <a:r>
              <a:rPr lang="en-US" altLang="ko-KR" sz="3200" b="1" dirty="0">
                <a:latin typeface="HY그래픽" panose="02030600000101010101" pitchFamily="18" charset="-127"/>
                <a:ea typeface="HY그래픽" panose="02030600000101010101" pitchFamily="18" charset="-127"/>
              </a:rPr>
              <a:t>.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643918290"/>
      </p:ext>
    </p:extLst>
  </p:cSld>
  <p:clrMapOvr>
    <a:masterClrMapping/>
  </p:clrMapOvr>
</p:sld>
</file>

<file path=ppt/theme/theme1.xml><?xml version="1.0" encoding="utf-8"?>
<a:theme xmlns:a="http://schemas.openxmlformats.org/drawingml/2006/main" name="기류">
  <a:themeElements>
    <a:clrScheme name="기류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기류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기류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6611</TotalTime>
  <Words>401</Words>
  <Application>Microsoft Office PowerPoint</Application>
  <PresentationFormat>화면 슬라이드 쇼(4:3)</PresentationFormat>
  <Paragraphs>82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7" baseType="lpstr">
      <vt:lpstr>HY그래픽</vt:lpstr>
      <vt:lpstr>HY그래픽B</vt:lpstr>
      <vt:lpstr>HY그래픽M</vt:lpstr>
      <vt:lpstr>굴림</vt:lpstr>
      <vt:lpstr>맑은 고딕</vt:lpstr>
      <vt:lpstr>맑은고딕</vt:lpstr>
      <vt:lpstr>새굴림</vt:lpstr>
      <vt:lpstr>Arial</vt:lpstr>
      <vt:lpstr>Georgia</vt:lpstr>
      <vt:lpstr>Trebuchet MS</vt:lpstr>
      <vt:lpstr>Wingdings</vt:lpstr>
      <vt:lpstr>기류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kimyw</dc:creator>
  <cp:lastModifiedBy>Windows 사용자</cp:lastModifiedBy>
  <cp:revision>293</cp:revision>
  <cp:lastPrinted>2019-03-28T03:00:14Z</cp:lastPrinted>
  <dcterms:created xsi:type="dcterms:W3CDTF">2013-09-23T04:36:58Z</dcterms:created>
  <dcterms:modified xsi:type="dcterms:W3CDTF">2021-09-24T03:41:18Z</dcterms:modified>
</cp:coreProperties>
</file>