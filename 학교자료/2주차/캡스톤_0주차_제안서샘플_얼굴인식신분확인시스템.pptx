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62" r:id="rId1"/>
    <p:sldMasterId id="2147484987" r:id="rId2"/>
  </p:sldMasterIdLst>
  <p:notesMasterIdLst>
    <p:notesMasterId r:id="rId38"/>
  </p:notesMasterIdLst>
  <p:sldIdLst>
    <p:sldId id="319" r:id="rId3"/>
    <p:sldId id="318" r:id="rId4"/>
    <p:sldId id="320" r:id="rId5"/>
    <p:sldId id="351" r:id="rId6"/>
    <p:sldId id="337" r:id="rId7"/>
    <p:sldId id="354" r:id="rId8"/>
    <p:sldId id="340" r:id="rId9"/>
    <p:sldId id="362" r:id="rId10"/>
    <p:sldId id="378" r:id="rId11"/>
    <p:sldId id="379" r:id="rId12"/>
    <p:sldId id="380" r:id="rId13"/>
    <p:sldId id="341" r:id="rId14"/>
    <p:sldId id="355" r:id="rId15"/>
    <p:sldId id="356" r:id="rId16"/>
    <p:sldId id="377" r:id="rId17"/>
    <p:sldId id="361" r:id="rId18"/>
    <p:sldId id="342" r:id="rId19"/>
    <p:sldId id="363" r:id="rId20"/>
    <p:sldId id="343" r:id="rId21"/>
    <p:sldId id="366" r:id="rId22"/>
    <p:sldId id="349" r:id="rId23"/>
    <p:sldId id="353" r:id="rId24"/>
    <p:sldId id="364" r:id="rId25"/>
    <p:sldId id="358" r:id="rId26"/>
    <p:sldId id="381" r:id="rId27"/>
    <p:sldId id="393" r:id="rId28"/>
    <p:sldId id="394" r:id="rId29"/>
    <p:sldId id="395" r:id="rId30"/>
    <p:sldId id="396" r:id="rId31"/>
    <p:sldId id="397" r:id="rId32"/>
    <p:sldId id="398" r:id="rId33"/>
    <p:sldId id="399" r:id="rId34"/>
    <p:sldId id="350" r:id="rId35"/>
    <p:sldId id="359" r:id="rId36"/>
    <p:sldId id="321" r:id="rId37"/>
  </p:sldIdLst>
  <p:sldSz cx="9144000" cy="6858000" type="screen4x3"/>
  <p:notesSz cx="6858000" cy="9144000"/>
  <p:embeddedFontLst>
    <p:embeddedFont>
      <p:font typeface="제주고딕" panose="020B0600000101010101" charset="-127"/>
      <p:regular r:id="rId39"/>
    </p:embeddedFont>
    <p:embeddedFont>
      <p:font typeface="Lucida Sans Unicode" panose="020B0602030504020204" pitchFamily="34" charset="0"/>
      <p:regular r:id="rId40"/>
    </p:embeddedFont>
    <p:embeddedFont>
      <p:font typeface="나눔바른고딕" panose="020B0603020101020101" pitchFamily="50" charset="-127"/>
      <p:regular r:id="rId41"/>
      <p:bold r:id="rId42"/>
    </p:embeddedFont>
    <p:embeddedFont>
      <p:font typeface="맑은 고딕" panose="020B0503020000020004" pitchFamily="50" charset="-127"/>
      <p:regular r:id="rId43"/>
      <p:bold r:id="rId44"/>
    </p:embeddedFont>
    <p:embeddedFont>
      <p:font typeface="Arial Black" panose="020B0A04020102020204" pitchFamily="34" charset="0"/>
      <p:bold r:id="rId4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8000"/>
    <a:srgbClr val="E7ECF2"/>
    <a:srgbClr val="43367C"/>
    <a:srgbClr val="F49071"/>
    <a:srgbClr val="F76D9E"/>
    <a:srgbClr val="77429C"/>
    <a:srgbClr val="53357D"/>
    <a:srgbClr val="A4C627"/>
    <a:srgbClr val="1C1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04" autoAdjust="0"/>
    <p:restoredTop sz="94660"/>
  </p:normalViewPr>
  <p:slideViewPr>
    <p:cSldViewPr>
      <p:cViewPr varScale="1">
        <p:scale>
          <a:sx n="92" d="100"/>
          <a:sy n="92" d="100"/>
        </p:scale>
        <p:origin x="9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4" d="100"/>
        <a:sy n="14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E4BC1-531C-4857-9368-835D58199D5E}" type="datetimeFigureOut">
              <a:rPr lang="ko-KR" altLang="en-US" smtClean="0"/>
              <a:t>2020-03-21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B1DB5-FBF7-4C73-8604-D948C6107B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00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3E4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5"/>
          <p:cNvSpPr>
            <a:spLocks/>
          </p:cNvSpPr>
          <p:nvPr userDrawn="1"/>
        </p:nvSpPr>
        <p:spPr bwMode="auto">
          <a:xfrm>
            <a:off x="2732088" y="1589088"/>
            <a:ext cx="3679825" cy="3679825"/>
          </a:xfrm>
          <a:custGeom>
            <a:avLst/>
            <a:gdLst>
              <a:gd name="T0" fmla="*/ 2147483646 w 2789"/>
              <a:gd name="T1" fmla="*/ 2147483646 h 2790"/>
              <a:gd name="T2" fmla="*/ 2147483646 w 2789"/>
              <a:gd name="T3" fmla="*/ 2147483646 h 2790"/>
              <a:gd name="T4" fmla="*/ 2147483646 w 2789"/>
              <a:gd name="T5" fmla="*/ 2147483646 h 2790"/>
              <a:gd name="T6" fmla="*/ 2147483646 w 2789"/>
              <a:gd name="T7" fmla="*/ 2147483646 h 2790"/>
              <a:gd name="T8" fmla="*/ 0 w 2789"/>
              <a:gd name="T9" fmla="*/ 2147483646 h 2790"/>
              <a:gd name="T10" fmla="*/ 2147483646 w 2789"/>
              <a:gd name="T11" fmla="*/ 2147483646 h 2790"/>
              <a:gd name="T12" fmla="*/ 2147483646 w 2789"/>
              <a:gd name="T13" fmla="*/ 2147483646 h 2790"/>
              <a:gd name="T14" fmla="*/ 2147483646 w 2789"/>
              <a:gd name="T15" fmla="*/ 0 h 2790"/>
              <a:gd name="T16" fmla="*/ 2147483646 w 2789"/>
              <a:gd name="T17" fmla="*/ 2147483646 h 2790"/>
              <a:gd name="T18" fmla="*/ 2147483646 w 2789"/>
              <a:gd name="T19" fmla="*/ 2147483646 h 2790"/>
              <a:gd name="T20" fmla="*/ 2147483646 w 2789"/>
              <a:gd name="T21" fmla="*/ 2147483646 h 2790"/>
              <a:gd name="T22" fmla="*/ 2147483646 w 2789"/>
              <a:gd name="T23" fmla="*/ 2147483646 h 2790"/>
              <a:gd name="T24" fmla="*/ 2147483646 w 2789"/>
              <a:gd name="T25" fmla="*/ 2147483646 h 279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789" h="2790">
                <a:moveTo>
                  <a:pt x="2091" y="2603"/>
                </a:moveTo>
                <a:lnTo>
                  <a:pt x="1394" y="2790"/>
                </a:lnTo>
                <a:lnTo>
                  <a:pt x="697" y="2603"/>
                </a:lnTo>
                <a:lnTo>
                  <a:pt x="186" y="2093"/>
                </a:lnTo>
                <a:lnTo>
                  <a:pt x="0" y="1395"/>
                </a:lnTo>
                <a:lnTo>
                  <a:pt x="186" y="698"/>
                </a:lnTo>
                <a:lnTo>
                  <a:pt x="697" y="187"/>
                </a:lnTo>
                <a:lnTo>
                  <a:pt x="1394" y="0"/>
                </a:lnTo>
                <a:lnTo>
                  <a:pt x="2091" y="187"/>
                </a:lnTo>
                <a:lnTo>
                  <a:pt x="2602" y="698"/>
                </a:lnTo>
                <a:lnTo>
                  <a:pt x="2789" y="1395"/>
                </a:lnTo>
                <a:lnTo>
                  <a:pt x="2602" y="2093"/>
                </a:lnTo>
                <a:lnTo>
                  <a:pt x="2091" y="2603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25"/>
          <p:cNvSpPr>
            <a:spLocks/>
          </p:cNvSpPr>
          <p:nvPr userDrawn="1"/>
        </p:nvSpPr>
        <p:spPr bwMode="auto">
          <a:xfrm>
            <a:off x="2732088" y="1589088"/>
            <a:ext cx="3679825" cy="3679825"/>
          </a:xfrm>
          <a:custGeom>
            <a:avLst/>
            <a:gdLst>
              <a:gd name="T0" fmla="*/ 2147483646 w 2789"/>
              <a:gd name="T1" fmla="*/ 2147483646 h 2790"/>
              <a:gd name="T2" fmla="*/ 2147483646 w 2789"/>
              <a:gd name="T3" fmla="*/ 2147483646 h 2790"/>
              <a:gd name="T4" fmla="*/ 2147483646 w 2789"/>
              <a:gd name="T5" fmla="*/ 2147483646 h 2790"/>
              <a:gd name="T6" fmla="*/ 2147483646 w 2789"/>
              <a:gd name="T7" fmla="*/ 2147483646 h 2790"/>
              <a:gd name="T8" fmla="*/ 0 w 2789"/>
              <a:gd name="T9" fmla="*/ 2147483646 h 2790"/>
              <a:gd name="T10" fmla="*/ 2147483646 w 2789"/>
              <a:gd name="T11" fmla="*/ 2147483646 h 2790"/>
              <a:gd name="T12" fmla="*/ 2147483646 w 2789"/>
              <a:gd name="T13" fmla="*/ 2147483646 h 2790"/>
              <a:gd name="T14" fmla="*/ 2147483646 w 2789"/>
              <a:gd name="T15" fmla="*/ 0 h 2790"/>
              <a:gd name="T16" fmla="*/ 2147483646 w 2789"/>
              <a:gd name="T17" fmla="*/ 2147483646 h 2790"/>
              <a:gd name="T18" fmla="*/ 2147483646 w 2789"/>
              <a:gd name="T19" fmla="*/ 2147483646 h 2790"/>
              <a:gd name="T20" fmla="*/ 2147483646 w 2789"/>
              <a:gd name="T21" fmla="*/ 2147483646 h 2790"/>
              <a:gd name="T22" fmla="*/ 2147483646 w 2789"/>
              <a:gd name="T23" fmla="*/ 2147483646 h 2790"/>
              <a:gd name="T24" fmla="*/ 2147483646 w 2789"/>
              <a:gd name="T25" fmla="*/ 2147483646 h 279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789" h="2790">
                <a:moveTo>
                  <a:pt x="2091" y="2603"/>
                </a:moveTo>
                <a:lnTo>
                  <a:pt x="1394" y="2790"/>
                </a:lnTo>
                <a:lnTo>
                  <a:pt x="697" y="2603"/>
                </a:lnTo>
                <a:lnTo>
                  <a:pt x="186" y="2093"/>
                </a:lnTo>
                <a:lnTo>
                  <a:pt x="0" y="1395"/>
                </a:lnTo>
                <a:lnTo>
                  <a:pt x="186" y="698"/>
                </a:lnTo>
                <a:lnTo>
                  <a:pt x="697" y="187"/>
                </a:lnTo>
                <a:lnTo>
                  <a:pt x="1394" y="0"/>
                </a:lnTo>
                <a:lnTo>
                  <a:pt x="2091" y="187"/>
                </a:lnTo>
                <a:lnTo>
                  <a:pt x="2602" y="698"/>
                </a:lnTo>
                <a:lnTo>
                  <a:pt x="2789" y="1395"/>
                </a:lnTo>
                <a:lnTo>
                  <a:pt x="2602" y="2093"/>
                </a:lnTo>
                <a:lnTo>
                  <a:pt x="2091" y="2603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5"/>
          <p:cNvSpPr>
            <a:spLocks/>
          </p:cNvSpPr>
          <p:nvPr userDrawn="1"/>
        </p:nvSpPr>
        <p:spPr bwMode="auto">
          <a:xfrm>
            <a:off x="3227388" y="2085975"/>
            <a:ext cx="2689225" cy="2686050"/>
          </a:xfrm>
          <a:custGeom>
            <a:avLst/>
            <a:gdLst>
              <a:gd name="T0" fmla="*/ 2147483646 w 2038"/>
              <a:gd name="T1" fmla="*/ 2147483646 h 2036"/>
              <a:gd name="T2" fmla="*/ 2147483646 w 2038"/>
              <a:gd name="T3" fmla="*/ 2147483646 h 2036"/>
              <a:gd name="T4" fmla="*/ 0 w 2038"/>
              <a:gd name="T5" fmla="*/ 2147483646 h 2036"/>
              <a:gd name="T6" fmla="*/ 2147483646 w 2038"/>
              <a:gd name="T7" fmla="*/ 0 h 2036"/>
              <a:gd name="T8" fmla="*/ 2147483646 w 2038"/>
              <a:gd name="T9" fmla="*/ 2147483646 h 20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38" h="2036">
                <a:moveTo>
                  <a:pt x="2038" y="1018"/>
                </a:moveTo>
                <a:lnTo>
                  <a:pt x="1019" y="2036"/>
                </a:lnTo>
                <a:lnTo>
                  <a:pt x="0" y="1018"/>
                </a:lnTo>
                <a:lnTo>
                  <a:pt x="1019" y="0"/>
                </a:lnTo>
                <a:lnTo>
                  <a:pt x="2038" y="1018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6"/>
          <p:cNvSpPr>
            <a:spLocks/>
          </p:cNvSpPr>
          <p:nvPr userDrawn="1"/>
        </p:nvSpPr>
        <p:spPr bwMode="auto">
          <a:xfrm>
            <a:off x="3408363" y="2265363"/>
            <a:ext cx="2327275" cy="2327275"/>
          </a:xfrm>
          <a:custGeom>
            <a:avLst/>
            <a:gdLst>
              <a:gd name="T0" fmla="*/ 2147483646 w 1764"/>
              <a:gd name="T1" fmla="*/ 2147483646 h 1764"/>
              <a:gd name="T2" fmla="*/ 2147483646 w 1764"/>
              <a:gd name="T3" fmla="*/ 2147483646 h 1764"/>
              <a:gd name="T4" fmla="*/ 0 w 1764"/>
              <a:gd name="T5" fmla="*/ 2147483646 h 1764"/>
              <a:gd name="T6" fmla="*/ 2147483646 w 1764"/>
              <a:gd name="T7" fmla="*/ 0 h 1764"/>
              <a:gd name="T8" fmla="*/ 2147483646 w 1764"/>
              <a:gd name="T9" fmla="*/ 2147483646 h 17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64" h="1764">
                <a:moveTo>
                  <a:pt x="1764" y="1391"/>
                </a:moveTo>
                <a:lnTo>
                  <a:pt x="373" y="1764"/>
                </a:lnTo>
                <a:lnTo>
                  <a:pt x="0" y="372"/>
                </a:lnTo>
                <a:lnTo>
                  <a:pt x="1392" y="0"/>
                </a:lnTo>
                <a:lnTo>
                  <a:pt x="1764" y="1391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7"/>
          <p:cNvSpPr>
            <a:spLocks/>
          </p:cNvSpPr>
          <p:nvPr userDrawn="1"/>
        </p:nvSpPr>
        <p:spPr bwMode="auto">
          <a:xfrm>
            <a:off x="3408363" y="2265363"/>
            <a:ext cx="2327275" cy="2327275"/>
          </a:xfrm>
          <a:custGeom>
            <a:avLst/>
            <a:gdLst>
              <a:gd name="T0" fmla="*/ 2147483646 w 1764"/>
              <a:gd name="T1" fmla="*/ 2147483646 h 1764"/>
              <a:gd name="T2" fmla="*/ 0 w 1764"/>
              <a:gd name="T3" fmla="*/ 2147483646 h 1764"/>
              <a:gd name="T4" fmla="*/ 2147483646 w 1764"/>
              <a:gd name="T5" fmla="*/ 0 h 1764"/>
              <a:gd name="T6" fmla="*/ 2147483646 w 1764"/>
              <a:gd name="T7" fmla="*/ 2147483646 h 1764"/>
              <a:gd name="T8" fmla="*/ 2147483646 w 1764"/>
              <a:gd name="T9" fmla="*/ 2147483646 h 17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64" h="1764">
                <a:moveTo>
                  <a:pt x="1392" y="1764"/>
                </a:moveTo>
                <a:lnTo>
                  <a:pt x="0" y="1391"/>
                </a:lnTo>
                <a:lnTo>
                  <a:pt x="373" y="0"/>
                </a:lnTo>
                <a:lnTo>
                  <a:pt x="1764" y="372"/>
                </a:lnTo>
                <a:lnTo>
                  <a:pt x="1392" y="1764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12"/>
          <p:cNvSpPr>
            <a:spLocks/>
          </p:cNvSpPr>
          <p:nvPr userDrawn="1"/>
        </p:nvSpPr>
        <p:spPr bwMode="auto">
          <a:xfrm>
            <a:off x="2979738" y="1836738"/>
            <a:ext cx="3184525" cy="3184525"/>
          </a:xfrm>
          <a:custGeom>
            <a:avLst/>
            <a:gdLst>
              <a:gd name="T0" fmla="*/ 0 w 2414"/>
              <a:gd name="T1" fmla="*/ 2147483646 h 2414"/>
              <a:gd name="T2" fmla="*/ 2147483646 w 2414"/>
              <a:gd name="T3" fmla="*/ 2147483646 h 2414"/>
              <a:gd name="T4" fmla="*/ 2147483646 w 2414"/>
              <a:gd name="T5" fmla="*/ 2147483646 h 2414"/>
              <a:gd name="T6" fmla="*/ 2147483646 w 2414"/>
              <a:gd name="T7" fmla="*/ 0 h 2414"/>
              <a:gd name="T8" fmla="*/ 0 w 2414"/>
              <a:gd name="T9" fmla="*/ 2147483646 h 24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14" h="2414">
                <a:moveTo>
                  <a:pt x="0" y="511"/>
                </a:moveTo>
                <a:lnTo>
                  <a:pt x="510" y="2414"/>
                </a:lnTo>
                <a:lnTo>
                  <a:pt x="2414" y="1903"/>
                </a:lnTo>
                <a:lnTo>
                  <a:pt x="1904" y="0"/>
                </a:lnTo>
                <a:lnTo>
                  <a:pt x="0" y="511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13"/>
          <p:cNvSpPr>
            <a:spLocks/>
          </p:cNvSpPr>
          <p:nvPr userDrawn="1"/>
        </p:nvSpPr>
        <p:spPr bwMode="auto">
          <a:xfrm>
            <a:off x="2733675" y="1590675"/>
            <a:ext cx="3676650" cy="3676650"/>
          </a:xfrm>
          <a:custGeom>
            <a:avLst/>
            <a:gdLst>
              <a:gd name="T0" fmla="*/ 2147483646 w 2787"/>
              <a:gd name="T1" fmla="*/ 0 h 2788"/>
              <a:gd name="T2" fmla="*/ 0 w 2787"/>
              <a:gd name="T3" fmla="*/ 2147483646 h 2788"/>
              <a:gd name="T4" fmla="*/ 2147483646 w 2787"/>
              <a:gd name="T5" fmla="*/ 2147483646 h 2788"/>
              <a:gd name="T6" fmla="*/ 2147483646 w 2787"/>
              <a:gd name="T7" fmla="*/ 2147483646 h 2788"/>
              <a:gd name="T8" fmla="*/ 2147483646 w 2787"/>
              <a:gd name="T9" fmla="*/ 0 h 27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87" h="2788">
                <a:moveTo>
                  <a:pt x="1393" y="0"/>
                </a:moveTo>
                <a:lnTo>
                  <a:pt x="0" y="1394"/>
                </a:lnTo>
                <a:lnTo>
                  <a:pt x="1393" y="2788"/>
                </a:lnTo>
                <a:lnTo>
                  <a:pt x="2787" y="1394"/>
                </a:lnTo>
                <a:lnTo>
                  <a:pt x="1393" y="0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20"/>
          <p:cNvSpPr>
            <a:spLocks/>
          </p:cNvSpPr>
          <p:nvPr userDrawn="1"/>
        </p:nvSpPr>
        <p:spPr bwMode="auto">
          <a:xfrm>
            <a:off x="3595688" y="2451100"/>
            <a:ext cx="1952625" cy="1955800"/>
          </a:xfrm>
          <a:custGeom>
            <a:avLst/>
            <a:gdLst>
              <a:gd name="T0" fmla="*/ 2147483646 w 1481"/>
              <a:gd name="T1" fmla="*/ 2147483646 h 1482"/>
              <a:gd name="T2" fmla="*/ 2147483646 w 1481"/>
              <a:gd name="T3" fmla="*/ 2147483646 h 1482"/>
              <a:gd name="T4" fmla="*/ 0 w 1481"/>
              <a:gd name="T5" fmla="*/ 2147483646 h 1482"/>
              <a:gd name="T6" fmla="*/ 2147483646 w 1481"/>
              <a:gd name="T7" fmla="*/ 0 h 1482"/>
              <a:gd name="T8" fmla="*/ 2147483646 w 1481"/>
              <a:gd name="T9" fmla="*/ 2147483646 h 14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81" h="1482">
                <a:moveTo>
                  <a:pt x="1481" y="741"/>
                </a:moveTo>
                <a:lnTo>
                  <a:pt x="740" y="1482"/>
                </a:lnTo>
                <a:lnTo>
                  <a:pt x="0" y="741"/>
                </a:lnTo>
                <a:lnTo>
                  <a:pt x="740" y="0"/>
                </a:lnTo>
                <a:lnTo>
                  <a:pt x="1481" y="741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22"/>
          <p:cNvSpPr>
            <a:spLocks/>
          </p:cNvSpPr>
          <p:nvPr userDrawn="1"/>
        </p:nvSpPr>
        <p:spPr bwMode="auto">
          <a:xfrm>
            <a:off x="2979738" y="1836738"/>
            <a:ext cx="3184525" cy="3184525"/>
          </a:xfrm>
          <a:custGeom>
            <a:avLst/>
            <a:gdLst>
              <a:gd name="T0" fmla="*/ 2147483646 w 2414"/>
              <a:gd name="T1" fmla="*/ 2147483646 h 2414"/>
              <a:gd name="T2" fmla="*/ 2147483646 w 2414"/>
              <a:gd name="T3" fmla="*/ 2147483646 h 2414"/>
              <a:gd name="T4" fmla="*/ 0 w 2414"/>
              <a:gd name="T5" fmla="*/ 2147483646 h 2414"/>
              <a:gd name="T6" fmla="*/ 2147483646 w 2414"/>
              <a:gd name="T7" fmla="*/ 0 h 2414"/>
              <a:gd name="T8" fmla="*/ 2147483646 w 2414"/>
              <a:gd name="T9" fmla="*/ 2147483646 h 24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14" h="2414">
                <a:moveTo>
                  <a:pt x="2414" y="511"/>
                </a:moveTo>
                <a:lnTo>
                  <a:pt x="1904" y="2414"/>
                </a:lnTo>
                <a:lnTo>
                  <a:pt x="0" y="1903"/>
                </a:lnTo>
                <a:lnTo>
                  <a:pt x="510" y="0"/>
                </a:lnTo>
                <a:lnTo>
                  <a:pt x="2414" y="511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21"/>
          <p:cNvSpPr>
            <a:spLocks/>
          </p:cNvSpPr>
          <p:nvPr userDrawn="1"/>
        </p:nvSpPr>
        <p:spPr bwMode="auto">
          <a:xfrm>
            <a:off x="3725863" y="2582863"/>
            <a:ext cx="1692275" cy="1692275"/>
          </a:xfrm>
          <a:custGeom>
            <a:avLst/>
            <a:gdLst>
              <a:gd name="T0" fmla="*/ 2147483646 w 1283"/>
              <a:gd name="T1" fmla="*/ 2147483646 h 1283"/>
              <a:gd name="T2" fmla="*/ 2147483646 w 1283"/>
              <a:gd name="T3" fmla="*/ 2147483646 h 1283"/>
              <a:gd name="T4" fmla="*/ 0 w 1283"/>
              <a:gd name="T5" fmla="*/ 2147483646 h 1283"/>
              <a:gd name="T6" fmla="*/ 2147483646 w 1283"/>
              <a:gd name="T7" fmla="*/ 0 h 1283"/>
              <a:gd name="T8" fmla="*/ 2147483646 w 1283"/>
              <a:gd name="T9" fmla="*/ 2147483646 h 12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83" h="1283">
                <a:moveTo>
                  <a:pt x="1283" y="1012"/>
                </a:moveTo>
                <a:lnTo>
                  <a:pt x="271" y="1283"/>
                </a:lnTo>
                <a:lnTo>
                  <a:pt x="0" y="272"/>
                </a:lnTo>
                <a:lnTo>
                  <a:pt x="1011" y="0"/>
                </a:lnTo>
                <a:lnTo>
                  <a:pt x="1283" y="1012"/>
                </a:lnTo>
                <a:close/>
              </a:path>
            </a:pathLst>
          </a:custGeom>
          <a:noFill/>
          <a:ln w="3175">
            <a:solidFill>
              <a:srgbClr val="FF69C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" name="Line 26"/>
          <p:cNvSpPr>
            <a:spLocks noChangeShapeType="1"/>
          </p:cNvSpPr>
          <p:nvPr userDrawn="1"/>
        </p:nvSpPr>
        <p:spPr bwMode="auto">
          <a:xfrm>
            <a:off x="4572000" y="1590675"/>
            <a:ext cx="0" cy="3678238"/>
          </a:xfrm>
          <a:prstGeom prst="line">
            <a:avLst/>
          </a:prstGeom>
          <a:noFill/>
          <a:ln w="3175">
            <a:solidFill>
              <a:srgbClr val="FF6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" name="Line 27"/>
          <p:cNvSpPr>
            <a:spLocks noChangeShapeType="1"/>
          </p:cNvSpPr>
          <p:nvPr userDrawn="1"/>
        </p:nvSpPr>
        <p:spPr bwMode="auto">
          <a:xfrm flipH="1">
            <a:off x="3651250" y="1835150"/>
            <a:ext cx="1841500" cy="3187700"/>
          </a:xfrm>
          <a:prstGeom prst="line">
            <a:avLst/>
          </a:prstGeom>
          <a:noFill/>
          <a:ln w="3175">
            <a:solidFill>
              <a:srgbClr val="FF6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Line 28"/>
          <p:cNvSpPr>
            <a:spLocks noChangeShapeType="1"/>
          </p:cNvSpPr>
          <p:nvPr userDrawn="1"/>
        </p:nvSpPr>
        <p:spPr bwMode="auto">
          <a:xfrm flipH="1">
            <a:off x="2978150" y="2508250"/>
            <a:ext cx="3187700" cy="1841500"/>
          </a:xfrm>
          <a:prstGeom prst="line">
            <a:avLst/>
          </a:prstGeom>
          <a:noFill/>
          <a:ln w="3175">
            <a:solidFill>
              <a:srgbClr val="FF6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" name="Line 29"/>
          <p:cNvSpPr>
            <a:spLocks noChangeShapeType="1"/>
          </p:cNvSpPr>
          <p:nvPr userDrawn="1"/>
        </p:nvSpPr>
        <p:spPr bwMode="auto">
          <a:xfrm flipH="1" flipV="1">
            <a:off x="2732088" y="3429000"/>
            <a:ext cx="3679825" cy="0"/>
          </a:xfrm>
          <a:prstGeom prst="line">
            <a:avLst/>
          </a:prstGeom>
          <a:noFill/>
          <a:ln w="3175">
            <a:solidFill>
              <a:srgbClr val="FF6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" name="Line 31"/>
          <p:cNvSpPr>
            <a:spLocks noChangeShapeType="1"/>
          </p:cNvSpPr>
          <p:nvPr userDrawn="1"/>
        </p:nvSpPr>
        <p:spPr bwMode="auto">
          <a:xfrm flipH="1" flipV="1">
            <a:off x="3651250" y="1835150"/>
            <a:ext cx="1841500" cy="3187700"/>
          </a:xfrm>
          <a:prstGeom prst="line">
            <a:avLst/>
          </a:prstGeom>
          <a:noFill/>
          <a:ln w="3175">
            <a:solidFill>
              <a:srgbClr val="FF6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" name="Line 30"/>
          <p:cNvSpPr>
            <a:spLocks noChangeShapeType="1"/>
          </p:cNvSpPr>
          <p:nvPr userDrawn="1"/>
        </p:nvSpPr>
        <p:spPr bwMode="auto">
          <a:xfrm flipH="1" flipV="1">
            <a:off x="2978150" y="2508250"/>
            <a:ext cx="3187700" cy="1841500"/>
          </a:xfrm>
          <a:prstGeom prst="line">
            <a:avLst/>
          </a:prstGeom>
          <a:noFill/>
          <a:ln w="3175">
            <a:solidFill>
              <a:srgbClr val="FF6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>
            <a:spLocks/>
          </p:cNvSpPr>
          <p:nvPr userDrawn="1"/>
        </p:nvSpPr>
        <p:spPr bwMode="auto">
          <a:xfrm>
            <a:off x="3225800" y="2941638"/>
            <a:ext cx="2692400" cy="974725"/>
          </a:xfrm>
          <a:custGeom>
            <a:avLst/>
            <a:gdLst>
              <a:gd name="T0" fmla="*/ 2147483646 w 2848"/>
              <a:gd name="T1" fmla="*/ 2147483646 h 1032"/>
              <a:gd name="T2" fmla="*/ 2147483646 w 2848"/>
              <a:gd name="T3" fmla="*/ 2147483646 h 1032"/>
              <a:gd name="T4" fmla="*/ 0 w 2848"/>
              <a:gd name="T5" fmla="*/ 2147483646 h 1032"/>
              <a:gd name="T6" fmla="*/ 2147483646 w 2848"/>
              <a:gd name="T7" fmla="*/ 0 h 1032"/>
              <a:gd name="T8" fmla="*/ 2147483646 w 2848"/>
              <a:gd name="T9" fmla="*/ 0 h 1032"/>
              <a:gd name="T10" fmla="*/ 2147483646 w 2848"/>
              <a:gd name="T11" fmla="*/ 2147483646 h 1032"/>
              <a:gd name="T12" fmla="*/ 2147483646 w 2848"/>
              <a:gd name="T13" fmla="*/ 2147483646 h 10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48" h="1032">
                <a:moveTo>
                  <a:pt x="2663" y="1032"/>
                </a:moveTo>
                <a:lnTo>
                  <a:pt x="182" y="1032"/>
                </a:lnTo>
                <a:lnTo>
                  <a:pt x="0" y="516"/>
                </a:lnTo>
                <a:lnTo>
                  <a:pt x="182" y="0"/>
                </a:lnTo>
                <a:lnTo>
                  <a:pt x="2663" y="0"/>
                </a:lnTo>
                <a:lnTo>
                  <a:pt x="2848" y="512"/>
                </a:lnTo>
                <a:lnTo>
                  <a:pt x="2663" y="1032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3369823" y="3065182"/>
            <a:ext cx="2423522" cy="720434"/>
            <a:chOff x="7031038" y="139700"/>
            <a:chExt cx="4298950" cy="1277938"/>
          </a:xfrm>
          <a:solidFill>
            <a:schemeClr val="bg1"/>
          </a:solidFill>
        </p:grpSpPr>
        <p:sp>
          <p:nvSpPr>
            <p:cNvPr id="20" name="Freeform 71"/>
            <p:cNvSpPr>
              <a:spLocks noEditPoints="1"/>
            </p:cNvSpPr>
            <p:nvPr/>
          </p:nvSpPr>
          <p:spPr bwMode="auto">
            <a:xfrm>
              <a:off x="7031038" y="139700"/>
              <a:ext cx="4298950" cy="917575"/>
            </a:xfrm>
            <a:custGeom>
              <a:avLst/>
              <a:gdLst>
                <a:gd name="T0" fmla="*/ 2860 w 5415"/>
                <a:gd name="T1" fmla="*/ 446 h 1156"/>
                <a:gd name="T2" fmla="*/ 2596 w 5415"/>
                <a:gd name="T3" fmla="*/ 505 h 1156"/>
                <a:gd name="T4" fmla="*/ 2250 w 5415"/>
                <a:gd name="T5" fmla="*/ 668 h 1156"/>
                <a:gd name="T6" fmla="*/ 2380 w 5415"/>
                <a:gd name="T7" fmla="*/ 776 h 1156"/>
                <a:gd name="T8" fmla="*/ 2679 w 5415"/>
                <a:gd name="T9" fmla="*/ 627 h 1156"/>
                <a:gd name="T10" fmla="*/ 1044 w 5415"/>
                <a:gd name="T11" fmla="*/ 238 h 1156"/>
                <a:gd name="T12" fmla="*/ 998 w 5415"/>
                <a:gd name="T13" fmla="*/ 289 h 1156"/>
                <a:gd name="T14" fmla="*/ 287 w 5415"/>
                <a:gd name="T15" fmla="*/ 293 h 1156"/>
                <a:gd name="T16" fmla="*/ 0 w 5415"/>
                <a:gd name="T17" fmla="*/ 747 h 1156"/>
                <a:gd name="T18" fmla="*/ 153 w 5415"/>
                <a:gd name="T19" fmla="*/ 934 h 1156"/>
                <a:gd name="T20" fmla="*/ 94 w 5415"/>
                <a:gd name="T21" fmla="*/ 798 h 1156"/>
                <a:gd name="T22" fmla="*/ 200 w 5415"/>
                <a:gd name="T23" fmla="*/ 415 h 1156"/>
                <a:gd name="T24" fmla="*/ 745 w 5415"/>
                <a:gd name="T25" fmla="*/ 267 h 1156"/>
                <a:gd name="T26" fmla="*/ 1006 w 5415"/>
                <a:gd name="T27" fmla="*/ 727 h 1156"/>
                <a:gd name="T28" fmla="*/ 692 w 5415"/>
                <a:gd name="T29" fmla="*/ 1069 h 1156"/>
                <a:gd name="T30" fmla="*/ 515 w 5415"/>
                <a:gd name="T31" fmla="*/ 784 h 1156"/>
                <a:gd name="T32" fmla="*/ 468 w 5415"/>
                <a:gd name="T33" fmla="*/ 389 h 1156"/>
                <a:gd name="T34" fmla="*/ 269 w 5415"/>
                <a:gd name="T35" fmla="*/ 1065 h 1156"/>
                <a:gd name="T36" fmla="*/ 643 w 5415"/>
                <a:gd name="T37" fmla="*/ 1134 h 1156"/>
                <a:gd name="T38" fmla="*/ 1118 w 5415"/>
                <a:gd name="T39" fmla="*/ 824 h 1156"/>
                <a:gd name="T40" fmla="*/ 2166 w 5415"/>
                <a:gd name="T41" fmla="*/ 108 h 1156"/>
                <a:gd name="T42" fmla="*/ 1855 w 5415"/>
                <a:gd name="T43" fmla="*/ 98 h 1156"/>
                <a:gd name="T44" fmla="*/ 1578 w 5415"/>
                <a:gd name="T45" fmla="*/ 450 h 1156"/>
                <a:gd name="T46" fmla="*/ 1517 w 5415"/>
                <a:gd name="T47" fmla="*/ 1130 h 1156"/>
                <a:gd name="T48" fmla="*/ 1910 w 5415"/>
                <a:gd name="T49" fmla="*/ 1056 h 1156"/>
                <a:gd name="T50" fmla="*/ 2121 w 5415"/>
                <a:gd name="T51" fmla="*/ 619 h 1156"/>
                <a:gd name="T52" fmla="*/ 1905 w 5415"/>
                <a:gd name="T53" fmla="*/ 495 h 1156"/>
                <a:gd name="T54" fmla="*/ 1851 w 5415"/>
                <a:gd name="T55" fmla="*/ 155 h 1156"/>
                <a:gd name="T56" fmla="*/ 2160 w 5415"/>
                <a:gd name="T57" fmla="*/ 128 h 1156"/>
                <a:gd name="T58" fmla="*/ 1938 w 5415"/>
                <a:gd name="T59" fmla="*/ 607 h 1156"/>
                <a:gd name="T60" fmla="*/ 1808 w 5415"/>
                <a:gd name="T61" fmla="*/ 1048 h 1156"/>
                <a:gd name="T62" fmla="*/ 1568 w 5415"/>
                <a:gd name="T63" fmla="*/ 948 h 1156"/>
                <a:gd name="T64" fmla="*/ 4114 w 5415"/>
                <a:gd name="T65" fmla="*/ 511 h 1156"/>
                <a:gd name="T66" fmla="*/ 3732 w 5415"/>
                <a:gd name="T67" fmla="*/ 588 h 1156"/>
                <a:gd name="T68" fmla="*/ 3536 w 5415"/>
                <a:gd name="T69" fmla="*/ 1065 h 1156"/>
                <a:gd name="T70" fmla="*/ 3764 w 5415"/>
                <a:gd name="T71" fmla="*/ 1140 h 1156"/>
                <a:gd name="T72" fmla="*/ 3776 w 5415"/>
                <a:gd name="T73" fmla="*/ 1052 h 1156"/>
                <a:gd name="T74" fmla="*/ 3945 w 5415"/>
                <a:gd name="T75" fmla="*/ 784 h 1156"/>
                <a:gd name="T76" fmla="*/ 4145 w 5415"/>
                <a:gd name="T77" fmla="*/ 552 h 1156"/>
                <a:gd name="T78" fmla="*/ 3734 w 5415"/>
                <a:gd name="T79" fmla="*/ 739 h 1156"/>
                <a:gd name="T80" fmla="*/ 3984 w 5415"/>
                <a:gd name="T81" fmla="*/ 566 h 1156"/>
                <a:gd name="T82" fmla="*/ 5346 w 5415"/>
                <a:gd name="T83" fmla="*/ 49 h 1156"/>
                <a:gd name="T84" fmla="*/ 4876 w 5415"/>
                <a:gd name="T85" fmla="*/ 311 h 1156"/>
                <a:gd name="T86" fmla="*/ 4466 w 5415"/>
                <a:gd name="T87" fmla="*/ 592 h 1156"/>
                <a:gd name="T88" fmla="*/ 4212 w 5415"/>
                <a:gd name="T89" fmla="*/ 1046 h 1156"/>
                <a:gd name="T90" fmla="*/ 4440 w 5415"/>
                <a:gd name="T91" fmla="*/ 1134 h 1156"/>
                <a:gd name="T92" fmla="*/ 4656 w 5415"/>
                <a:gd name="T93" fmla="*/ 1150 h 1156"/>
                <a:gd name="T94" fmla="*/ 4867 w 5415"/>
                <a:gd name="T95" fmla="*/ 1044 h 1156"/>
                <a:gd name="T96" fmla="*/ 5026 w 5415"/>
                <a:gd name="T97" fmla="*/ 258 h 1156"/>
                <a:gd name="T98" fmla="*/ 5334 w 5415"/>
                <a:gd name="T99" fmla="*/ 159 h 1156"/>
                <a:gd name="T100" fmla="*/ 4719 w 5415"/>
                <a:gd name="T101" fmla="*/ 798 h 1156"/>
                <a:gd name="T102" fmla="*/ 4403 w 5415"/>
                <a:gd name="T103" fmla="*/ 1036 h 1156"/>
                <a:gd name="T104" fmla="*/ 4450 w 5415"/>
                <a:gd name="T105" fmla="*/ 704 h 1156"/>
                <a:gd name="T106" fmla="*/ 4788 w 5415"/>
                <a:gd name="T107" fmla="*/ 574 h 1156"/>
                <a:gd name="T108" fmla="*/ 3100 w 5415"/>
                <a:gd name="T109" fmla="*/ 543 h 1156"/>
                <a:gd name="T110" fmla="*/ 2832 w 5415"/>
                <a:gd name="T111" fmla="*/ 1014 h 1156"/>
                <a:gd name="T112" fmla="*/ 2999 w 5415"/>
                <a:gd name="T113" fmla="*/ 1150 h 1156"/>
                <a:gd name="T114" fmla="*/ 3147 w 5415"/>
                <a:gd name="T115" fmla="*/ 1042 h 1156"/>
                <a:gd name="T116" fmla="*/ 3001 w 5415"/>
                <a:gd name="T117" fmla="*/ 875 h 1156"/>
                <a:gd name="T118" fmla="*/ 3455 w 5415"/>
                <a:gd name="T119" fmla="*/ 586 h 1156"/>
                <a:gd name="T120" fmla="*/ 3013 w 5415"/>
                <a:gd name="T121" fmla="*/ 826 h 1156"/>
                <a:gd name="T122" fmla="*/ 3263 w 5415"/>
                <a:gd name="T123" fmla="*/ 552 h 1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15" h="1156">
                  <a:moveTo>
                    <a:pt x="2921" y="531"/>
                  </a:moveTo>
                  <a:lnTo>
                    <a:pt x="2921" y="531"/>
                  </a:lnTo>
                  <a:lnTo>
                    <a:pt x="2929" y="523"/>
                  </a:lnTo>
                  <a:lnTo>
                    <a:pt x="2934" y="515"/>
                  </a:lnTo>
                  <a:lnTo>
                    <a:pt x="2938" y="505"/>
                  </a:lnTo>
                  <a:lnTo>
                    <a:pt x="2940" y="495"/>
                  </a:lnTo>
                  <a:lnTo>
                    <a:pt x="2940" y="495"/>
                  </a:lnTo>
                  <a:lnTo>
                    <a:pt x="2938" y="486"/>
                  </a:lnTo>
                  <a:lnTo>
                    <a:pt x="2934" y="478"/>
                  </a:lnTo>
                  <a:lnTo>
                    <a:pt x="2929" y="470"/>
                  </a:lnTo>
                  <a:lnTo>
                    <a:pt x="2921" y="462"/>
                  </a:lnTo>
                  <a:lnTo>
                    <a:pt x="2921" y="462"/>
                  </a:lnTo>
                  <a:lnTo>
                    <a:pt x="2909" y="454"/>
                  </a:lnTo>
                  <a:lnTo>
                    <a:pt x="2897" y="450"/>
                  </a:lnTo>
                  <a:lnTo>
                    <a:pt x="2883" y="446"/>
                  </a:lnTo>
                  <a:lnTo>
                    <a:pt x="2870" y="446"/>
                  </a:lnTo>
                  <a:lnTo>
                    <a:pt x="2870" y="446"/>
                  </a:lnTo>
                  <a:lnTo>
                    <a:pt x="2860" y="446"/>
                  </a:lnTo>
                  <a:lnTo>
                    <a:pt x="2848" y="448"/>
                  </a:lnTo>
                  <a:lnTo>
                    <a:pt x="2824" y="456"/>
                  </a:lnTo>
                  <a:lnTo>
                    <a:pt x="2797" y="470"/>
                  </a:lnTo>
                  <a:lnTo>
                    <a:pt x="2767" y="488"/>
                  </a:lnTo>
                  <a:lnTo>
                    <a:pt x="2767" y="488"/>
                  </a:lnTo>
                  <a:lnTo>
                    <a:pt x="2736" y="511"/>
                  </a:lnTo>
                  <a:lnTo>
                    <a:pt x="2706" y="533"/>
                  </a:lnTo>
                  <a:lnTo>
                    <a:pt x="2677" y="558"/>
                  </a:lnTo>
                  <a:lnTo>
                    <a:pt x="2647" y="584"/>
                  </a:lnTo>
                  <a:lnTo>
                    <a:pt x="2620" y="611"/>
                  </a:lnTo>
                  <a:lnTo>
                    <a:pt x="2592" y="639"/>
                  </a:lnTo>
                  <a:lnTo>
                    <a:pt x="2565" y="668"/>
                  </a:lnTo>
                  <a:lnTo>
                    <a:pt x="2539" y="698"/>
                  </a:lnTo>
                  <a:lnTo>
                    <a:pt x="2583" y="560"/>
                  </a:lnTo>
                  <a:lnTo>
                    <a:pt x="2583" y="560"/>
                  </a:lnTo>
                  <a:lnTo>
                    <a:pt x="2592" y="525"/>
                  </a:lnTo>
                  <a:lnTo>
                    <a:pt x="2596" y="505"/>
                  </a:lnTo>
                  <a:lnTo>
                    <a:pt x="2596" y="505"/>
                  </a:lnTo>
                  <a:lnTo>
                    <a:pt x="2596" y="501"/>
                  </a:lnTo>
                  <a:lnTo>
                    <a:pt x="2594" y="497"/>
                  </a:lnTo>
                  <a:lnTo>
                    <a:pt x="2590" y="493"/>
                  </a:lnTo>
                  <a:lnTo>
                    <a:pt x="2587" y="489"/>
                  </a:lnTo>
                  <a:lnTo>
                    <a:pt x="2587" y="489"/>
                  </a:lnTo>
                  <a:lnTo>
                    <a:pt x="2573" y="486"/>
                  </a:lnTo>
                  <a:lnTo>
                    <a:pt x="2557" y="484"/>
                  </a:lnTo>
                  <a:lnTo>
                    <a:pt x="2557" y="484"/>
                  </a:lnTo>
                  <a:lnTo>
                    <a:pt x="2530" y="486"/>
                  </a:lnTo>
                  <a:lnTo>
                    <a:pt x="2496" y="493"/>
                  </a:lnTo>
                  <a:lnTo>
                    <a:pt x="2457" y="505"/>
                  </a:lnTo>
                  <a:lnTo>
                    <a:pt x="2412" y="523"/>
                  </a:lnTo>
                  <a:lnTo>
                    <a:pt x="2412" y="523"/>
                  </a:lnTo>
                  <a:lnTo>
                    <a:pt x="2362" y="545"/>
                  </a:lnTo>
                  <a:lnTo>
                    <a:pt x="2315" y="572"/>
                  </a:lnTo>
                  <a:lnTo>
                    <a:pt x="2268" y="604"/>
                  </a:lnTo>
                  <a:lnTo>
                    <a:pt x="2219" y="641"/>
                  </a:lnTo>
                  <a:lnTo>
                    <a:pt x="2250" y="668"/>
                  </a:lnTo>
                  <a:lnTo>
                    <a:pt x="2250" y="668"/>
                  </a:lnTo>
                  <a:lnTo>
                    <a:pt x="2319" y="617"/>
                  </a:lnTo>
                  <a:lnTo>
                    <a:pt x="2345" y="602"/>
                  </a:lnTo>
                  <a:lnTo>
                    <a:pt x="2362" y="590"/>
                  </a:lnTo>
                  <a:lnTo>
                    <a:pt x="2362" y="590"/>
                  </a:lnTo>
                  <a:lnTo>
                    <a:pt x="2390" y="578"/>
                  </a:lnTo>
                  <a:lnTo>
                    <a:pt x="2400" y="576"/>
                  </a:lnTo>
                  <a:lnTo>
                    <a:pt x="2408" y="574"/>
                  </a:lnTo>
                  <a:lnTo>
                    <a:pt x="2408" y="574"/>
                  </a:lnTo>
                  <a:lnTo>
                    <a:pt x="2418" y="576"/>
                  </a:lnTo>
                  <a:lnTo>
                    <a:pt x="2425" y="580"/>
                  </a:lnTo>
                  <a:lnTo>
                    <a:pt x="2429" y="586"/>
                  </a:lnTo>
                  <a:lnTo>
                    <a:pt x="2431" y="594"/>
                  </a:lnTo>
                  <a:lnTo>
                    <a:pt x="2431" y="594"/>
                  </a:lnTo>
                  <a:lnTo>
                    <a:pt x="2427" y="607"/>
                  </a:lnTo>
                  <a:lnTo>
                    <a:pt x="2421" y="635"/>
                  </a:lnTo>
                  <a:lnTo>
                    <a:pt x="2421" y="635"/>
                  </a:lnTo>
                  <a:lnTo>
                    <a:pt x="2380" y="776"/>
                  </a:lnTo>
                  <a:lnTo>
                    <a:pt x="2333" y="924"/>
                  </a:lnTo>
                  <a:lnTo>
                    <a:pt x="2262" y="1130"/>
                  </a:lnTo>
                  <a:lnTo>
                    <a:pt x="2412" y="1130"/>
                  </a:lnTo>
                  <a:lnTo>
                    <a:pt x="2457" y="981"/>
                  </a:lnTo>
                  <a:lnTo>
                    <a:pt x="2457" y="981"/>
                  </a:lnTo>
                  <a:lnTo>
                    <a:pt x="2478" y="914"/>
                  </a:lnTo>
                  <a:lnTo>
                    <a:pt x="2496" y="859"/>
                  </a:lnTo>
                  <a:lnTo>
                    <a:pt x="2512" y="818"/>
                  </a:lnTo>
                  <a:lnTo>
                    <a:pt x="2524" y="790"/>
                  </a:lnTo>
                  <a:lnTo>
                    <a:pt x="2524" y="790"/>
                  </a:lnTo>
                  <a:lnTo>
                    <a:pt x="2537" y="769"/>
                  </a:lnTo>
                  <a:lnTo>
                    <a:pt x="2553" y="747"/>
                  </a:lnTo>
                  <a:lnTo>
                    <a:pt x="2575" y="721"/>
                  </a:lnTo>
                  <a:lnTo>
                    <a:pt x="2600" y="694"/>
                  </a:lnTo>
                  <a:lnTo>
                    <a:pt x="2600" y="694"/>
                  </a:lnTo>
                  <a:lnTo>
                    <a:pt x="2628" y="668"/>
                  </a:lnTo>
                  <a:lnTo>
                    <a:pt x="2653" y="647"/>
                  </a:lnTo>
                  <a:lnTo>
                    <a:pt x="2679" y="627"/>
                  </a:lnTo>
                  <a:lnTo>
                    <a:pt x="2703" y="611"/>
                  </a:lnTo>
                  <a:lnTo>
                    <a:pt x="2703" y="611"/>
                  </a:lnTo>
                  <a:lnTo>
                    <a:pt x="2728" y="600"/>
                  </a:lnTo>
                  <a:lnTo>
                    <a:pt x="2756" y="588"/>
                  </a:lnTo>
                  <a:lnTo>
                    <a:pt x="2787" y="576"/>
                  </a:lnTo>
                  <a:lnTo>
                    <a:pt x="2822" y="566"/>
                  </a:lnTo>
                  <a:lnTo>
                    <a:pt x="2822" y="566"/>
                  </a:lnTo>
                  <a:lnTo>
                    <a:pt x="2858" y="556"/>
                  </a:lnTo>
                  <a:lnTo>
                    <a:pt x="2887" y="546"/>
                  </a:lnTo>
                  <a:lnTo>
                    <a:pt x="2907" y="539"/>
                  </a:lnTo>
                  <a:lnTo>
                    <a:pt x="2921" y="531"/>
                  </a:lnTo>
                  <a:lnTo>
                    <a:pt x="2921" y="531"/>
                  </a:lnTo>
                  <a:close/>
                  <a:moveTo>
                    <a:pt x="1044" y="214"/>
                  </a:moveTo>
                  <a:lnTo>
                    <a:pt x="1044" y="214"/>
                  </a:lnTo>
                  <a:lnTo>
                    <a:pt x="1042" y="226"/>
                  </a:lnTo>
                  <a:lnTo>
                    <a:pt x="1042" y="226"/>
                  </a:lnTo>
                  <a:lnTo>
                    <a:pt x="1042" y="232"/>
                  </a:lnTo>
                  <a:lnTo>
                    <a:pt x="1044" y="238"/>
                  </a:lnTo>
                  <a:lnTo>
                    <a:pt x="1048" y="244"/>
                  </a:lnTo>
                  <a:lnTo>
                    <a:pt x="1053" y="248"/>
                  </a:lnTo>
                  <a:lnTo>
                    <a:pt x="1053" y="248"/>
                  </a:lnTo>
                  <a:lnTo>
                    <a:pt x="1059" y="252"/>
                  </a:lnTo>
                  <a:lnTo>
                    <a:pt x="1065" y="254"/>
                  </a:lnTo>
                  <a:lnTo>
                    <a:pt x="1073" y="256"/>
                  </a:lnTo>
                  <a:lnTo>
                    <a:pt x="1081" y="258"/>
                  </a:lnTo>
                  <a:lnTo>
                    <a:pt x="1081" y="258"/>
                  </a:lnTo>
                  <a:lnTo>
                    <a:pt x="1095" y="254"/>
                  </a:lnTo>
                  <a:lnTo>
                    <a:pt x="1105" y="250"/>
                  </a:lnTo>
                  <a:lnTo>
                    <a:pt x="1116" y="242"/>
                  </a:lnTo>
                  <a:lnTo>
                    <a:pt x="1126" y="232"/>
                  </a:lnTo>
                  <a:lnTo>
                    <a:pt x="1368" y="0"/>
                  </a:lnTo>
                  <a:lnTo>
                    <a:pt x="1187" y="0"/>
                  </a:lnTo>
                  <a:lnTo>
                    <a:pt x="1044" y="214"/>
                  </a:lnTo>
                  <a:close/>
                  <a:moveTo>
                    <a:pt x="1034" y="315"/>
                  </a:moveTo>
                  <a:lnTo>
                    <a:pt x="1034" y="315"/>
                  </a:lnTo>
                  <a:lnTo>
                    <a:pt x="998" y="289"/>
                  </a:lnTo>
                  <a:lnTo>
                    <a:pt x="959" y="265"/>
                  </a:lnTo>
                  <a:lnTo>
                    <a:pt x="918" y="246"/>
                  </a:lnTo>
                  <a:lnTo>
                    <a:pt x="873" y="230"/>
                  </a:lnTo>
                  <a:lnTo>
                    <a:pt x="825" y="218"/>
                  </a:lnTo>
                  <a:lnTo>
                    <a:pt x="776" y="208"/>
                  </a:lnTo>
                  <a:lnTo>
                    <a:pt x="721" y="202"/>
                  </a:lnTo>
                  <a:lnTo>
                    <a:pt x="666" y="202"/>
                  </a:lnTo>
                  <a:lnTo>
                    <a:pt x="666" y="202"/>
                  </a:lnTo>
                  <a:lnTo>
                    <a:pt x="619" y="202"/>
                  </a:lnTo>
                  <a:lnTo>
                    <a:pt x="574" y="206"/>
                  </a:lnTo>
                  <a:lnTo>
                    <a:pt x="529" y="212"/>
                  </a:lnTo>
                  <a:lnTo>
                    <a:pt x="487" y="220"/>
                  </a:lnTo>
                  <a:lnTo>
                    <a:pt x="444" y="230"/>
                  </a:lnTo>
                  <a:lnTo>
                    <a:pt x="403" y="242"/>
                  </a:lnTo>
                  <a:lnTo>
                    <a:pt x="363" y="258"/>
                  </a:lnTo>
                  <a:lnTo>
                    <a:pt x="324" y="275"/>
                  </a:lnTo>
                  <a:lnTo>
                    <a:pt x="324" y="275"/>
                  </a:lnTo>
                  <a:lnTo>
                    <a:pt x="287" y="293"/>
                  </a:lnTo>
                  <a:lnTo>
                    <a:pt x="251" y="315"/>
                  </a:lnTo>
                  <a:lnTo>
                    <a:pt x="218" y="336"/>
                  </a:lnTo>
                  <a:lnTo>
                    <a:pt x="189" y="360"/>
                  </a:lnTo>
                  <a:lnTo>
                    <a:pt x="159" y="385"/>
                  </a:lnTo>
                  <a:lnTo>
                    <a:pt x="132" y="413"/>
                  </a:lnTo>
                  <a:lnTo>
                    <a:pt x="108" y="440"/>
                  </a:lnTo>
                  <a:lnTo>
                    <a:pt x="84" y="472"/>
                  </a:lnTo>
                  <a:lnTo>
                    <a:pt x="84" y="472"/>
                  </a:lnTo>
                  <a:lnTo>
                    <a:pt x="65" y="501"/>
                  </a:lnTo>
                  <a:lnTo>
                    <a:pt x="47" y="533"/>
                  </a:lnTo>
                  <a:lnTo>
                    <a:pt x="33" y="564"/>
                  </a:lnTo>
                  <a:lnTo>
                    <a:pt x="20" y="596"/>
                  </a:lnTo>
                  <a:lnTo>
                    <a:pt x="12" y="629"/>
                  </a:lnTo>
                  <a:lnTo>
                    <a:pt x="4" y="661"/>
                  </a:lnTo>
                  <a:lnTo>
                    <a:pt x="0" y="694"/>
                  </a:lnTo>
                  <a:lnTo>
                    <a:pt x="0" y="727"/>
                  </a:lnTo>
                  <a:lnTo>
                    <a:pt x="0" y="727"/>
                  </a:lnTo>
                  <a:lnTo>
                    <a:pt x="0" y="747"/>
                  </a:lnTo>
                  <a:lnTo>
                    <a:pt x="2" y="767"/>
                  </a:lnTo>
                  <a:lnTo>
                    <a:pt x="8" y="784"/>
                  </a:lnTo>
                  <a:lnTo>
                    <a:pt x="14" y="804"/>
                  </a:lnTo>
                  <a:lnTo>
                    <a:pt x="21" y="824"/>
                  </a:lnTo>
                  <a:lnTo>
                    <a:pt x="31" y="843"/>
                  </a:lnTo>
                  <a:lnTo>
                    <a:pt x="43" y="861"/>
                  </a:lnTo>
                  <a:lnTo>
                    <a:pt x="57" y="881"/>
                  </a:lnTo>
                  <a:lnTo>
                    <a:pt x="57" y="881"/>
                  </a:lnTo>
                  <a:lnTo>
                    <a:pt x="67" y="892"/>
                  </a:lnTo>
                  <a:lnTo>
                    <a:pt x="77" y="904"/>
                  </a:lnTo>
                  <a:lnTo>
                    <a:pt x="88" y="914"/>
                  </a:lnTo>
                  <a:lnTo>
                    <a:pt x="98" y="922"/>
                  </a:lnTo>
                  <a:lnTo>
                    <a:pt x="110" y="928"/>
                  </a:lnTo>
                  <a:lnTo>
                    <a:pt x="122" y="932"/>
                  </a:lnTo>
                  <a:lnTo>
                    <a:pt x="132" y="934"/>
                  </a:lnTo>
                  <a:lnTo>
                    <a:pt x="143" y="934"/>
                  </a:lnTo>
                  <a:lnTo>
                    <a:pt x="143" y="934"/>
                  </a:lnTo>
                  <a:lnTo>
                    <a:pt x="153" y="934"/>
                  </a:lnTo>
                  <a:lnTo>
                    <a:pt x="163" y="932"/>
                  </a:lnTo>
                  <a:lnTo>
                    <a:pt x="171" y="926"/>
                  </a:lnTo>
                  <a:lnTo>
                    <a:pt x="179" y="920"/>
                  </a:lnTo>
                  <a:lnTo>
                    <a:pt x="179" y="920"/>
                  </a:lnTo>
                  <a:lnTo>
                    <a:pt x="185" y="912"/>
                  </a:lnTo>
                  <a:lnTo>
                    <a:pt x="191" y="904"/>
                  </a:lnTo>
                  <a:lnTo>
                    <a:pt x="192" y="896"/>
                  </a:lnTo>
                  <a:lnTo>
                    <a:pt x="194" y="889"/>
                  </a:lnTo>
                  <a:lnTo>
                    <a:pt x="194" y="889"/>
                  </a:lnTo>
                  <a:lnTo>
                    <a:pt x="192" y="875"/>
                  </a:lnTo>
                  <a:lnTo>
                    <a:pt x="187" y="863"/>
                  </a:lnTo>
                  <a:lnTo>
                    <a:pt x="187" y="863"/>
                  </a:lnTo>
                  <a:lnTo>
                    <a:pt x="173" y="853"/>
                  </a:lnTo>
                  <a:lnTo>
                    <a:pt x="151" y="839"/>
                  </a:lnTo>
                  <a:lnTo>
                    <a:pt x="151" y="839"/>
                  </a:lnTo>
                  <a:lnTo>
                    <a:pt x="130" y="828"/>
                  </a:lnTo>
                  <a:lnTo>
                    <a:pt x="110" y="814"/>
                  </a:lnTo>
                  <a:lnTo>
                    <a:pt x="94" y="798"/>
                  </a:lnTo>
                  <a:lnTo>
                    <a:pt x="80" y="780"/>
                  </a:lnTo>
                  <a:lnTo>
                    <a:pt x="71" y="761"/>
                  </a:lnTo>
                  <a:lnTo>
                    <a:pt x="63" y="741"/>
                  </a:lnTo>
                  <a:lnTo>
                    <a:pt x="59" y="719"/>
                  </a:lnTo>
                  <a:lnTo>
                    <a:pt x="57" y="694"/>
                  </a:lnTo>
                  <a:lnTo>
                    <a:pt x="57" y="694"/>
                  </a:lnTo>
                  <a:lnTo>
                    <a:pt x="59" y="670"/>
                  </a:lnTo>
                  <a:lnTo>
                    <a:pt x="63" y="645"/>
                  </a:lnTo>
                  <a:lnTo>
                    <a:pt x="69" y="619"/>
                  </a:lnTo>
                  <a:lnTo>
                    <a:pt x="77" y="594"/>
                  </a:lnTo>
                  <a:lnTo>
                    <a:pt x="88" y="566"/>
                  </a:lnTo>
                  <a:lnTo>
                    <a:pt x="100" y="541"/>
                  </a:lnTo>
                  <a:lnTo>
                    <a:pt x="116" y="515"/>
                  </a:lnTo>
                  <a:lnTo>
                    <a:pt x="134" y="488"/>
                  </a:lnTo>
                  <a:lnTo>
                    <a:pt x="134" y="488"/>
                  </a:lnTo>
                  <a:lnTo>
                    <a:pt x="155" y="462"/>
                  </a:lnTo>
                  <a:lnTo>
                    <a:pt x="177" y="436"/>
                  </a:lnTo>
                  <a:lnTo>
                    <a:pt x="200" y="415"/>
                  </a:lnTo>
                  <a:lnTo>
                    <a:pt x="224" y="391"/>
                  </a:lnTo>
                  <a:lnTo>
                    <a:pt x="251" y="372"/>
                  </a:lnTo>
                  <a:lnTo>
                    <a:pt x="281" y="352"/>
                  </a:lnTo>
                  <a:lnTo>
                    <a:pt x="310" y="334"/>
                  </a:lnTo>
                  <a:lnTo>
                    <a:pt x="342" y="316"/>
                  </a:lnTo>
                  <a:lnTo>
                    <a:pt x="342" y="316"/>
                  </a:lnTo>
                  <a:lnTo>
                    <a:pt x="375" y="301"/>
                  </a:lnTo>
                  <a:lnTo>
                    <a:pt x="409" y="289"/>
                  </a:lnTo>
                  <a:lnTo>
                    <a:pt x="444" y="277"/>
                  </a:lnTo>
                  <a:lnTo>
                    <a:pt x="477" y="269"/>
                  </a:lnTo>
                  <a:lnTo>
                    <a:pt x="513" y="261"/>
                  </a:lnTo>
                  <a:lnTo>
                    <a:pt x="550" y="256"/>
                  </a:lnTo>
                  <a:lnTo>
                    <a:pt x="586" y="254"/>
                  </a:lnTo>
                  <a:lnTo>
                    <a:pt x="623" y="252"/>
                  </a:lnTo>
                  <a:lnTo>
                    <a:pt x="623" y="252"/>
                  </a:lnTo>
                  <a:lnTo>
                    <a:pt x="666" y="254"/>
                  </a:lnTo>
                  <a:lnTo>
                    <a:pt x="706" y="259"/>
                  </a:lnTo>
                  <a:lnTo>
                    <a:pt x="745" y="267"/>
                  </a:lnTo>
                  <a:lnTo>
                    <a:pt x="782" y="279"/>
                  </a:lnTo>
                  <a:lnTo>
                    <a:pt x="816" y="293"/>
                  </a:lnTo>
                  <a:lnTo>
                    <a:pt x="849" y="311"/>
                  </a:lnTo>
                  <a:lnTo>
                    <a:pt x="878" y="332"/>
                  </a:lnTo>
                  <a:lnTo>
                    <a:pt x="908" y="356"/>
                  </a:lnTo>
                  <a:lnTo>
                    <a:pt x="908" y="356"/>
                  </a:lnTo>
                  <a:lnTo>
                    <a:pt x="934" y="383"/>
                  </a:lnTo>
                  <a:lnTo>
                    <a:pt x="955" y="413"/>
                  </a:lnTo>
                  <a:lnTo>
                    <a:pt x="973" y="444"/>
                  </a:lnTo>
                  <a:lnTo>
                    <a:pt x="989" y="478"/>
                  </a:lnTo>
                  <a:lnTo>
                    <a:pt x="1000" y="513"/>
                  </a:lnTo>
                  <a:lnTo>
                    <a:pt x="1010" y="550"/>
                  </a:lnTo>
                  <a:lnTo>
                    <a:pt x="1014" y="590"/>
                  </a:lnTo>
                  <a:lnTo>
                    <a:pt x="1016" y="631"/>
                  </a:lnTo>
                  <a:lnTo>
                    <a:pt x="1016" y="631"/>
                  </a:lnTo>
                  <a:lnTo>
                    <a:pt x="1016" y="664"/>
                  </a:lnTo>
                  <a:lnTo>
                    <a:pt x="1012" y="696"/>
                  </a:lnTo>
                  <a:lnTo>
                    <a:pt x="1006" y="727"/>
                  </a:lnTo>
                  <a:lnTo>
                    <a:pt x="1000" y="757"/>
                  </a:lnTo>
                  <a:lnTo>
                    <a:pt x="991" y="786"/>
                  </a:lnTo>
                  <a:lnTo>
                    <a:pt x="981" y="816"/>
                  </a:lnTo>
                  <a:lnTo>
                    <a:pt x="967" y="843"/>
                  </a:lnTo>
                  <a:lnTo>
                    <a:pt x="951" y="871"/>
                  </a:lnTo>
                  <a:lnTo>
                    <a:pt x="951" y="871"/>
                  </a:lnTo>
                  <a:lnTo>
                    <a:pt x="935" y="896"/>
                  </a:lnTo>
                  <a:lnTo>
                    <a:pt x="918" y="922"/>
                  </a:lnTo>
                  <a:lnTo>
                    <a:pt x="898" y="946"/>
                  </a:lnTo>
                  <a:lnTo>
                    <a:pt x="877" y="967"/>
                  </a:lnTo>
                  <a:lnTo>
                    <a:pt x="855" y="987"/>
                  </a:lnTo>
                  <a:lnTo>
                    <a:pt x="831" y="1005"/>
                  </a:lnTo>
                  <a:lnTo>
                    <a:pt x="806" y="1020"/>
                  </a:lnTo>
                  <a:lnTo>
                    <a:pt x="778" y="1036"/>
                  </a:lnTo>
                  <a:lnTo>
                    <a:pt x="778" y="1036"/>
                  </a:lnTo>
                  <a:lnTo>
                    <a:pt x="751" y="1050"/>
                  </a:lnTo>
                  <a:lnTo>
                    <a:pt x="723" y="1060"/>
                  </a:lnTo>
                  <a:lnTo>
                    <a:pt x="692" y="1069"/>
                  </a:lnTo>
                  <a:lnTo>
                    <a:pt x="660" y="1077"/>
                  </a:lnTo>
                  <a:lnTo>
                    <a:pt x="629" y="1085"/>
                  </a:lnTo>
                  <a:lnTo>
                    <a:pt x="595" y="1089"/>
                  </a:lnTo>
                  <a:lnTo>
                    <a:pt x="560" y="1091"/>
                  </a:lnTo>
                  <a:lnTo>
                    <a:pt x="523" y="1093"/>
                  </a:lnTo>
                  <a:lnTo>
                    <a:pt x="523" y="1093"/>
                  </a:lnTo>
                  <a:lnTo>
                    <a:pt x="495" y="1091"/>
                  </a:lnTo>
                  <a:lnTo>
                    <a:pt x="464" y="1089"/>
                  </a:lnTo>
                  <a:lnTo>
                    <a:pt x="430" y="1085"/>
                  </a:lnTo>
                  <a:lnTo>
                    <a:pt x="397" y="1079"/>
                  </a:lnTo>
                  <a:lnTo>
                    <a:pt x="397" y="1079"/>
                  </a:lnTo>
                  <a:lnTo>
                    <a:pt x="415" y="1048"/>
                  </a:lnTo>
                  <a:lnTo>
                    <a:pt x="432" y="1012"/>
                  </a:lnTo>
                  <a:lnTo>
                    <a:pt x="450" y="975"/>
                  </a:lnTo>
                  <a:lnTo>
                    <a:pt x="468" y="932"/>
                  </a:lnTo>
                  <a:lnTo>
                    <a:pt x="483" y="887"/>
                  </a:lnTo>
                  <a:lnTo>
                    <a:pt x="499" y="837"/>
                  </a:lnTo>
                  <a:lnTo>
                    <a:pt x="515" y="784"/>
                  </a:lnTo>
                  <a:lnTo>
                    <a:pt x="531" y="729"/>
                  </a:lnTo>
                  <a:lnTo>
                    <a:pt x="586" y="515"/>
                  </a:lnTo>
                  <a:lnTo>
                    <a:pt x="586" y="515"/>
                  </a:lnTo>
                  <a:lnTo>
                    <a:pt x="599" y="462"/>
                  </a:lnTo>
                  <a:lnTo>
                    <a:pt x="615" y="411"/>
                  </a:lnTo>
                  <a:lnTo>
                    <a:pt x="633" y="366"/>
                  </a:lnTo>
                  <a:lnTo>
                    <a:pt x="649" y="320"/>
                  </a:lnTo>
                  <a:lnTo>
                    <a:pt x="649" y="320"/>
                  </a:lnTo>
                  <a:lnTo>
                    <a:pt x="590" y="332"/>
                  </a:lnTo>
                  <a:lnTo>
                    <a:pt x="533" y="342"/>
                  </a:lnTo>
                  <a:lnTo>
                    <a:pt x="481" y="350"/>
                  </a:lnTo>
                  <a:lnTo>
                    <a:pt x="434" y="354"/>
                  </a:lnTo>
                  <a:lnTo>
                    <a:pt x="426" y="387"/>
                  </a:lnTo>
                  <a:lnTo>
                    <a:pt x="426" y="387"/>
                  </a:lnTo>
                  <a:lnTo>
                    <a:pt x="450" y="385"/>
                  </a:lnTo>
                  <a:lnTo>
                    <a:pt x="450" y="385"/>
                  </a:lnTo>
                  <a:lnTo>
                    <a:pt x="462" y="387"/>
                  </a:lnTo>
                  <a:lnTo>
                    <a:pt x="468" y="389"/>
                  </a:lnTo>
                  <a:lnTo>
                    <a:pt x="472" y="393"/>
                  </a:lnTo>
                  <a:lnTo>
                    <a:pt x="472" y="393"/>
                  </a:lnTo>
                  <a:lnTo>
                    <a:pt x="476" y="397"/>
                  </a:lnTo>
                  <a:lnTo>
                    <a:pt x="479" y="401"/>
                  </a:lnTo>
                  <a:lnTo>
                    <a:pt x="481" y="413"/>
                  </a:lnTo>
                  <a:lnTo>
                    <a:pt x="481" y="413"/>
                  </a:lnTo>
                  <a:lnTo>
                    <a:pt x="479" y="427"/>
                  </a:lnTo>
                  <a:lnTo>
                    <a:pt x="476" y="444"/>
                  </a:lnTo>
                  <a:lnTo>
                    <a:pt x="409" y="694"/>
                  </a:lnTo>
                  <a:lnTo>
                    <a:pt x="352" y="894"/>
                  </a:lnTo>
                  <a:lnTo>
                    <a:pt x="352" y="894"/>
                  </a:lnTo>
                  <a:lnTo>
                    <a:pt x="332" y="949"/>
                  </a:lnTo>
                  <a:lnTo>
                    <a:pt x="314" y="993"/>
                  </a:lnTo>
                  <a:lnTo>
                    <a:pt x="299" y="1026"/>
                  </a:lnTo>
                  <a:lnTo>
                    <a:pt x="285" y="1048"/>
                  </a:lnTo>
                  <a:lnTo>
                    <a:pt x="285" y="1048"/>
                  </a:lnTo>
                  <a:lnTo>
                    <a:pt x="277" y="1058"/>
                  </a:lnTo>
                  <a:lnTo>
                    <a:pt x="269" y="1065"/>
                  </a:lnTo>
                  <a:lnTo>
                    <a:pt x="261" y="1071"/>
                  </a:lnTo>
                  <a:lnTo>
                    <a:pt x="253" y="1077"/>
                  </a:lnTo>
                  <a:lnTo>
                    <a:pt x="253" y="1077"/>
                  </a:lnTo>
                  <a:lnTo>
                    <a:pt x="240" y="1081"/>
                  </a:lnTo>
                  <a:lnTo>
                    <a:pt x="220" y="1083"/>
                  </a:lnTo>
                  <a:lnTo>
                    <a:pt x="157" y="1089"/>
                  </a:lnTo>
                  <a:lnTo>
                    <a:pt x="137" y="1126"/>
                  </a:lnTo>
                  <a:lnTo>
                    <a:pt x="137" y="1126"/>
                  </a:lnTo>
                  <a:lnTo>
                    <a:pt x="251" y="1124"/>
                  </a:lnTo>
                  <a:lnTo>
                    <a:pt x="251" y="1124"/>
                  </a:lnTo>
                  <a:lnTo>
                    <a:pt x="336" y="1126"/>
                  </a:lnTo>
                  <a:lnTo>
                    <a:pt x="424" y="1130"/>
                  </a:lnTo>
                  <a:lnTo>
                    <a:pt x="424" y="1130"/>
                  </a:lnTo>
                  <a:lnTo>
                    <a:pt x="515" y="1136"/>
                  </a:lnTo>
                  <a:lnTo>
                    <a:pt x="574" y="1138"/>
                  </a:lnTo>
                  <a:lnTo>
                    <a:pt x="574" y="1138"/>
                  </a:lnTo>
                  <a:lnTo>
                    <a:pt x="609" y="1138"/>
                  </a:lnTo>
                  <a:lnTo>
                    <a:pt x="643" y="1134"/>
                  </a:lnTo>
                  <a:lnTo>
                    <a:pt x="676" y="1130"/>
                  </a:lnTo>
                  <a:lnTo>
                    <a:pt x="709" y="1124"/>
                  </a:lnTo>
                  <a:lnTo>
                    <a:pt x="743" y="1117"/>
                  </a:lnTo>
                  <a:lnTo>
                    <a:pt x="778" y="1107"/>
                  </a:lnTo>
                  <a:lnTo>
                    <a:pt x="812" y="1095"/>
                  </a:lnTo>
                  <a:lnTo>
                    <a:pt x="845" y="1081"/>
                  </a:lnTo>
                  <a:lnTo>
                    <a:pt x="845" y="1081"/>
                  </a:lnTo>
                  <a:lnTo>
                    <a:pt x="878" y="1067"/>
                  </a:lnTo>
                  <a:lnTo>
                    <a:pt x="910" y="1048"/>
                  </a:lnTo>
                  <a:lnTo>
                    <a:pt x="941" y="1028"/>
                  </a:lnTo>
                  <a:lnTo>
                    <a:pt x="971" y="1006"/>
                  </a:lnTo>
                  <a:lnTo>
                    <a:pt x="998" y="981"/>
                  </a:lnTo>
                  <a:lnTo>
                    <a:pt x="1026" y="953"/>
                  </a:lnTo>
                  <a:lnTo>
                    <a:pt x="1051" y="924"/>
                  </a:lnTo>
                  <a:lnTo>
                    <a:pt x="1075" y="892"/>
                  </a:lnTo>
                  <a:lnTo>
                    <a:pt x="1075" y="892"/>
                  </a:lnTo>
                  <a:lnTo>
                    <a:pt x="1099" y="859"/>
                  </a:lnTo>
                  <a:lnTo>
                    <a:pt x="1118" y="824"/>
                  </a:lnTo>
                  <a:lnTo>
                    <a:pt x="1134" y="788"/>
                  </a:lnTo>
                  <a:lnTo>
                    <a:pt x="1148" y="753"/>
                  </a:lnTo>
                  <a:lnTo>
                    <a:pt x="1158" y="716"/>
                  </a:lnTo>
                  <a:lnTo>
                    <a:pt x="1165" y="678"/>
                  </a:lnTo>
                  <a:lnTo>
                    <a:pt x="1169" y="639"/>
                  </a:lnTo>
                  <a:lnTo>
                    <a:pt x="1171" y="600"/>
                  </a:lnTo>
                  <a:lnTo>
                    <a:pt x="1171" y="600"/>
                  </a:lnTo>
                  <a:lnTo>
                    <a:pt x="1169" y="558"/>
                  </a:lnTo>
                  <a:lnTo>
                    <a:pt x="1163" y="517"/>
                  </a:lnTo>
                  <a:lnTo>
                    <a:pt x="1152" y="480"/>
                  </a:lnTo>
                  <a:lnTo>
                    <a:pt x="1138" y="442"/>
                  </a:lnTo>
                  <a:lnTo>
                    <a:pt x="1118" y="409"/>
                  </a:lnTo>
                  <a:lnTo>
                    <a:pt x="1095" y="375"/>
                  </a:lnTo>
                  <a:lnTo>
                    <a:pt x="1067" y="344"/>
                  </a:lnTo>
                  <a:lnTo>
                    <a:pt x="1034" y="315"/>
                  </a:lnTo>
                  <a:lnTo>
                    <a:pt x="1034" y="315"/>
                  </a:lnTo>
                  <a:close/>
                  <a:moveTo>
                    <a:pt x="2166" y="108"/>
                  </a:moveTo>
                  <a:lnTo>
                    <a:pt x="2166" y="108"/>
                  </a:lnTo>
                  <a:lnTo>
                    <a:pt x="2166" y="96"/>
                  </a:lnTo>
                  <a:lnTo>
                    <a:pt x="2160" y="85"/>
                  </a:lnTo>
                  <a:lnTo>
                    <a:pt x="2152" y="75"/>
                  </a:lnTo>
                  <a:lnTo>
                    <a:pt x="2140" y="67"/>
                  </a:lnTo>
                  <a:lnTo>
                    <a:pt x="2140" y="67"/>
                  </a:lnTo>
                  <a:lnTo>
                    <a:pt x="2125" y="61"/>
                  </a:lnTo>
                  <a:lnTo>
                    <a:pt x="2107" y="55"/>
                  </a:lnTo>
                  <a:lnTo>
                    <a:pt x="2083" y="53"/>
                  </a:lnTo>
                  <a:lnTo>
                    <a:pt x="2058" y="51"/>
                  </a:lnTo>
                  <a:lnTo>
                    <a:pt x="2058" y="51"/>
                  </a:lnTo>
                  <a:lnTo>
                    <a:pt x="2032" y="53"/>
                  </a:lnTo>
                  <a:lnTo>
                    <a:pt x="2009" y="55"/>
                  </a:lnTo>
                  <a:lnTo>
                    <a:pt x="1985" y="59"/>
                  </a:lnTo>
                  <a:lnTo>
                    <a:pt x="1960" y="63"/>
                  </a:lnTo>
                  <a:lnTo>
                    <a:pt x="1934" y="71"/>
                  </a:lnTo>
                  <a:lnTo>
                    <a:pt x="1908" y="79"/>
                  </a:lnTo>
                  <a:lnTo>
                    <a:pt x="1883" y="88"/>
                  </a:lnTo>
                  <a:lnTo>
                    <a:pt x="1855" y="98"/>
                  </a:lnTo>
                  <a:lnTo>
                    <a:pt x="1855" y="98"/>
                  </a:lnTo>
                  <a:lnTo>
                    <a:pt x="1830" y="110"/>
                  </a:lnTo>
                  <a:lnTo>
                    <a:pt x="1806" y="124"/>
                  </a:lnTo>
                  <a:lnTo>
                    <a:pt x="1783" y="138"/>
                  </a:lnTo>
                  <a:lnTo>
                    <a:pt x="1761" y="153"/>
                  </a:lnTo>
                  <a:lnTo>
                    <a:pt x="1739" y="169"/>
                  </a:lnTo>
                  <a:lnTo>
                    <a:pt x="1720" y="187"/>
                  </a:lnTo>
                  <a:lnTo>
                    <a:pt x="1702" y="204"/>
                  </a:lnTo>
                  <a:lnTo>
                    <a:pt x="1686" y="222"/>
                  </a:lnTo>
                  <a:lnTo>
                    <a:pt x="1686" y="222"/>
                  </a:lnTo>
                  <a:lnTo>
                    <a:pt x="1669" y="244"/>
                  </a:lnTo>
                  <a:lnTo>
                    <a:pt x="1655" y="267"/>
                  </a:lnTo>
                  <a:lnTo>
                    <a:pt x="1639" y="291"/>
                  </a:lnTo>
                  <a:lnTo>
                    <a:pt x="1625" y="318"/>
                  </a:lnTo>
                  <a:lnTo>
                    <a:pt x="1614" y="348"/>
                  </a:lnTo>
                  <a:lnTo>
                    <a:pt x="1600" y="379"/>
                  </a:lnTo>
                  <a:lnTo>
                    <a:pt x="1588" y="415"/>
                  </a:lnTo>
                  <a:lnTo>
                    <a:pt x="1578" y="450"/>
                  </a:lnTo>
                  <a:lnTo>
                    <a:pt x="1460" y="857"/>
                  </a:lnTo>
                  <a:lnTo>
                    <a:pt x="1460" y="857"/>
                  </a:lnTo>
                  <a:lnTo>
                    <a:pt x="1448" y="900"/>
                  </a:lnTo>
                  <a:lnTo>
                    <a:pt x="1439" y="942"/>
                  </a:lnTo>
                  <a:lnTo>
                    <a:pt x="1435" y="975"/>
                  </a:lnTo>
                  <a:lnTo>
                    <a:pt x="1433" y="1005"/>
                  </a:lnTo>
                  <a:lnTo>
                    <a:pt x="1433" y="1005"/>
                  </a:lnTo>
                  <a:lnTo>
                    <a:pt x="1433" y="1020"/>
                  </a:lnTo>
                  <a:lnTo>
                    <a:pt x="1437" y="1036"/>
                  </a:lnTo>
                  <a:lnTo>
                    <a:pt x="1441" y="1050"/>
                  </a:lnTo>
                  <a:lnTo>
                    <a:pt x="1447" y="1064"/>
                  </a:lnTo>
                  <a:lnTo>
                    <a:pt x="1454" y="1077"/>
                  </a:lnTo>
                  <a:lnTo>
                    <a:pt x="1464" y="1089"/>
                  </a:lnTo>
                  <a:lnTo>
                    <a:pt x="1474" y="1101"/>
                  </a:lnTo>
                  <a:lnTo>
                    <a:pt x="1488" y="1111"/>
                  </a:lnTo>
                  <a:lnTo>
                    <a:pt x="1488" y="1111"/>
                  </a:lnTo>
                  <a:lnTo>
                    <a:pt x="1502" y="1121"/>
                  </a:lnTo>
                  <a:lnTo>
                    <a:pt x="1517" y="1130"/>
                  </a:lnTo>
                  <a:lnTo>
                    <a:pt x="1535" y="1136"/>
                  </a:lnTo>
                  <a:lnTo>
                    <a:pt x="1553" y="1142"/>
                  </a:lnTo>
                  <a:lnTo>
                    <a:pt x="1570" y="1148"/>
                  </a:lnTo>
                  <a:lnTo>
                    <a:pt x="1590" y="1150"/>
                  </a:lnTo>
                  <a:lnTo>
                    <a:pt x="1612" y="1152"/>
                  </a:lnTo>
                  <a:lnTo>
                    <a:pt x="1635" y="1154"/>
                  </a:lnTo>
                  <a:lnTo>
                    <a:pt x="1635" y="1154"/>
                  </a:lnTo>
                  <a:lnTo>
                    <a:pt x="1661" y="1152"/>
                  </a:lnTo>
                  <a:lnTo>
                    <a:pt x="1688" y="1150"/>
                  </a:lnTo>
                  <a:lnTo>
                    <a:pt x="1716" y="1144"/>
                  </a:lnTo>
                  <a:lnTo>
                    <a:pt x="1743" y="1138"/>
                  </a:lnTo>
                  <a:lnTo>
                    <a:pt x="1771" y="1128"/>
                  </a:lnTo>
                  <a:lnTo>
                    <a:pt x="1800" y="1119"/>
                  </a:lnTo>
                  <a:lnTo>
                    <a:pt x="1828" y="1105"/>
                  </a:lnTo>
                  <a:lnTo>
                    <a:pt x="1855" y="1091"/>
                  </a:lnTo>
                  <a:lnTo>
                    <a:pt x="1855" y="1091"/>
                  </a:lnTo>
                  <a:lnTo>
                    <a:pt x="1883" y="1073"/>
                  </a:lnTo>
                  <a:lnTo>
                    <a:pt x="1910" y="1056"/>
                  </a:lnTo>
                  <a:lnTo>
                    <a:pt x="1936" y="1034"/>
                  </a:lnTo>
                  <a:lnTo>
                    <a:pt x="1960" y="1012"/>
                  </a:lnTo>
                  <a:lnTo>
                    <a:pt x="1983" y="989"/>
                  </a:lnTo>
                  <a:lnTo>
                    <a:pt x="2005" y="963"/>
                  </a:lnTo>
                  <a:lnTo>
                    <a:pt x="2026" y="936"/>
                  </a:lnTo>
                  <a:lnTo>
                    <a:pt x="2046" y="906"/>
                  </a:lnTo>
                  <a:lnTo>
                    <a:pt x="2046" y="906"/>
                  </a:lnTo>
                  <a:lnTo>
                    <a:pt x="2064" y="877"/>
                  </a:lnTo>
                  <a:lnTo>
                    <a:pt x="2079" y="845"/>
                  </a:lnTo>
                  <a:lnTo>
                    <a:pt x="2093" y="816"/>
                  </a:lnTo>
                  <a:lnTo>
                    <a:pt x="2103" y="784"/>
                  </a:lnTo>
                  <a:lnTo>
                    <a:pt x="2113" y="753"/>
                  </a:lnTo>
                  <a:lnTo>
                    <a:pt x="2119" y="723"/>
                  </a:lnTo>
                  <a:lnTo>
                    <a:pt x="2123" y="692"/>
                  </a:lnTo>
                  <a:lnTo>
                    <a:pt x="2123" y="661"/>
                  </a:lnTo>
                  <a:lnTo>
                    <a:pt x="2123" y="661"/>
                  </a:lnTo>
                  <a:lnTo>
                    <a:pt x="2123" y="639"/>
                  </a:lnTo>
                  <a:lnTo>
                    <a:pt x="2121" y="619"/>
                  </a:lnTo>
                  <a:lnTo>
                    <a:pt x="2117" y="602"/>
                  </a:lnTo>
                  <a:lnTo>
                    <a:pt x="2113" y="584"/>
                  </a:lnTo>
                  <a:lnTo>
                    <a:pt x="2107" y="568"/>
                  </a:lnTo>
                  <a:lnTo>
                    <a:pt x="2099" y="554"/>
                  </a:lnTo>
                  <a:lnTo>
                    <a:pt x="2091" y="541"/>
                  </a:lnTo>
                  <a:lnTo>
                    <a:pt x="2081" y="531"/>
                  </a:lnTo>
                  <a:lnTo>
                    <a:pt x="2081" y="531"/>
                  </a:lnTo>
                  <a:lnTo>
                    <a:pt x="2070" y="519"/>
                  </a:lnTo>
                  <a:lnTo>
                    <a:pt x="2058" y="511"/>
                  </a:lnTo>
                  <a:lnTo>
                    <a:pt x="2046" y="503"/>
                  </a:lnTo>
                  <a:lnTo>
                    <a:pt x="2032" y="497"/>
                  </a:lnTo>
                  <a:lnTo>
                    <a:pt x="2019" y="493"/>
                  </a:lnTo>
                  <a:lnTo>
                    <a:pt x="2003" y="489"/>
                  </a:lnTo>
                  <a:lnTo>
                    <a:pt x="1987" y="488"/>
                  </a:lnTo>
                  <a:lnTo>
                    <a:pt x="1969" y="488"/>
                  </a:lnTo>
                  <a:lnTo>
                    <a:pt x="1969" y="488"/>
                  </a:lnTo>
                  <a:lnTo>
                    <a:pt x="1938" y="489"/>
                  </a:lnTo>
                  <a:lnTo>
                    <a:pt x="1905" y="495"/>
                  </a:lnTo>
                  <a:lnTo>
                    <a:pt x="1869" y="505"/>
                  </a:lnTo>
                  <a:lnTo>
                    <a:pt x="1832" y="519"/>
                  </a:lnTo>
                  <a:lnTo>
                    <a:pt x="1832" y="519"/>
                  </a:lnTo>
                  <a:lnTo>
                    <a:pt x="1790" y="537"/>
                  </a:lnTo>
                  <a:lnTo>
                    <a:pt x="1751" y="560"/>
                  </a:lnTo>
                  <a:lnTo>
                    <a:pt x="1712" y="588"/>
                  </a:lnTo>
                  <a:lnTo>
                    <a:pt x="1671" y="619"/>
                  </a:lnTo>
                  <a:lnTo>
                    <a:pt x="1753" y="350"/>
                  </a:lnTo>
                  <a:lnTo>
                    <a:pt x="1753" y="350"/>
                  </a:lnTo>
                  <a:lnTo>
                    <a:pt x="1773" y="289"/>
                  </a:lnTo>
                  <a:lnTo>
                    <a:pt x="1789" y="244"/>
                  </a:lnTo>
                  <a:lnTo>
                    <a:pt x="1804" y="208"/>
                  </a:lnTo>
                  <a:lnTo>
                    <a:pt x="1816" y="187"/>
                  </a:lnTo>
                  <a:lnTo>
                    <a:pt x="1816" y="187"/>
                  </a:lnTo>
                  <a:lnTo>
                    <a:pt x="1824" y="177"/>
                  </a:lnTo>
                  <a:lnTo>
                    <a:pt x="1834" y="167"/>
                  </a:lnTo>
                  <a:lnTo>
                    <a:pt x="1842" y="161"/>
                  </a:lnTo>
                  <a:lnTo>
                    <a:pt x="1851" y="155"/>
                  </a:lnTo>
                  <a:lnTo>
                    <a:pt x="1863" y="149"/>
                  </a:lnTo>
                  <a:lnTo>
                    <a:pt x="1873" y="147"/>
                  </a:lnTo>
                  <a:lnTo>
                    <a:pt x="1885" y="145"/>
                  </a:lnTo>
                  <a:lnTo>
                    <a:pt x="1897" y="144"/>
                  </a:lnTo>
                  <a:lnTo>
                    <a:pt x="1897" y="144"/>
                  </a:lnTo>
                  <a:lnTo>
                    <a:pt x="1926" y="145"/>
                  </a:lnTo>
                  <a:lnTo>
                    <a:pt x="1962" y="149"/>
                  </a:lnTo>
                  <a:lnTo>
                    <a:pt x="1962" y="149"/>
                  </a:lnTo>
                  <a:lnTo>
                    <a:pt x="2030" y="159"/>
                  </a:lnTo>
                  <a:lnTo>
                    <a:pt x="2076" y="161"/>
                  </a:lnTo>
                  <a:lnTo>
                    <a:pt x="2076" y="161"/>
                  </a:lnTo>
                  <a:lnTo>
                    <a:pt x="2095" y="161"/>
                  </a:lnTo>
                  <a:lnTo>
                    <a:pt x="2115" y="157"/>
                  </a:lnTo>
                  <a:lnTo>
                    <a:pt x="2131" y="153"/>
                  </a:lnTo>
                  <a:lnTo>
                    <a:pt x="2142" y="145"/>
                  </a:lnTo>
                  <a:lnTo>
                    <a:pt x="2142" y="145"/>
                  </a:lnTo>
                  <a:lnTo>
                    <a:pt x="2154" y="138"/>
                  </a:lnTo>
                  <a:lnTo>
                    <a:pt x="2160" y="128"/>
                  </a:lnTo>
                  <a:lnTo>
                    <a:pt x="2166" y="118"/>
                  </a:lnTo>
                  <a:lnTo>
                    <a:pt x="2166" y="108"/>
                  </a:lnTo>
                  <a:lnTo>
                    <a:pt x="2166" y="108"/>
                  </a:lnTo>
                  <a:close/>
                  <a:moveTo>
                    <a:pt x="1751" y="617"/>
                  </a:moveTo>
                  <a:lnTo>
                    <a:pt x="1751" y="617"/>
                  </a:lnTo>
                  <a:lnTo>
                    <a:pt x="1785" y="598"/>
                  </a:lnTo>
                  <a:lnTo>
                    <a:pt x="1814" y="584"/>
                  </a:lnTo>
                  <a:lnTo>
                    <a:pt x="1830" y="578"/>
                  </a:lnTo>
                  <a:lnTo>
                    <a:pt x="1844" y="576"/>
                  </a:lnTo>
                  <a:lnTo>
                    <a:pt x="1855" y="572"/>
                  </a:lnTo>
                  <a:lnTo>
                    <a:pt x="1869" y="572"/>
                  </a:lnTo>
                  <a:lnTo>
                    <a:pt x="1869" y="572"/>
                  </a:lnTo>
                  <a:lnTo>
                    <a:pt x="1887" y="574"/>
                  </a:lnTo>
                  <a:lnTo>
                    <a:pt x="1905" y="578"/>
                  </a:lnTo>
                  <a:lnTo>
                    <a:pt x="1918" y="588"/>
                  </a:lnTo>
                  <a:lnTo>
                    <a:pt x="1932" y="598"/>
                  </a:lnTo>
                  <a:lnTo>
                    <a:pt x="1932" y="598"/>
                  </a:lnTo>
                  <a:lnTo>
                    <a:pt x="1938" y="607"/>
                  </a:lnTo>
                  <a:lnTo>
                    <a:pt x="1946" y="619"/>
                  </a:lnTo>
                  <a:lnTo>
                    <a:pt x="1952" y="631"/>
                  </a:lnTo>
                  <a:lnTo>
                    <a:pt x="1956" y="643"/>
                  </a:lnTo>
                  <a:lnTo>
                    <a:pt x="1962" y="668"/>
                  </a:lnTo>
                  <a:lnTo>
                    <a:pt x="1963" y="698"/>
                  </a:lnTo>
                  <a:lnTo>
                    <a:pt x="1963" y="698"/>
                  </a:lnTo>
                  <a:lnTo>
                    <a:pt x="1963" y="731"/>
                  </a:lnTo>
                  <a:lnTo>
                    <a:pt x="1960" y="765"/>
                  </a:lnTo>
                  <a:lnTo>
                    <a:pt x="1952" y="798"/>
                  </a:lnTo>
                  <a:lnTo>
                    <a:pt x="1942" y="832"/>
                  </a:lnTo>
                  <a:lnTo>
                    <a:pt x="1930" y="865"/>
                  </a:lnTo>
                  <a:lnTo>
                    <a:pt x="1914" y="898"/>
                  </a:lnTo>
                  <a:lnTo>
                    <a:pt x="1897" y="932"/>
                  </a:lnTo>
                  <a:lnTo>
                    <a:pt x="1877" y="965"/>
                  </a:lnTo>
                  <a:lnTo>
                    <a:pt x="1877" y="965"/>
                  </a:lnTo>
                  <a:lnTo>
                    <a:pt x="1855" y="997"/>
                  </a:lnTo>
                  <a:lnTo>
                    <a:pt x="1832" y="1024"/>
                  </a:lnTo>
                  <a:lnTo>
                    <a:pt x="1808" y="1048"/>
                  </a:lnTo>
                  <a:lnTo>
                    <a:pt x="1785" y="1067"/>
                  </a:lnTo>
                  <a:lnTo>
                    <a:pt x="1759" y="1081"/>
                  </a:lnTo>
                  <a:lnTo>
                    <a:pt x="1733" y="1093"/>
                  </a:lnTo>
                  <a:lnTo>
                    <a:pt x="1706" y="1099"/>
                  </a:lnTo>
                  <a:lnTo>
                    <a:pt x="1680" y="1101"/>
                  </a:lnTo>
                  <a:lnTo>
                    <a:pt x="1680" y="1101"/>
                  </a:lnTo>
                  <a:lnTo>
                    <a:pt x="1657" y="1099"/>
                  </a:lnTo>
                  <a:lnTo>
                    <a:pt x="1637" y="1093"/>
                  </a:lnTo>
                  <a:lnTo>
                    <a:pt x="1618" y="1085"/>
                  </a:lnTo>
                  <a:lnTo>
                    <a:pt x="1600" y="1073"/>
                  </a:lnTo>
                  <a:lnTo>
                    <a:pt x="1600" y="1073"/>
                  </a:lnTo>
                  <a:lnTo>
                    <a:pt x="1584" y="1058"/>
                  </a:lnTo>
                  <a:lnTo>
                    <a:pt x="1572" y="1042"/>
                  </a:lnTo>
                  <a:lnTo>
                    <a:pt x="1566" y="1024"/>
                  </a:lnTo>
                  <a:lnTo>
                    <a:pt x="1564" y="1003"/>
                  </a:lnTo>
                  <a:lnTo>
                    <a:pt x="1564" y="1003"/>
                  </a:lnTo>
                  <a:lnTo>
                    <a:pt x="1566" y="975"/>
                  </a:lnTo>
                  <a:lnTo>
                    <a:pt x="1568" y="948"/>
                  </a:lnTo>
                  <a:lnTo>
                    <a:pt x="1572" y="920"/>
                  </a:lnTo>
                  <a:lnTo>
                    <a:pt x="1580" y="892"/>
                  </a:lnTo>
                  <a:lnTo>
                    <a:pt x="1588" y="863"/>
                  </a:lnTo>
                  <a:lnTo>
                    <a:pt x="1598" y="835"/>
                  </a:lnTo>
                  <a:lnTo>
                    <a:pt x="1610" y="806"/>
                  </a:lnTo>
                  <a:lnTo>
                    <a:pt x="1625" y="778"/>
                  </a:lnTo>
                  <a:lnTo>
                    <a:pt x="1625" y="778"/>
                  </a:lnTo>
                  <a:lnTo>
                    <a:pt x="1639" y="751"/>
                  </a:lnTo>
                  <a:lnTo>
                    <a:pt x="1655" y="725"/>
                  </a:lnTo>
                  <a:lnTo>
                    <a:pt x="1671" y="702"/>
                  </a:lnTo>
                  <a:lnTo>
                    <a:pt x="1686" y="680"/>
                  </a:lnTo>
                  <a:lnTo>
                    <a:pt x="1702" y="661"/>
                  </a:lnTo>
                  <a:lnTo>
                    <a:pt x="1718" y="645"/>
                  </a:lnTo>
                  <a:lnTo>
                    <a:pt x="1735" y="629"/>
                  </a:lnTo>
                  <a:lnTo>
                    <a:pt x="1751" y="617"/>
                  </a:lnTo>
                  <a:lnTo>
                    <a:pt x="1751" y="617"/>
                  </a:lnTo>
                  <a:close/>
                  <a:moveTo>
                    <a:pt x="4114" y="511"/>
                  </a:moveTo>
                  <a:lnTo>
                    <a:pt x="4114" y="511"/>
                  </a:lnTo>
                  <a:lnTo>
                    <a:pt x="4104" y="503"/>
                  </a:lnTo>
                  <a:lnTo>
                    <a:pt x="4092" y="499"/>
                  </a:lnTo>
                  <a:lnTo>
                    <a:pt x="4067" y="489"/>
                  </a:lnTo>
                  <a:lnTo>
                    <a:pt x="4037" y="486"/>
                  </a:lnTo>
                  <a:lnTo>
                    <a:pt x="4004" y="484"/>
                  </a:lnTo>
                  <a:lnTo>
                    <a:pt x="4004" y="484"/>
                  </a:lnTo>
                  <a:lnTo>
                    <a:pt x="3980" y="484"/>
                  </a:lnTo>
                  <a:lnTo>
                    <a:pt x="3955" y="486"/>
                  </a:lnTo>
                  <a:lnTo>
                    <a:pt x="3931" y="489"/>
                  </a:lnTo>
                  <a:lnTo>
                    <a:pt x="3907" y="495"/>
                  </a:lnTo>
                  <a:lnTo>
                    <a:pt x="3884" y="501"/>
                  </a:lnTo>
                  <a:lnTo>
                    <a:pt x="3860" y="509"/>
                  </a:lnTo>
                  <a:lnTo>
                    <a:pt x="3839" y="519"/>
                  </a:lnTo>
                  <a:lnTo>
                    <a:pt x="3817" y="529"/>
                  </a:lnTo>
                  <a:lnTo>
                    <a:pt x="3795" y="543"/>
                  </a:lnTo>
                  <a:lnTo>
                    <a:pt x="3774" y="556"/>
                  </a:lnTo>
                  <a:lnTo>
                    <a:pt x="3752" y="570"/>
                  </a:lnTo>
                  <a:lnTo>
                    <a:pt x="3732" y="588"/>
                  </a:lnTo>
                  <a:lnTo>
                    <a:pt x="3713" y="605"/>
                  </a:lnTo>
                  <a:lnTo>
                    <a:pt x="3693" y="625"/>
                  </a:lnTo>
                  <a:lnTo>
                    <a:pt x="3674" y="647"/>
                  </a:lnTo>
                  <a:lnTo>
                    <a:pt x="3656" y="668"/>
                  </a:lnTo>
                  <a:lnTo>
                    <a:pt x="3656" y="668"/>
                  </a:lnTo>
                  <a:lnTo>
                    <a:pt x="3626" y="710"/>
                  </a:lnTo>
                  <a:lnTo>
                    <a:pt x="3599" y="749"/>
                  </a:lnTo>
                  <a:lnTo>
                    <a:pt x="3577" y="790"/>
                  </a:lnTo>
                  <a:lnTo>
                    <a:pt x="3560" y="832"/>
                  </a:lnTo>
                  <a:lnTo>
                    <a:pt x="3544" y="873"/>
                  </a:lnTo>
                  <a:lnTo>
                    <a:pt x="3534" y="914"/>
                  </a:lnTo>
                  <a:lnTo>
                    <a:pt x="3528" y="955"/>
                  </a:lnTo>
                  <a:lnTo>
                    <a:pt x="3526" y="995"/>
                  </a:lnTo>
                  <a:lnTo>
                    <a:pt x="3526" y="995"/>
                  </a:lnTo>
                  <a:lnTo>
                    <a:pt x="3526" y="1014"/>
                  </a:lnTo>
                  <a:lnTo>
                    <a:pt x="3528" y="1034"/>
                  </a:lnTo>
                  <a:lnTo>
                    <a:pt x="3532" y="1050"/>
                  </a:lnTo>
                  <a:lnTo>
                    <a:pt x="3536" y="1065"/>
                  </a:lnTo>
                  <a:lnTo>
                    <a:pt x="3540" y="1079"/>
                  </a:lnTo>
                  <a:lnTo>
                    <a:pt x="3548" y="1093"/>
                  </a:lnTo>
                  <a:lnTo>
                    <a:pt x="3556" y="1105"/>
                  </a:lnTo>
                  <a:lnTo>
                    <a:pt x="3563" y="1115"/>
                  </a:lnTo>
                  <a:lnTo>
                    <a:pt x="3563" y="1115"/>
                  </a:lnTo>
                  <a:lnTo>
                    <a:pt x="3573" y="1122"/>
                  </a:lnTo>
                  <a:lnTo>
                    <a:pt x="3585" y="1130"/>
                  </a:lnTo>
                  <a:lnTo>
                    <a:pt x="3597" y="1136"/>
                  </a:lnTo>
                  <a:lnTo>
                    <a:pt x="3609" y="1142"/>
                  </a:lnTo>
                  <a:lnTo>
                    <a:pt x="3624" y="1146"/>
                  </a:lnTo>
                  <a:lnTo>
                    <a:pt x="3638" y="1148"/>
                  </a:lnTo>
                  <a:lnTo>
                    <a:pt x="3654" y="1150"/>
                  </a:lnTo>
                  <a:lnTo>
                    <a:pt x="3672" y="1150"/>
                  </a:lnTo>
                  <a:lnTo>
                    <a:pt x="3672" y="1150"/>
                  </a:lnTo>
                  <a:lnTo>
                    <a:pt x="3693" y="1150"/>
                  </a:lnTo>
                  <a:lnTo>
                    <a:pt x="3717" y="1148"/>
                  </a:lnTo>
                  <a:lnTo>
                    <a:pt x="3740" y="1144"/>
                  </a:lnTo>
                  <a:lnTo>
                    <a:pt x="3764" y="1140"/>
                  </a:lnTo>
                  <a:lnTo>
                    <a:pt x="3788" y="1134"/>
                  </a:lnTo>
                  <a:lnTo>
                    <a:pt x="3813" y="1126"/>
                  </a:lnTo>
                  <a:lnTo>
                    <a:pt x="3864" y="1107"/>
                  </a:lnTo>
                  <a:lnTo>
                    <a:pt x="3917" y="1081"/>
                  </a:lnTo>
                  <a:lnTo>
                    <a:pt x="3974" y="1050"/>
                  </a:lnTo>
                  <a:lnTo>
                    <a:pt x="4031" y="1014"/>
                  </a:lnTo>
                  <a:lnTo>
                    <a:pt x="4092" y="971"/>
                  </a:lnTo>
                  <a:lnTo>
                    <a:pt x="4059" y="938"/>
                  </a:lnTo>
                  <a:lnTo>
                    <a:pt x="4059" y="938"/>
                  </a:lnTo>
                  <a:lnTo>
                    <a:pt x="4000" y="971"/>
                  </a:lnTo>
                  <a:lnTo>
                    <a:pt x="3947" y="999"/>
                  </a:lnTo>
                  <a:lnTo>
                    <a:pt x="3903" y="1020"/>
                  </a:lnTo>
                  <a:lnTo>
                    <a:pt x="3866" y="1034"/>
                  </a:lnTo>
                  <a:lnTo>
                    <a:pt x="3866" y="1034"/>
                  </a:lnTo>
                  <a:lnTo>
                    <a:pt x="3843" y="1042"/>
                  </a:lnTo>
                  <a:lnTo>
                    <a:pt x="3819" y="1048"/>
                  </a:lnTo>
                  <a:lnTo>
                    <a:pt x="3797" y="1052"/>
                  </a:lnTo>
                  <a:lnTo>
                    <a:pt x="3776" y="1052"/>
                  </a:lnTo>
                  <a:lnTo>
                    <a:pt x="3776" y="1052"/>
                  </a:lnTo>
                  <a:lnTo>
                    <a:pt x="3756" y="1052"/>
                  </a:lnTo>
                  <a:lnTo>
                    <a:pt x="3738" y="1048"/>
                  </a:lnTo>
                  <a:lnTo>
                    <a:pt x="3723" y="1040"/>
                  </a:lnTo>
                  <a:lnTo>
                    <a:pt x="3711" y="1030"/>
                  </a:lnTo>
                  <a:lnTo>
                    <a:pt x="3711" y="1030"/>
                  </a:lnTo>
                  <a:lnTo>
                    <a:pt x="3705" y="1024"/>
                  </a:lnTo>
                  <a:lnTo>
                    <a:pt x="3701" y="1018"/>
                  </a:lnTo>
                  <a:lnTo>
                    <a:pt x="3693" y="1001"/>
                  </a:lnTo>
                  <a:lnTo>
                    <a:pt x="3689" y="981"/>
                  </a:lnTo>
                  <a:lnTo>
                    <a:pt x="3687" y="955"/>
                  </a:lnTo>
                  <a:lnTo>
                    <a:pt x="3687" y="955"/>
                  </a:lnTo>
                  <a:lnTo>
                    <a:pt x="3691" y="916"/>
                  </a:lnTo>
                  <a:lnTo>
                    <a:pt x="3697" y="875"/>
                  </a:lnTo>
                  <a:lnTo>
                    <a:pt x="3697" y="875"/>
                  </a:lnTo>
                  <a:lnTo>
                    <a:pt x="3854" y="820"/>
                  </a:lnTo>
                  <a:lnTo>
                    <a:pt x="3907" y="800"/>
                  </a:lnTo>
                  <a:lnTo>
                    <a:pt x="3945" y="784"/>
                  </a:lnTo>
                  <a:lnTo>
                    <a:pt x="3945" y="784"/>
                  </a:lnTo>
                  <a:lnTo>
                    <a:pt x="3998" y="759"/>
                  </a:lnTo>
                  <a:lnTo>
                    <a:pt x="4043" y="733"/>
                  </a:lnTo>
                  <a:lnTo>
                    <a:pt x="4078" y="708"/>
                  </a:lnTo>
                  <a:lnTo>
                    <a:pt x="4092" y="696"/>
                  </a:lnTo>
                  <a:lnTo>
                    <a:pt x="4106" y="684"/>
                  </a:lnTo>
                  <a:lnTo>
                    <a:pt x="4106" y="684"/>
                  </a:lnTo>
                  <a:lnTo>
                    <a:pt x="4126" y="659"/>
                  </a:lnTo>
                  <a:lnTo>
                    <a:pt x="4133" y="647"/>
                  </a:lnTo>
                  <a:lnTo>
                    <a:pt x="4139" y="635"/>
                  </a:lnTo>
                  <a:lnTo>
                    <a:pt x="4143" y="623"/>
                  </a:lnTo>
                  <a:lnTo>
                    <a:pt x="4147" y="609"/>
                  </a:lnTo>
                  <a:lnTo>
                    <a:pt x="4149" y="598"/>
                  </a:lnTo>
                  <a:lnTo>
                    <a:pt x="4151" y="586"/>
                  </a:lnTo>
                  <a:lnTo>
                    <a:pt x="4151" y="586"/>
                  </a:lnTo>
                  <a:lnTo>
                    <a:pt x="4149" y="574"/>
                  </a:lnTo>
                  <a:lnTo>
                    <a:pt x="4147" y="562"/>
                  </a:lnTo>
                  <a:lnTo>
                    <a:pt x="4145" y="552"/>
                  </a:lnTo>
                  <a:lnTo>
                    <a:pt x="4141" y="543"/>
                  </a:lnTo>
                  <a:lnTo>
                    <a:pt x="4135" y="535"/>
                  </a:lnTo>
                  <a:lnTo>
                    <a:pt x="4130" y="525"/>
                  </a:lnTo>
                  <a:lnTo>
                    <a:pt x="4122" y="517"/>
                  </a:lnTo>
                  <a:lnTo>
                    <a:pt x="4114" y="511"/>
                  </a:lnTo>
                  <a:lnTo>
                    <a:pt x="4114" y="511"/>
                  </a:lnTo>
                  <a:close/>
                  <a:moveTo>
                    <a:pt x="3951" y="708"/>
                  </a:moveTo>
                  <a:lnTo>
                    <a:pt x="3951" y="708"/>
                  </a:lnTo>
                  <a:lnTo>
                    <a:pt x="3929" y="723"/>
                  </a:lnTo>
                  <a:lnTo>
                    <a:pt x="3905" y="739"/>
                  </a:lnTo>
                  <a:lnTo>
                    <a:pt x="3878" y="755"/>
                  </a:lnTo>
                  <a:lnTo>
                    <a:pt x="3850" y="769"/>
                  </a:lnTo>
                  <a:lnTo>
                    <a:pt x="3819" y="784"/>
                  </a:lnTo>
                  <a:lnTo>
                    <a:pt x="3784" y="798"/>
                  </a:lnTo>
                  <a:lnTo>
                    <a:pt x="3709" y="826"/>
                  </a:lnTo>
                  <a:lnTo>
                    <a:pt x="3709" y="826"/>
                  </a:lnTo>
                  <a:lnTo>
                    <a:pt x="3721" y="782"/>
                  </a:lnTo>
                  <a:lnTo>
                    <a:pt x="3734" y="739"/>
                  </a:lnTo>
                  <a:lnTo>
                    <a:pt x="3752" y="698"/>
                  </a:lnTo>
                  <a:lnTo>
                    <a:pt x="3774" y="655"/>
                  </a:lnTo>
                  <a:lnTo>
                    <a:pt x="3774" y="655"/>
                  </a:lnTo>
                  <a:lnTo>
                    <a:pt x="3791" y="627"/>
                  </a:lnTo>
                  <a:lnTo>
                    <a:pt x="3809" y="604"/>
                  </a:lnTo>
                  <a:lnTo>
                    <a:pt x="3831" y="584"/>
                  </a:lnTo>
                  <a:lnTo>
                    <a:pt x="3852" y="568"/>
                  </a:lnTo>
                  <a:lnTo>
                    <a:pt x="3852" y="568"/>
                  </a:lnTo>
                  <a:lnTo>
                    <a:pt x="3870" y="558"/>
                  </a:lnTo>
                  <a:lnTo>
                    <a:pt x="3888" y="552"/>
                  </a:lnTo>
                  <a:lnTo>
                    <a:pt x="3905" y="548"/>
                  </a:lnTo>
                  <a:lnTo>
                    <a:pt x="3925" y="546"/>
                  </a:lnTo>
                  <a:lnTo>
                    <a:pt x="3925" y="546"/>
                  </a:lnTo>
                  <a:lnTo>
                    <a:pt x="3943" y="548"/>
                  </a:lnTo>
                  <a:lnTo>
                    <a:pt x="3957" y="552"/>
                  </a:lnTo>
                  <a:lnTo>
                    <a:pt x="3970" y="558"/>
                  </a:lnTo>
                  <a:lnTo>
                    <a:pt x="3984" y="566"/>
                  </a:lnTo>
                  <a:lnTo>
                    <a:pt x="3984" y="566"/>
                  </a:lnTo>
                  <a:lnTo>
                    <a:pt x="3994" y="578"/>
                  </a:lnTo>
                  <a:lnTo>
                    <a:pt x="4000" y="590"/>
                  </a:lnTo>
                  <a:lnTo>
                    <a:pt x="4004" y="604"/>
                  </a:lnTo>
                  <a:lnTo>
                    <a:pt x="4006" y="619"/>
                  </a:lnTo>
                  <a:lnTo>
                    <a:pt x="4006" y="619"/>
                  </a:lnTo>
                  <a:lnTo>
                    <a:pt x="4006" y="631"/>
                  </a:lnTo>
                  <a:lnTo>
                    <a:pt x="4002" y="641"/>
                  </a:lnTo>
                  <a:lnTo>
                    <a:pt x="3998" y="653"/>
                  </a:lnTo>
                  <a:lnTo>
                    <a:pt x="3992" y="662"/>
                  </a:lnTo>
                  <a:lnTo>
                    <a:pt x="3984" y="674"/>
                  </a:lnTo>
                  <a:lnTo>
                    <a:pt x="3974" y="686"/>
                  </a:lnTo>
                  <a:lnTo>
                    <a:pt x="3951" y="708"/>
                  </a:lnTo>
                  <a:lnTo>
                    <a:pt x="3951" y="708"/>
                  </a:lnTo>
                  <a:close/>
                  <a:moveTo>
                    <a:pt x="5391" y="65"/>
                  </a:moveTo>
                  <a:lnTo>
                    <a:pt x="5391" y="65"/>
                  </a:lnTo>
                  <a:lnTo>
                    <a:pt x="5380" y="59"/>
                  </a:lnTo>
                  <a:lnTo>
                    <a:pt x="5364" y="53"/>
                  </a:lnTo>
                  <a:lnTo>
                    <a:pt x="5346" y="49"/>
                  </a:lnTo>
                  <a:lnTo>
                    <a:pt x="5329" y="49"/>
                  </a:lnTo>
                  <a:lnTo>
                    <a:pt x="5329" y="49"/>
                  </a:lnTo>
                  <a:lnTo>
                    <a:pt x="5289" y="51"/>
                  </a:lnTo>
                  <a:lnTo>
                    <a:pt x="5250" y="55"/>
                  </a:lnTo>
                  <a:lnTo>
                    <a:pt x="5207" y="65"/>
                  </a:lnTo>
                  <a:lnTo>
                    <a:pt x="5165" y="77"/>
                  </a:lnTo>
                  <a:lnTo>
                    <a:pt x="5165" y="77"/>
                  </a:lnTo>
                  <a:lnTo>
                    <a:pt x="5122" y="90"/>
                  </a:lnTo>
                  <a:lnTo>
                    <a:pt x="5083" y="110"/>
                  </a:lnTo>
                  <a:lnTo>
                    <a:pt x="5044" y="130"/>
                  </a:lnTo>
                  <a:lnTo>
                    <a:pt x="5010" y="153"/>
                  </a:lnTo>
                  <a:lnTo>
                    <a:pt x="5010" y="153"/>
                  </a:lnTo>
                  <a:lnTo>
                    <a:pt x="4977" y="179"/>
                  </a:lnTo>
                  <a:lnTo>
                    <a:pt x="4947" y="208"/>
                  </a:lnTo>
                  <a:lnTo>
                    <a:pt x="4922" y="238"/>
                  </a:lnTo>
                  <a:lnTo>
                    <a:pt x="4898" y="271"/>
                  </a:lnTo>
                  <a:lnTo>
                    <a:pt x="4898" y="271"/>
                  </a:lnTo>
                  <a:lnTo>
                    <a:pt x="4876" y="311"/>
                  </a:lnTo>
                  <a:lnTo>
                    <a:pt x="4855" y="360"/>
                  </a:lnTo>
                  <a:lnTo>
                    <a:pt x="4831" y="421"/>
                  </a:lnTo>
                  <a:lnTo>
                    <a:pt x="4808" y="489"/>
                  </a:lnTo>
                  <a:lnTo>
                    <a:pt x="4808" y="489"/>
                  </a:lnTo>
                  <a:lnTo>
                    <a:pt x="4770" y="486"/>
                  </a:lnTo>
                  <a:lnTo>
                    <a:pt x="4743" y="486"/>
                  </a:lnTo>
                  <a:lnTo>
                    <a:pt x="4743" y="486"/>
                  </a:lnTo>
                  <a:lnTo>
                    <a:pt x="4717" y="486"/>
                  </a:lnTo>
                  <a:lnTo>
                    <a:pt x="4692" y="489"/>
                  </a:lnTo>
                  <a:lnTo>
                    <a:pt x="4666" y="493"/>
                  </a:lnTo>
                  <a:lnTo>
                    <a:pt x="4639" y="501"/>
                  </a:lnTo>
                  <a:lnTo>
                    <a:pt x="4611" y="511"/>
                  </a:lnTo>
                  <a:lnTo>
                    <a:pt x="4584" y="523"/>
                  </a:lnTo>
                  <a:lnTo>
                    <a:pt x="4554" y="537"/>
                  </a:lnTo>
                  <a:lnTo>
                    <a:pt x="4525" y="552"/>
                  </a:lnTo>
                  <a:lnTo>
                    <a:pt x="4525" y="552"/>
                  </a:lnTo>
                  <a:lnTo>
                    <a:pt x="4495" y="570"/>
                  </a:lnTo>
                  <a:lnTo>
                    <a:pt x="4466" y="592"/>
                  </a:lnTo>
                  <a:lnTo>
                    <a:pt x="4438" y="613"/>
                  </a:lnTo>
                  <a:lnTo>
                    <a:pt x="4411" y="639"/>
                  </a:lnTo>
                  <a:lnTo>
                    <a:pt x="4383" y="666"/>
                  </a:lnTo>
                  <a:lnTo>
                    <a:pt x="4358" y="696"/>
                  </a:lnTo>
                  <a:lnTo>
                    <a:pt x="4332" y="729"/>
                  </a:lnTo>
                  <a:lnTo>
                    <a:pt x="4308" y="763"/>
                  </a:lnTo>
                  <a:lnTo>
                    <a:pt x="4308" y="763"/>
                  </a:lnTo>
                  <a:lnTo>
                    <a:pt x="4285" y="798"/>
                  </a:lnTo>
                  <a:lnTo>
                    <a:pt x="4265" y="832"/>
                  </a:lnTo>
                  <a:lnTo>
                    <a:pt x="4247" y="865"/>
                  </a:lnTo>
                  <a:lnTo>
                    <a:pt x="4234" y="896"/>
                  </a:lnTo>
                  <a:lnTo>
                    <a:pt x="4224" y="928"/>
                  </a:lnTo>
                  <a:lnTo>
                    <a:pt x="4216" y="957"/>
                  </a:lnTo>
                  <a:lnTo>
                    <a:pt x="4212" y="987"/>
                  </a:lnTo>
                  <a:lnTo>
                    <a:pt x="4210" y="1014"/>
                  </a:lnTo>
                  <a:lnTo>
                    <a:pt x="4210" y="1014"/>
                  </a:lnTo>
                  <a:lnTo>
                    <a:pt x="4210" y="1030"/>
                  </a:lnTo>
                  <a:lnTo>
                    <a:pt x="4212" y="1046"/>
                  </a:lnTo>
                  <a:lnTo>
                    <a:pt x="4216" y="1062"/>
                  </a:lnTo>
                  <a:lnTo>
                    <a:pt x="4220" y="1075"/>
                  </a:lnTo>
                  <a:lnTo>
                    <a:pt x="4224" y="1087"/>
                  </a:lnTo>
                  <a:lnTo>
                    <a:pt x="4230" y="1099"/>
                  </a:lnTo>
                  <a:lnTo>
                    <a:pt x="4238" y="1109"/>
                  </a:lnTo>
                  <a:lnTo>
                    <a:pt x="4245" y="1119"/>
                  </a:lnTo>
                  <a:lnTo>
                    <a:pt x="4245" y="1119"/>
                  </a:lnTo>
                  <a:lnTo>
                    <a:pt x="4255" y="1126"/>
                  </a:lnTo>
                  <a:lnTo>
                    <a:pt x="4265" y="1134"/>
                  </a:lnTo>
                  <a:lnTo>
                    <a:pt x="4275" y="1140"/>
                  </a:lnTo>
                  <a:lnTo>
                    <a:pt x="4287" y="1146"/>
                  </a:lnTo>
                  <a:lnTo>
                    <a:pt x="4299" y="1150"/>
                  </a:lnTo>
                  <a:lnTo>
                    <a:pt x="4310" y="1152"/>
                  </a:lnTo>
                  <a:lnTo>
                    <a:pt x="4336" y="1154"/>
                  </a:lnTo>
                  <a:lnTo>
                    <a:pt x="4336" y="1154"/>
                  </a:lnTo>
                  <a:lnTo>
                    <a:pt x="4367" y="1152"/>
                  </a:lnTo>
                  <a:lnTo>
                    <a:pt x="4403" y="1146"/>
                  </a:lnTo>
                  <a:lnTo>
                    <a:pt x="4440" y="1134"/>
                  </a:lnTo>
                  <a:lnTo>
                    <a:pt x="4479" y="1119"/>
                  </a:lnTo>
                  <a:lnTo>
                    <a:pt x="4479" y="1119"/>
                  </a:lnTo>
                  <a:lnTo>
                    <a:pt x="4499" y="1109"/>
                  </a:lnTo>
                  <a:lnTo>
                    <a:pt x="4521" y="1097"/>
                  </a:lnTo>
                  <a:lnTo>
                    <a:pt x="4570" y="1067"/>
                  </a:lnTo>
                  <a:lnTo>
                    <a:pt x="4621" y="1030"/>
                  </a:lnTo>
                  <a:lnTo>
                    <a:pt x="4678" y="985"/>
                  </a:lnTo>
                  <a:lnTo>
                    <a:pt x="4644" y="1079"/>
                  </a:lnTo>
                  <a:lnTo>
                    <a:pt x="4644" y="1079"/>
                  </a:lnTo>
                  <a:lnTo>
                    <a:pt x="4635" y="1105"/>
                  </a:lnTo>
                  <a:lnTo>
                    <a:pt x="4633" y="1122"/>
                  </a:lnTo>
                  <a:lnTo>
                    <a:pt x="4633" y="1122"/>
                  </a:lnTo>
                  <a:lnTo>
                    <a:pt x="4635" y="1128"/>
                  </a:lnTo>
                  <a:lnTo>
                    <a:pt x="4637" y="1134"/>
                  </a:lnTo>
                  <a:lnTo>
                    <a:pt x="4641" y="1140"/>
                  </a:lnTo>
                  <a:lnTo>
                    <a:pt x="4648" y="1144"/>
                  </a:lnTo>
                  <a:lnTo>
                    <a:pt x="4648" y="1144"/>
                  </a:lnTo>
                  <a:lnTo>
                    <a:pt x="4656" y="1150"/>
                  </a:lnTo>
                  <a:lnTo>
                    <a:pt x="4664" y="1152"/>
                  </a:lnTo>
                  <a:lnTo>
                    <a:pt x="4676" y="1154"/>
                  </a:lnTo>
                  <a:lnTo>
                    <a:pt x="4686" y="1156"/>
                  </a:lnTo>
                  <a:lnTo>
                    <a:pt x="4686" y="1156"/>
                  </a:lnTo>
                  <a:lnTo>
                    <a:pt x="4715" y="1154"/>
                  </a:lnTo>
                  <a:lnTo>
                    <a:pt x="4749" y="1146"/>
                  </a:lnTo>
                  <a:lnTo>
                    <a:pt x="4786" y="1134"/>
                  </a:lnTo>
                  <a:lnTo>
                    <a:pt x="4829" y="1117"/>
                  </a:lnTo>
                  <a:lnTo>
                    <a:pt x="4829" y="1117"/>
                  </a:lnTo>
                  <a:lnTo>
                    <a:pt x="4865" y="1099"/>
                  </a:lnTo>
                  <a:lnTo>
                    <a:pt x="4910" y="1073"/>
                  </a:lnTo>
                  <a:lnTo>
                    <a:pt x="4965" y="1040"/>
                  </a:lnTo>
                  <a:lnTo>
                    <a:pt x="5028" y="1001"/>
                  </a:lnTo>
                  <a:lnTo>
                    <a:pt x="5000" y="971"/>
                  </a:lnTo>
                  <a:lnTo>
                    <a:pt x="5000" y="971"/>
                  </a:lnTo>
                  <a:lnTo>
                    <a:pt x="4918" y="1018"/>
                  </a:lnTo>
                  <a:lnTo>
                    <a:pt x="4888" y="1034"/>
                  </a:lnTo>
                  <a:lnTo>
                    <a:pt x="4867" y="1044"/>
                  </a:lnTo>
                  <a:lnTo>
                    <a:pt x="4867" y="1044"/>
                  </a:lnTo>
                  <a:lnTo>
                    <a:pt x="4845" y="1052"/>
                  </a:lnTo>
                  <a:lnTo>
                    <a:pt x="4825" y="1056"/>
                  </a:lnTo>
                  <a:lnTo>
                    <a:pt x="4825" y="1056"/>
                  </a:lnTo>
                  <a:lnTo>
                    <a:pt x="4814" y="1054"/>
                  </a:lnTo>
                  <a:lnTo>
                    <a:pt x="4808" y="1050"/>
                  </a:lnTo>
                  <a:lnTo>
                    <a:pt x="4804" y="1048"/>
                  </a:lnTo>
                  <a:lnTo>
                    <a:pt x="4800" y="1044"/>
                  </a:lnTo>
                  <a:lnTo>
                    <a:pt x="4798" y="1038"/>
                  </a:lnTo>
                  <a:lnTo>
                    <a:pt x="4796" y="1026"/>
                  </a:lnTo>
                  <a:lnTo>
                    <a:pt x="4796" y="1026"/>
                  </a:lnTo>
                  <a:lnTo>
                    <a:pt x="4798" y="1008"/>
                  </a:lnTo>
                  <a:lnTo>
                    <a:pt x="4804" y="985"/>
                  </a:lnTo>
                  <a:lnTo>
                    <a:pt x="4821" y="916"/>
                  </a:lnTo>
                  <a:lnTo>
                    <a:pt x="4963" y="452"/>
                  </a:lnTo>
                  <a:lnTo>
                    <a:pt x="4963" y="452"/>
                  </a:lnTo>
                  <a:lnTo>
                    <a:pt x="5010" y="305"/>
                  </a:lnTo>
                  <a:lnTo>
                    <a:pt x="5026" y="258"/>
                  </a:lnTo>
                  <a:lnTo>
                    <a:pt x="5036" y="232"/>
                  </a:lnTo>
                  <a:lnTo>
                    <a:pt x="5036" y="232"/>
                  </a:lnTo>
                  <a:lnTo>
                    <a:pt x="5047" y="206"/>
                  </a:lnTo>
                  <a:lnTo>
                    <a:pt x="5059" y="187"/>
                  </a:lnTo>
                  <a:lnTo>
                    <a:pt x="5073" y="171"/>
                  </a:lnTo>
                  <a:lnTo>
                    <a:pt x="5087" y="161"/>
                  </a:lnTo>
                  <a:lnTo>
                    <a:pt x="5087" y="161"/>
                  </a:lnTo>
                  <a:lnTo>
                    <a:pt x="5101" y="153"/>
                  </a:lnTo>
                  <a:lnTo>
                    <a:pt x="5114" y="147"/>
                  </a:lnTo>
                  <a:lnTo>
                    <a:pt x="5130" y="145"/>
                  </a:lnTo>
                  <a:lnTo>
                    <a:pt x="5148" y="144"/>
                  </a:lnTo>
                  <a:lnTo>
                    <a:pt x="5148" y="144"/>
                  </a:lnTo>
                  <a:lnTo>
                    <a:pt x="5183" y="145"/>
                  </a:lnTo>
                  <a:lnTo>
                    <a:pt x="5240" y="151"/>
                  </a:lnTo>
                  <a:lnTo>
                    <a:pt x="5240" y="151"/>
                  </a:lnTo>
                  <a:lnTo>
                    <a:pt x="5297" y="157"/>
                  </a:lnTo>
                  <a:lnTo>
                    <a:pt x="5334" y="159"/>
                  </a:lnTo>
                  <a:lnTo>
                    <a:pt x="5334" y="159"/>
                  </a:lnTo>
                  <a:lnTo>
                    <a:pt x="5352" y="159"/>
                  </a:lnTo>
                  <a:lnTo>
                    <a:pt x="5368" y="155"/>
                  </a:lnTo>
                  <a:lnTo>
                    <a:pt x="5382" y="151"/>
                  </a:lnTo>
                  <a:lnTo>
                    <a:pt x="5393" y="145"/>
                  </a:lnTo>
                  <a:lnTo>
                    <a:pt x="5393" y="145"/>
                  </a:lnTo>
                  <a:lnTo>
                    <a:pt x="5403" y="136"/>
                  </a:lnTo>
                  <a:lnTo>
                    <a:pt x="5411" y="128"/>
                  </a:lnTo>
                  <a:lnTo>
                    <a:pt x="5415" y="118"/>
                  </a:lnTo>
                  <a:lnTo>
                    <a:pt x="5415" y="106"/>
                  </a:lnTo>
                  <a:lnTo>
                    <a:pt x="5415" y="106"/>
                  </a:lnTo>
                  <a:lnTo>
                    <a:pt x="5415" y="94"/>
                  </a:lnTo>
                  <a:lnTo>
                    <a:pt x="5409" y="83"/>
                  </a:lnTo>
                  <a:lnTo>
                    <a:pt x="5403" y="75"/>
                  </a:lnTo>
                  <a:lnTo>
                    <a:pt x="5391" y="65"/>
                  </a:lnTo>
                  <a:lnTo>
                    <a:pt x="5391" y="65"/>
                  </a:lnTo>
                  <a:close/>
                  <a:moveTo>
                    <a:pt x="4741" y="729"/>
                  </a:moveTo>
                  <a:lnTo>
                    <a:pt x="4741" y="729"/>
                  </a:lnTo>
                  <a:lnTo>
                    <a:pt x="4719" y="798"/>
                  </a:lnTo>
                  <a:lnTo>
                    <a:pt x="4700" y="851"/>
                  </a:lnTo>
                  <a:lnTo>
                    <a:pt x="4684" y="892"/>
                  </a:lnTo>
                  <a:lnTo>
                    <a:pt x="4676" y="906"/>
                  </a:lnTo>
                  <a:lnTo>
                    <a:pt x="4668" y="918"/>
                  </a:lnTo>
                  <a:lnTo>
                    <a:pt x="4668" y="918"/>
                  </a:lnTo>
                  <a:lnTo>
                    <a:pt x="4644" y="948"/>
                  </a:lnTo>
                  <a:lnTo>
                    <a:pt x="4615" y="973"/>
                  </a:lnTo>
                  <a:lnTo>
                    <a:pt x="4584" y="999"/>
                  </a:lnTo>
                  <a:lnTo>
                    <a:pt x="4546" y="1020"/>
                  </a:lnTo>
                  <a:lnTo>
                    <a:pt x="4546" y="1020"/>
                  </a:lnTo>
                  <a:lnTo>
                    <a:pt x="4521" y="1034"/>
                  </a:lnTo>
                  <a:lnTo>
                    <a:pt x="4495" y="1042"/>
                  </a:lnTo>
                  <a:lnTo>
                    <a:pt x="4473" y="1048"/>
                  </a:lnTo>
                  <a:lnTo>
                    <a:pt x="4452" y="1050"/>
                  </a:lnTo>
                  <a:lnTo>
                    <a:pt x="4452" y="1050"/>
                  </a:lnTo>
                  <a:lnTo>
                    <a:pt x="4434" y="1048"/>
                  </a:lnTo>
                  <a:lnTo>
                    <a:pt x="4418" y="1044"/>
                  </a:lnTo>
                  <a:lnTo>
                    <a:pt x="4403" y="1036"/>
                  </a:lnTo>
                  <a:lnTo>
                    <a:pt x="4389" y="1024"/>
                  </a:lnTo>
                  <a:lnTo>
                    <a:pt x="4389" y="1024"/>
                  </a:lnTo>
                  <a:lnTo>
                    <a:pt x="4377" y="1010"/>
                  </a:lnTo>
                  <a:lnTo>
                    <a:pt x="4367" y="997"/>
                  </a:lnTo>
                  <a:lnTo>
                    <a:pt x="4363" y="979"/>
                  </a:lnTo>
                  <a:lnTo>
                    <a:pt x="4361" y="959"/>
                  </a:lnTo>
                  <a:lnTo>
                    <a:pt x="4361" y="959"/>
                  </a:lnTo>
                  <a:lnTo>
                    <a:pt x="4361" y="938"/>
                  </a:lnTo>
                  <a:lnTo>
                    <a:pt x="4365" y="916"/>
                  </a:lnTo>
                  <a:lnTo>
                    <a:pt x="4369" y="891"/>
                  </a:lnTo>
                  <a:lnTo>
                    <a:pt x="4375" y="867"/>
                  </a:lnTo>
                  <a:lnTo>
                    <a:pt x="4385" y="841"/>
                  </a:lnTo>
                  <a:lnTo>
                    <a:pt x="4395" y="814"/>
                  </a:lnTo>
                  <a:lnTo>
                    <a:pt x="4407" y="786"/>
                  </a:lnTo>
                  <a:lnTo>
                    <a:pt x="4420" y="757"/>
                  </a:lnTo>
                  <a:lnTo>
                    <a:pt x="4420" y="757"/>
                  </a:lnTo>
                  <a:lnTo>
                    <a:pt x="4436" y="729"/>
                  </a:lnTo>
                  <a:lnTo>
                    <a:pt x="4450" y="704"/>
                  </a:lnTo>
                  <a:lnTo>
                    <a:pt x="4466" y="682"/>
                  </a:lnTo>
                  <a:lnTo>
                    <a:pt x="4481" y="661"/>
                  </a:lnTo>
                  <a:lnTo>
                    <a:pt x="4497" y="643"/>
                  </a:lnTo>
                  <a:lnTo>
                    <a:pt x="4513" y="625"/>
                  </a:lnTo>
                  <a:lnTo>
                    <a:pt x="4529" y="613"/>
                  </a:lnTo>
                  <a:lnTo>
                    <a:pt x="4544" y="602"/>
                  </a:lnTo>
                  <a:lnTo>
                    <a:pt x="4544" y="602"/>
                  </a:lnTo>
                  <a:lnTo>
                    <a:pt x="4576" y="584"/>
                  </a:lnTo>
                  <a:lnTo>
                    <a:pt x="4591" y="576"/>
                  </a:lnTo>
                  <a:lnTo>
                    <a:pt x="4609" y="570"/>
                  </a:lnTo>
                  <a:lnTo>
                    <a:pt x="4625" y="566"/>
                  </a:lnTo>
                  <a:lnTo>
                    <a:pt x="4641" y="564"/>
                  </a:lnTo>
                  <a:lnTo>
                    <a:pt x="4658" y="562"/>
                  </a:lnTo>
                  <a:lnTo>
                    <a:pt x="4674" y="560"/>
                  </a:lnTo>
                  <a:lnTo>
                    <a:pt x="4674" y="560"/>
                  </a:lnTo>
                  <a:lnTo>
                    <a:pt x="4694" y="562"/>
                  </a:lnTo>
                  <a:lnTo>
                    <a:pt x="4719" y="564"/>
                  </a:lnTo>
                  <a:lnTo>
                    <a:pt x="4788" y="574"/>
                  </a:lnTo>
                  <a:lnTo>
                    <a:pt x="4741" y="729"/>
                  </a:lnTo>
                  <a:close/>
                  <a:moveTo>
                    <a:pt x="3418" y="511"/>
                  </a:moveTo>
                  <a:lnTo>
                    <a:pt x="3418" y="511"/>
                  </a:lnTo>
                  <a:lnTo>
                    <a:pt x="3408" y="503"/>
                  </a:lnTo>
                  <a:lnTo>
                    <a:pt x="3396" y="499"/>
                  </a:lnTo>
                  <a:lnTo>
                    <a:pt x="3373" y="489"/>
                  </a:lnTo>
                  <a:lnTo>
                    <a:pt x="3343" y="486"/>
                  </a:lnTo>
                  <a:lnTo>
                    <a:pt x="3310" y="484"/>
                  </a:lnTo>
                  <a:lnTo>
                    <a:pt x="3310" y="484"/>
                  </a:lnTo>
                  <a:lnTo>
                    <a:pt x="3284" y="484"/>
                  </a:lnTo>
                  <a:lnTo>
                    <a:pt x="3259" y="486"/>
                  </a:lnTo>
                  <a:lnTo>
                    <a:pt x="3235" y="489"/>
                  </a:lnTo>
                  <a:lnTo>
                    <a:pt x="3212" y="495"/>
                  </a:lnTo>
                  <a:lnTo>
                    <a:pt x="3188" y="501"/>
                  </a:lnTo>
                  <a:lnTo>
                    <a:pt x="3164" y="509"/>
                  </a:lnTo>
                  <a:lnTo>
                    <a:pt x="3143" y="519"/>
                  </a:lnTo>
                  <a:lnTo>
                    <a:pt x="3121" y="529"/>
                  </a:lnTo>
                  <a:lnTo>
                    <a:pt x="3100" y="543"/>
                  </a:lnTo>
                  <a:lnTo>
                    <a:pt x="3078" y="556"/>
                  </a:lnTo>
                  <a:lnTo>
                    <a:pt x="3058" y="570"/>
                  </a:lnTo>
                  <a:lnTo>
                    <a:pt x="3037" y="588"/>
                  </a:lnTo>
                  <a:lnTo>
                    <a:pt x="3017" y="605"/>
                  </a:lnTo>
                  <a:lnTo>
                    <a:pt x="2997" y="625"/>
                  </a:lnTo>
                  <a:lnTo>
                    <a:pt x="2980" y="647"/>
                  </a:lnTo>
                  <a:lnTo>
                    <a:pt x="2960" y="668"/>
                  </a:lnTo>
                  <a:lnTo>
                    <a:pt x="2960" y="668"/>
                  </a:lnTo>
                  <a:lnTo>
                    <a:pt x="2931" y="710"/>
                  </a:lnTo>
                  <a:lnTo>
                    <a:pt x="2905" y="749"/>
                  </a:lnTo>
                  <a:lnTo>
                    <a:pt x="2881" y="790"/>
                  </a:lnTo>
                  <a:lnTo>
                    <a:pt x="2864" y="832"/>
                  </a:lnTo>
                  <a:lnTo>
                    <a:pt x="2850" y="873"/>
                  </a:lnTo>
                  <a:lnTo>
                    <a:pt x="2840" y="914"/>
                  </a:lnTo>
                  <a:lnTo>
                    <a:pt x="2832" y="955"/>
                  </a:lnTo>
                  <a:lnTo>
                    <a:pt x="2830" y="995"/>
                  </a:lnTo>
                  <a:lnTo>
                    <a:pt x="2830" y="995"/>
                  </a:lnTo>
                  <a:lnTo>
                    <a:pt x="2832" y="1014"/>
                  </a:lnTo>
                  <a:lnTo>
                    <a:pt x="2834" y="1034"/>
                  </a:lnTo>
                  <a:lnTo>
                    <a:pt x="2836" y="1050"/>
                  </a:lnTo>
                  <a:lnTo>
                    <a:pt x="2840" y="1065"/>
                  </a:lnTo>
                  <a:lnTo>
                    <a:pt x="2846" y="1079"/>
                  </a:lnTo>
                  <a:lnTo>
                    <a:pt x="2852" y="1093"/>
                  </a:lnTo>
                  <a:lnTo>
                    <a:pt x="2860" y="1105"/>
                  </a:lnTo>
                  <a:lnTo>
                    <a:pt x="2868" y="1115"/>
                  </a:lnTo>
                  <a:lnTo>
                    <a:pt x="2868" y="1115"/>
                  </a:lnTo>
                  <a:lnTo>
                    <a:pt x="2877" y="1122"/>
                  </a:lnTo>
                  <a:lnTo>
                    <a:pt x="2889" y="1130"/>
                  </a:lnTo>
                  <a:lnTo>
                    <a:pt x="2901" y="1136"/>
                  </a:lnTo>
                  <a:lnTo>
                    <a:pt x="2915" y="1142"/>
                  </a:lnTo>
                  <a:lnTo>
                    <a:pt x="2929" y="1146"/>
                  </a:lnTo>
                  <a:lnTo>
                    <a:pt x="2944" y="1148"/>
                  </a:lnTo>
                  <a:lnTo>
                    <a:pt x="2960" y="1150"/>
                  </a:lnTo>
                  <a:lnTo>
                    <a:pt x="2978" y="1150"/>
                  </a:lnTo>
                  <a:lnTo>
                    <a:pt x="2978" y="1150"/>
                  </a:lnTo>
                  <a:lnTo>
                    <a:pt x="2999" y="1150"/>
                  </a:lnTo>
                  <a:lnTo>
                    <a:pt x="3021" y="1148"/>
                  </a:lnTo>
                  <a:lnTo>
                    <a:pt x="3045" y="1144"/>
                  </a:lnTo>
                  <a:lnTo>
                    <a:pt x="3068" y="1140"/>
                  </a:lnTo>
                  <a:lnTo>
                    <a:pt x="3094" y="1134"/>
                  </a:lnTo>
                  <a:lnTo>
                    <a:pt x="3117" y="1126"/>
                  </a:lnTo>
                  <a:lnTo>
                    <a:pt x="3168" y="1107"/>
                  </a:lnTo>
                  <a:lnTo>
                    <a:pt x="3223" y="1081"/>
                  </a:lnTo>
                  <a:lnTo>
                    <a:pt x="3278" y="1050"/>
                  </a:lnTo>
                  <a:lnTo>
                    <a:pt x="3335" y="1014"/>
                  </a:lnTo>
                  <a:lnTo>
                    <a:pt x="3396" y="971"/>
                  </a:lnTo>
                  <a:lnTo>
                    <a:pt x="3363" y="938"/>
                  </a:lnTo>
                  <a:lnTo>
                    <a:pt x="3363" y="938"/>
                  </a:lnTo>
                  <a:lnTo>
                    <a:pt x="3304" y="971"/>
                  </a:lnTo>
                  <a:lnTo>
                    <a:pt x="3251" y="999"/>
                  </a:lnTo>
                  <a:lnTo>
                    <a:pt x="3208" y="1020"/>
                  </a:lnTo>
                  <a:lnTo>
                    <a:pt x="3170" y="1034"/>
                  </a:lnTo>
                  <a:lnTo>
                    <a:pt x="3170" y="1034"/>
                  </a:lnTo>
                  <a:lnTo>
                    <a:pt x="3147" y="1042"/>
                  </a:lnTo>
                  <a:lnTo>
                    <a:pt x="3123" y="1048"/>
                  </a:lnTo>
                  <a:lnTo>
                    <a:pt x="3102" y="1052"/>
                  </a:lnTo>
                  <a:lnTo>
                    <a:pt x="3080" y="1052"/>
                  </a:lnTo>
                  <a:lnTo>
                    <a:pt x="3080" y="1052"/>
                  </a:lnTo>
                  <a:lnTo>
                    <a:pt x="3060" y="1052"/>
                  </a:lnTo>
                  <a:lnTo>
                    <a:pt x="3043" y="1048"/>
                  </a:lnTo>
                  <a:lnTo>
                    <a:pt x="3029" y="1040"/>
                  </a:lnTo>
                  <a:lnTo>
                    <a:pt x="3015" y="1030"/>
                  </a:lnTo>
                  <a:lnTo>
                    <a:pt x="3015" y="1030"/>
                  </a:lnTo>
                  <a:lnTo>
                    <a:pt x="3009" y="1024"/>
                  </a:lnTo>
                  <a:lnTo>
                    <a:pt x="3005" y="1018"/>
                  </a:lnTo>
                  <a:lnTo>
                    <a:pt x="2999" y="1001"/>
                  </a:lnTo>
                  <a:lnTo>
                    <a:pt x="2993" y="981"/>
                  </a:lnTo>
                  <a:lnTo>
                    <a:pt x="2993" y="955"/>
                  </a:lnTo>
                  <a:lnTo>
                    <a:pt x="2993" y="955"/>
                  </a:lnTo>
                  <a:lnTo>
                    <a:pt x="2995" y="916"/>
                  </a:lnTo>
                  <a:lnTo>
                    <a:pt x="3001" y="875"/>
                  </a:lnTo>
                  <a:lnTo>
                    <a:pt x="3001" y="875"/>
                  </a:lnTo>
                  <a:lnTo>
                    <a:pt x="3159" y="820"/>
                  </a:lnTo>
                  <a:lnTo>
                    <a:pt x="3212" y="800"/>
                  </a:lnTo>
                  <a:lnTo>
                    <a:pt x="3249" y="784"/>
                  </a:lnTo>
                  <a:lnTo>
                    <a:pt x="3249" y="784"/>
                  </a:lnTo>
                  <a:lnTo>
                    <a:pt x="3304" y="759"/>
                  </a:lnTo>
                  <a:lnTo>
                    <a:pt x="3347" y="733"/>
                  </a:lnTo>
                  <a:lnTo>
                    <a:pt x="3383" y="708"/>
                  </a:lnTo>
                  <a:lnTo>
                    <a:pt x="3398" y="696"/>
                  </a:lnTo>
                  <a:lnTo>
                    <a:pt x="3410" y="684"/>
                  </a:lnTo>
                  <a:lnTo>
                    <a:pt x="3410" y="684"/>
                  </a:lnTo>
                  <a:lnTo>
                    <a:pt x="3430" y="659"/>
                  </a:lnTo>
                  <a:lnTo>
                    <a:pt x="3438" y="647"/>
                  </a:lnTo>
                  <a:lnTo>
                    <a:pt x="3444" y="635"/>
                  </a:lnTo>
                  <a:lnTo>
                    <a:pt x="3449" y="623"/>
                  </a:lnTo>
                  <a:lnTo>
                    <a:pt x="3453" y="609"/>
                  </a:lnTo>
                  <a:lnTo>
                    <a:pt x="3455" y="598"/>
                  </a:lnTo>
                  <a:lnTo>
                    <a:pt x="3455" y="586"/>
                  </a:lnTo>
                  <a:lnTo>
                    <a:pt x="3455" y="586"/>
                  </a:lnTo>
                  <a:lnTo>
                    <a:pt x="3455" y="574"/>
                  </a:lnTo>
                  <a:lnTo>
                    <a:pt x="3453" y="562"/>
                  </a:lnTo>
                  <a:lnTo>
                    <a:pt x="3449" y="552"/>
                  </a:lnTo>
                  <a:lnTo>
                    <a:pt x="3446" y="543"/>
                  </a:lnTo>
                  <a:lnTo>
                    <a:pt x="3442" y="535"/>
                  </a:lnTo>
                  <a:lnTo>
                    <a:pt x="3434" y="525"/>
                  </a:lnTo>
                  <a:lnTo>
                    <a:pt x="3426" y="517"/>
                  </a:lnTo>
                  <a:lnTo>
                    <a:pt x="3418" y="511"/>
                  </a:lnTo>
                  <a:lnTo>
                    <a:pt x="3418" y="511"/>
                  </a:lnTo>
                  <a:close/>
                  <a:moveTo>
                    <a:pt x="3255" y="708"/>
                  </a:moveTo>
                  <a:lnTo>
                    <a:pt x="3255" y="708"/>
                  </a:lnTo>
                  <a:lnTo>
                    <a:pt x="3233" y="723"/>
                  </a:lnTo>
                  <a:lnTo>
                    <a:pt x="3210" y="739"/>
                  </a:lnTo>
                  <a:lnTo>
                    <a:pt x="3184" y="755"/>
                  </a:lnTo>
                  <a:lnTo>
                    <a:pt x="3155" y="769"/>
                  </a:lnTo>
                  <a:lnTo>
                    <a:pt x="3123" y="784"/>
                  </a:lnTo>
                  <a:lnTo>
                    <a:pt x="3090" y="798"/>
                  </a:lnTo>
                  <a:lnTo>
                    <a:pt x="3013" y="826"/>
                  </a:lnTo>
                  <a:lnTo>
                    <a:pt x="3013" y="826"/>
                  </a:lnTo>
                  <a:lnTo>
                    <a:pt x="3025" y="782"/>
                  </a:lnTo>
                  <a:lnTo>
                    <a:pt x="3039" y="739"/>
                  </a:lnTo>
                  <a:lnTo>
                    <a:pt x="3058" y="698"/>
                  </a:lnTo>
                  <a:lnTo>
                    <a:pt x="3078" y="655"/>
                  </a:lnTo>
                  <a:lnTo>
                    <a:pt x="3078" y="655"/>
                  </a:lnTo>
                  <a:lnTo>
                    <a:pt x="3096" y="627"/>
                  </a:lnTo>
                  <a:lnTo>
                    <a:pt x="3115" y="604"/>
                  </a:lnTo>
                  <a:lnTo>
                    <a:pt x="3135" y="584"/>
                  </a:lnTo>
                  <a:lnTo>
                    <a:pt x="3159" y="568"/>
                  </a:lnTo>
                  <a:lnTo>
                    <a:pt x="3159" y="568"/>
                  </a:lnTo>
                  <a:lnTo>
                    <a:pt x="3176" y="558"/>
                  </a:lnTo>
                  <a:lnTo>
                    <a:pt x="3194" y="552"/>
                  </a:lnTo>
                  <a:lnTo>
                    <a:pt x="3212" y="548"/>
                  </a:lnTo>
                  <a:lnTo>
                    <a:pt x="3229" y="546"/>
                  </a:lnTo>
                  <a:lnTo>
                    <a:pt x="3229" y="546"/>
                  </a:lnTo>
                  <a:lnTo>
                    <a:pt x="3247" y="548"/>
                  </a:lnTo>
                  <a:lnTo>
                    <a:pt x="3263" y="552"/>
                  </a:lnTo>
                  <a:lnTo>
                    <a:pt x="3276" y="558"/>
                  </a:lnTo>
                  <a:lnTo>
                    <a:pt x="3288" y="566"/>
                  </a:lnTo>
                  <a:lnTo>
                    <a:pt x="3288" y="566"/>
                  </a:lnTo>
                  <a:lnTo>
                    <a:pt x="3298" y="578"/>
                  </a:lnTo>
                  <a:lnTo>
                    <a:pt x="3304" y="590"/>
                  </a:lnTo>
                  <a:lnTo>
                    <a:pt x="3310" y="604"/>
                  </a:lnTo>
                  <a:lnTo>
                    <a:pt x="3310" y="619"/>
                  </a:lnTo>
                  <a:lnTo>
                    <a:pt x="3310" y="619"/>
                  </a:lnTo>
                  <a:lnTo>
                    <a:pt x="3310" y="631"/>
                  </a:lnTo>
                  <a:lnTo>
                    <a:pt x="3308" y="641"/>
                  </a:lnTo>
                  <a:lnTo>
                    <a:pt x="3302" y="653"/>
                  </a:lnTo>
                  <a:lnTo>
                    <a:pt x="3296" y="662"/>
                  </a:lnTo>
                  <a:lnTo>
                    <a:pt x="3288" y="674"/>
                  </a:lnTo>
                  <a:lnTo>
                    <a:pt x="3280" y="686"/>
                  </a:lnTo>
                  <a:lnTo>
                    <a:pt x="3255" y="708"/>
                  </a:lnTo>
                  <a:lnTo>
                    <a:pt x="3255" y="7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Freeform 73"/>
            <p:cNvSpPr>
              <a:spLocks noEditPoints="1"/>
            </p:cNvSpPr>
            <p:nvPr/>
          </p:nvSpPr>
          <p:spPr bwMode="auto">
            <a:xfrm>
              <a:off x="8166101" y="1233488"/>
              <a:ext cx="2840038" cy="184150"/>
            </a:xfrm>
            <a:custGeom>
              <a:avLst/>
              <a:gdLst>
                <a:gd name="T0" fmla="*/ 515 w 3577"/>
                <a:gd name="T1" fmla="*/ 16 h 232"/>
                <a:gd name="T2" fmla="*/ 417 w 3577"/>
                <a:gd name="T3" fmla="*/ 85 h 232"/>
                <a:gd name="T4" fmla="*/ 503 w 3577"/>
                <a:gd name="T5" fmla="*/ 201 h 232"/>
                <a:gd name="T6" fmla="*/ 409 w 3577"/>
                <a:gd name="T7" fmla="*/ 165 h 232"/>
                <a:gd name="T8" fmla="*/ 529 w 3577"/>
                <a:gd name="T9" fmla="*/ 187 h 232"/>
                <a:gd name="T10" fmla="*/ 432 w 3577"/>
                <a:gd name="T11" fmla="*/ 61 h 232"/>
                <a:gd name="T12" fmla="*/ 1114 w 3577"/>
                <a:gd name="T13" fmla="*/ 169 h 232"/>
                <a:gd name="T14" fmla="*/ 247 w 3577"/>
                <a:gd name="T15" fmla="*/ 43 h 232"/>
                <a:gd name="T16" fmla="*/ 206 w 3577"/>
                <a:gd name="T17" fmla="*/ 122 h 232"/>
                <a:gd name="T18" fmla="*/ 242 w 3577"/>
                <a:gd name="T19" fmla="*/ 130 h 232"/>
                <a:gd name="T20" fmla="*/ 192 w 3577"/>
                <a:gd name="T21" fmla="*/ 22 h 232"/>
                <a:gd name="T22" fmla="*/ 212 w 3577"/>
                <a:gd name="T23" fmla="*/ 98 h 232"/>
                <a:gd name="T24" fmla="*/ 1327 w 3577"/>
                <a:gd name="T25" fmla="*/ 4 h 232"/>
                <a:gd name="T26" fmla="*/ 90 w 3577"/>
                <a:gd name="T27" fmla="*/ 114 h 232"/>
                <a:gd name="T28" fmla="*/ 57 w 3577"/>
                <a:gd name="T29" fmla="*/ 22 h 232"/>
                <a:gd name="T30" fmla="*/ 71 w 3577"/>
                <a:gd name="T31" fmla="*/ 104 h 232"/>
                <a:gd name="T32" fmla="*/ 582 w 3577"/>
                <a:gd name="T33" fmla="*/ 122 h 232"/>
                <a:gd name="T34" fmla="*/ 912 w 3577"/>
                <a:gd name="T35" fmla="*/ 228 h 232"/>
                <a:gd name="T36" fmla="*/ 387 w 3577"/>
                <a:gd name="T37" fmla="*/ 228 h 232"/>
                <a:gd name="T38" fmla="*/ 1655 w 3577"/>
                <a:gd name="T39" fmla="*/ 201 h 232"/>
                <a:gd name="T40" fmla="*/ 2987 w 3577"/>
                <a:gd name="T41" fmla="*/ 4 h 232"/>
                <a:gd name="T42" fmla="*/ 3084 w 3577"/>
                <a:gd name="T43" fmla="*/ 228 h 232"/>
                <a:gd name="T44" fmla="*/ 3086 w 3577"/>
                <a:gd name="T45" fmla="*/ 104 h 232"/>
                <a:gd name="T46" fmla="*/ 3082 w 3577"/>
                <a:gd name="T47" fmla="*/ 57 h 232"/>
                <a:gd name="T48" fmla="*/ 2913 w 3577"/>
                <a:gd name="T49" fmla="*/ 24 h 232"/>
                <a:gd name="T50" fmla="*/ 2885 w 3577"/>
                <a:gd name="T51" fmla="*/ 0 h 232"/>
                <a:gd name="T52" fmla="*/ 2826 w 3577"/>
                <a:gd name="T53" fmla="*/ 193 h 232"/>
                <a:gd name="T54" fmla="*/ 2929 w 3577"/>
                <a:gd name="T55" fmla="*/ 208 h 232"/>
                <a:gd name="T56" fmla="*/ 2844 w 3577"/>
                <a:gd name="T57" fmla="*/ 45 h 232"/>
                <a:gd name="T58" fmla="*/ 1389 w 3577"/>
                <a:gd name="T59" fmla="*/ 12 h 232"/>
                <a:gd name="T60" fmla="*/ 1380 w 3577"/>
                <a:gd name="T61" fmla="*/ 212 h 232"/>
                <a:gd name="T62" fmla="*/ 1498 w 3577"/>
                <a:gd name="T63" fmla="*/ 116 h 232"/>
                <a:gd name="T64" fmla="*/ 1415 w 3577"/>
                <a:gd name="T65" fmla="*/ 214 h 232"/>
                <a:gd name="T66" fmla="*/ 1431 w 3577"/>
                <a:gd name="T67" fmla="*/ 16 h 232"/>
                <a:gd name="T68" fmla="*/ 3559 w 3577"/>
                <a:gd name="T69" fmla="*/ 12 h 232"/>
                <a:gd name="T70" fmla="*/ 3573 w 3577"/>
                <a:gd name="T71" fmla="*/ 88 h 232"/>
                <a:gd name="T72" fmla="*/ 3546 w 3577"/>
                <a:gd name="T73" fmla="*/ 28 h 232"/>
                <a:gd name="T74" fmla="*/ 3412 w 3577"/>
                <a:gd name="T75" fmla="*/ 146 h 232"/>
                <a:gd name="T76" fmla="*/ 3324 w 3577"/>
                <a:gd name="T77" fmla="*/ 183 h 232"/>
                <a:gd name="T78" fmla="*/ 3383 w 3577"/>
                <a:gd name="T79" fmla="*/ 230 h 232"/>
                <a:gd name="T80" fmla="*/ 2535 w 3577"/>
                <a:gd name="T81" fmla="*/ 228 h 232"/>
                <a:gd name="T82" fmla="*/ 3172 w 3577"/>
                <a:gd name="T83" fmla="*/ 4 h 232"/>
                <a:gd name="T84" fmla="*/ 3151 w 3577"/>
                <a:gd name="T85" fmla="*/ 212 h 232"/>
                <a:gd name="T86" fmla="*/ 3267 w 3577"/>
                <a:gd name="T87" fmla="*/ 165 h 232"/>
                <a:gd name="T88" fmla="*/ 3200 w 3577"/>
                <a:gd name="T89" fmla="*/ 214 h 232"/>
                <a:gd name="T90" fmla="*/ 3186 w 3577"/>
                <a:gd name="T91" fmla="*/ 18 h 232"/>
                <a:gd name="T92" fmla="*/ 2412 w 3577"/>
                <a:gd name="T93" fmla="*/ 16 h 232"/>
                <a:gd name="T94" fmla="*/ 2451 w 3577"/>
                <a:gd name="T95" fmla="*/ 8 h 232"/>
                <a:gd name="T96" fmla="*/ 2345 w 3577"/>
                <a:gd name="T97" fmla="*/ 116 h 232"/>
                <a:gd name="T98" fmla="*/ 2474 w 3577"/>
                <a:gd name="T99" fmla="*/ 110 h 232"/>
                <a:gd name="T100" fmla="*/ 2364 w 3577"/>
                <a:gd name="T101" fmla="*/ 116 h 232"/>
                <a:gd name="T102" fmla="*/ 1914 w 3577"/>
                <a:gd name="T103" fmla="*/ 226 h 232"/>
                <a:gd name="T104" fmla="*/ 1960 w 3577"/>
                <a:gd name="T105" fmla="*/ 31 h 232"/>
                <a:gd name="T106" fmla="*/ 1912 w 3577"/>
                <a:gd name="T107" fmla="*/ 208 h 232"/>
                <a:gd name="T108" fmla="*/ 1950 w 3577"/>
                <a:gd name="T109" fmla="*/ 146 h 232"/>
                <a:gd name="T110" fmla="*/ 2195 w 3577"/>
                <a:gd name="T111" fmla="*/ 16 h 232"/>
                <a:gd name="T112" fmla="*/ 2231 w 3577"/>
                <a:gd name="T113" fmla="*/ 8 h 232"/>
                <a:gd name="T114" fmla="*/ 2142 w 3577"/>
                <a:gd name="T115" fmla="*/ 85 h 232"/>
                <a:gd name="T116" fmla="*/ 2223 w 3577"/>
                <a:gd name="T117" fmla="*/ 204 h 232"/>
                <a:gd name="T118" fmla="*/ 2132 w 3577"/>
                <a:gd name="T119" fmla="*/ 181 h 232"/>
                <a:gd name="T120" fmla="*/ 2252 w 3577"/>
                <a:gd name="T121" fmla="*/ 173 h 232"/>
                <a:gd name="T122" fmla="*/ 2156 w 3577"/>
                <a:gd name="T123" fmla="*/ 5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77" h="232">
                  <a:moveTo>
                    <a:pt x="470" y="16"/>
                  </a:moveTo>
                  <a:lnTo>
                    <a:pt x="470" y="16"/>
                  </a:lnTo>
                  <a:lnTo>
                    <a:pt x="479" y="18"/>
                  </a:lnTo>
                  <a:lnTo>
                    <a:pt x="489" y="20"/>
                  </a:lnTo>
                  <a:lnTo>
                    <a:pt x="495" y="24"/>
                  </a:lnTo>
                  <a:lnTo>
                    <a:pt x="501" y="28"/>
                  </a:lnTo>
                  <a:lnTo>
                    <a:pt x="501" y="28"/>
                  </a:lnTo>
                  <a:lnTo>
                    <a:pt x="503" y="33"/>
                  </a:lnTo>
                  <a:lnTo>
                    <a:pt x="507" y="41"/>
                  </a:lnTo>
                  <a:lnTo>
                    <a:pt x="509" y="61"/>
                  </a:lnTo>
                  <a:lnTo>
                    <a:pt x="529" y="61"/>
                  </a:lnTo>
                  <a:lnTo>
                    <a:pt x="529" y="61"/>
                  </a:lnTo>
                  <a:lnTo>
                    <a:pt x="529" y="47"/>
                  </a:lnTo>
                  <a:lnTo>
                    <a:pt x="525" y="33"/>
                  </a:lnTo>
                  <a:lnTo>
                    <a:pt x="521" y="24"/>
                  </a:lnTo>
                  <a:lnTo>
                    <a:pt x="515" y="16"/>
                  </a:lnTo>
                  <a:lnTo>
                    <a:pt x="507" y="8"/>
                  </a:lnTo>
                  <a:lnTo>
                    <a:pt x="497" y="4"/>
                  </a:lnTo>
                  <a:lnTo>
                    <a:pt x="485" y="0"/>
                  </a:lnTo>
                  <a:lnTo>
                    <a:pt x="472" y="0"/>
                  </a:lnTo>
                  <a:lnTo>
                    <a:pt x="472" y="0"/>
                  </a:lnTo>
                  <a:lnTo>
                    <a:pt x="458" y="0"/>
                  </a:lnTo>
                  <a:lnTo>
                    <a:pt x="446" y="4"/>
                  </a:lnTo>
                  <a:lnTo>
                    <a:pt x="434" y="8"/>
                  </a:lnTo>
                  <a:lnTo>
                    <a:pt x="426" y="14"/>
                  </a:lnTo>
                  <a:lnTo>
                    <a:pt x="418" y="22"/>
                  </a:lnTo>
                  <a:lnTo>
                    <a:pt x="415" y="31"/>
                  </a:lnTo>
                  <a:lnTo>
                    <a:pt x="413" y="41"/>
                  </a:lnTo>
                  <a:lnTo>
                    <a:pt x="411" y="55"/>
                  </a:lnTo>
                  <a:lnTo>
                    <a:pt x="411" y="55"/>
                  </a:lnTo>
                  <a:lnTo>
                    <a:pt x="413" y="71"/>
                  </a:lnTo>
                  <a:lnTo>
                    <a:pt x="417" y="85"/>
                  </a:lnTo>
                  <a:lnTo>
                    <a:pt x="417" y="85"/>
                  </a:lnTo>
                  <a:lnTo>
                    <a:pt x="422" y="90"/>
                  </a:lnTo>
                  <a:lnTo>
                    <a:pt x="432" y="100"/>
                  </a:lnTo>
                  <a:lnTo>
                    <a:pt x="456" y="116"/>
                  </a:lnTo>
                  <a:lnTo>
                    <a:pt x="456" y="116"/>
                  </a:lnTo>
                  <a:lnTo>
                    <a:pt x="481" y="134"/>
                  </a:lnTo>
                  <a:lnTo>
                    <a:pt x="495" y="142"/>
                  </a:lnTo>
                  <a:lnTo>
                    <a:pt x="495" y="142"/>
                  </a:lnTo>
                  <a:lnTo>
                    <a:pt x="501" y="149"/>
                  </a:lnTo>
                  <a:lnTo>
                    <a:pt x="505" y="157"/>
                  </a:lnTo>
                  <a:lnTo>
                    <a:pt x="507" y="165"/>
                  </a:lnTo>
                  <a:lnTo>
                    <a:pt x="509" y="175"/>
                  </a:lnTo>
                  <a:lnTo>
                    <a:pt x="509" y="175"/>
                  </a:lnTo>
                  <a:lnTo>
                    <a:pt x="509" y="185"/>
                  </a:lnTo>
                  <a:lnTo>
                    <a:pt x="507" y="193"/>
                  </a:lnTo>
                  <a:lnTo>
                    <a:pt x="503" y="201"/>
                  </a:lnTo>
                  <a:lnTo>
                    <a:pt x="499" y="204"/>
                  </a:lnTo>
                  <a:lnTo>
                    <a:pt x="493" y="210"/>
                  </a:lnTo>
                  <a:lnTo>
                    <a:pt x="487" y="212"/>
                  </a:lnTo>
                  <a:lnTo>
                    <a:pt x="479" y="214"/>
                  </a:lnTo>
                  <a:lnTo>
                    <a:pt x="470" y="214"/>
                  </a:lnTo>
                  <a:lnTo>
                    <a:pt x="470" y="214"/>
                  </a:lnTo>
                  <a:lnTo>
                    <a:pt x="458" y="214"/>
                  </a:lnTo>
                  <a:lnTo>
                    <a:pt x="448" y="210"/>
                  </a:lnTo>
                  <a:lnTo>
                    <a:pt x="440" y="206"/>
                  </a:lnTo>
                  <a:lnTo>
                    <a:pt x="434" y="199"/>
                  </a:lnTo>
                  <a:lnTo>
                    <a:pt x="434" y="199"/>
                  </a:lnTo>
                  <a:lnTo>
                    <a:pt x="432" y="193"/>
                  </a:lnTo>
                  <a:lnTo>
                    <a:pt x="430" y="185"/>
                  </a:lnTo>
                  <a:lnTo>
                    <a:pt x="428" y="165"/>
                  </a:lnTo>
                  <a:lnTo>
                    <a:pt x="409" y="165"/>
                  </a:lnTo>
                  <a:lnTo>
                    <a:pt x="409" y="165"/>
                  </a:lnTo>
                  <a:lnTo>
                    <a:pt x="409" y="181"/>
                  </a:lnTo>
                  <a:lnTo>
                    <a:pt x="411" y="195"/>
                  </a:lnTo>
                  <a:lnTo>
                    <a:pt x="415" y="206"/>
                  </a:lnTo>
                  <a:lnTo>
                    <a:pt x="422" y="214"/>
                  </a:lnTo>
                  <a:lnTo>
                    <a:pt x="430" y="222"/>
                  </a:lnTo>
                  <a:lnTo>
                    <a:pt x="442" y="228"/>
                  </a:lnTo>
                  <a:lnTo>
                    <a:pt x="454" y="230"/>
                  </a:lnTo>
                  <a:lnTo>
                    <a:pt x="470" y="232"/>
                  </a:lnTo>
                  <a:lnTo>
                    <a:pt x="470" y="232"/>
                  </a:lnTo>
                  <a:lnTo>
                    <a:pt x="483" y="230"/>
                  </a:lnTo>
                  <a:lnTo>
                    <a:pt x="495" y="228"/>
                  </a:lnTo>
                  <a:lnTo>
                    <a:pt x="505" y="224"/>
                  </a:lnTo>
                  <a:lnTo>
                    <a:pt x="513" y="216"/>
                  </a:lnTo>
                  <a:lnTo>
                    <a:pt x="521" y="208"/>
                  </a:lnTo>
                  <a:lnTo>
                    <a:pt x="525" y="199"/>
                  </a:lnTo>
                  <a:lnTo>
                    <a:pt x="529" y="187"/>
                  </a:lnTo>
                  <a:lnTo>
                    <a:pt x="529" y="173"/>
                  </a:lnTo>
                  <a:lnTo>
                    <a:pt x="529" y="173"/>
                  </a:lnTo>
                  <a:lnTo>
                    <a:pt x="527" y="153"/>
                  </a:lnTo>
                  <a:lnTo>
                    <a:pt x="525" y="147"/>
                  </a:lnTo>
                  <a:lnTo>
                    <a:pt x="521" y="140"/>
                  </a:lnTo>
                  <a:lnTo>
                    <a:pt x="521" y="140"/>
                  </a:lnTo>
                  <a:lnTo>
                    <a:pt x="513" y="130"/>
                  </a:lnTo>
                  <a:lnTo>
                    <a:pt x="499" y="120"/>
                  </a:lnTo>
                  <a:lnTo>
                    <a:pt x="499" y="120"/>
                  </a:lnTo>
                  <a:lnTo>
                    <a:pt x="474" y="104"/>
                  </a:lnTo>
                  <a:lnTo>
                    <a:pt x="474" y="104"/>
                  </a:lnTo>
                  <a:lnTo>
                    <a:pt x="442" y="83"/>
                  </a:lnTo>
                  <a:lnTo>
                    <a:pt x="442" y="83"/>
                  </a:lnTo>
                  <a:lnTo>
                    <a:pt x="438" y="77"/>
                  </a:lnTo>
                  <a:lnTo>
                    <a:pt x="434" y="69"/>
                  </a:lnTo>
                  <a:lnTo>
                    <a:pt x="432" y="61"/>
                  </a:lnTo>
                  <a:lnTo>
                    <a:pt x="430" y="51"/>
                  </a:lnTo>
                  <a:lnTo>
                    <a:pt x="430" y="51"/>
                  </a:lnTo>
                  <a:lnTo>
                    <a:pt x="432" y="43"/>
                  </a:lnTo>
                  <a:lnTo>
                    <a:pt x="434" y="35"/>
                  </a:lnTo>
                  <a:lnTo>
                    <a:pt x="436" y="30"/>
                  </a:lnTo>
                  <a:lnTo>
                    <a:pt x="440" y="26"/>
                  </a:lnTo>
                  <a:lnTo>
                    <a:pt x="446" y="22"/>
                  </a:lnTo>
                  <a:lnTo>
                    <a:pt x="454" y="18"/>
                  </a:lnTo>
                  <a:lnTo>
                    <a:pt x="462" y="18"/>
                  </a:lnTo>
                  <a:lnTo>
                    <a:pt x="470" y="16"/>
                  </a:lnTo>
                  <a:lnTo>
                    <a:pt x="470" y="16"/>
                  </a:lnTo>
                  <a:close/>
                  <a:moveTo>
                    <a:pt x="1059" y="4"/>
                  </a:moveTo>
                  <a:lnTo>
                    <a:pt x="989" y="228"/>
                  </a:lnTo>
                  <a:lnTo>
                    <a:pt x="1008" y="228"/>
                  </a:lnTo>
                  <a:lnTo>
                    <a:pt x="1026" y="169"/>
                  </a:lnTo>
                  <a:lnTo>
                    <a:pt x="1114" y="169"/>
                  </a:lnTo>
                  <a:lnTo>
                    <a:pt x="1132" y="228"/>
                  </a:lnTo>
                  <a:lnTo>
                    <a:pt x="1152" y="228"/>
                  </a:lnTo>
                  <a:lnTo>
                    <a:pt x="1083" y="4"/>
                  </a:lnTo>
                  <a:lnTo>
                    <a:pt x="1059" y="4"/>
                  </a:lnTo>
                  <a:close/>
                  <a:moveTo>
                    <a:pt x="1032" y="151"/>
                  </a:moveTo>
                  <a:lnTo>
                    <a:pt x="1069" y="26"/>
                  </a:lnTo>
                  <a:lnTo>
                    <a:pt x="1071" y="26"/>
                  </a:lnTo>
                  <a:lnTo>
                    <a:pt x="1108" y="151"/>
                  </a:lnTo>
                  <a:lnTo>
                    <a:pt x="1032" y="151"/>
                  </a:lnTo>
                  <a:close/>
                  <a:moveTo>
                    <a:pt x="242" y="92"/>
                  </a:moveTo>
                  <a:lnTo>
                    <a:pt x="242" y="92"/>
                  </a:lnTo>
                  <a:lnTo>
                    <a:pt x="244" y="87"/>
                  </a:lnTo>
                  <a:lnTo>
                    <a:pt x="246" y="79"/>
                  </a:lnTo>
                  <a:lnTo>
                    <a:pt x="247" y="57"/>
                  </a:lnTo>
                  <a:lnTo>
                    <a:pt x="247" y="57"/>
                  </a:lnTo>
                  <a:lnTo>
                    <a:pt x="247" y="43"/>
                  </a:lnTo>
                  <a:lnTo>
                    <a:pt x="246" y="31"/>
                  </a:lnTo>
                  <a:lnTo>
                    <a:pt x="242" y="24"/>
                  </a:lnTo>
                  <a:lnTo>
                    <a:pt x="236" y="16"/>
                  </a:lnTo>
                  <a:lnTo>
                    <a:pt x="236" y="16"/>
                  </a:lnTo>
                  <a:lnTo>
                    <a:pt x="230" y="10"/>
                  </a:lnTo>
                  <a:lnTo>
                    <a:pt x="220" y="8"/>
                  </a:lnTo>
                  <a:lnTo>
                    <a:pt x="208" y="4"/>
                  </a:lnTo>
                  <a:lnTo>
                    <a:pt x="194" y="4"/>
                  </a:lnTo>
                  <a:lnTo>
                    <a:pt x="132" y="4"/>
                  </a:lnTo>
                  <a:lnTo>
                    <a:pt x="132" y="228"/>
                  </a:lnTo>
                  <a:lnTo>
                    <a:pt x="151" y="228"/>
                  </a:lnTo>
                  <a:lnTo>
                    <a:pt x="151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98" y="120"/>
                  </a:lnTo>
                  <a:lnTo>
                    <a:pt x="206" y="122"/>
                  </a:lnTo>
                  <a:lnTo>
                    <a:pt x="212" y="126"/>
                  </a:lnTo>
                  <a:lnTo>
                    <a:pt x="218" y="130"/>
                  </a:lnTo>
                  <a:lnTo>
                    <a:pt x="218" y="130"/>
                  </a:lnTo>
                  <a:lnTo>
                    <a:pt x="224" y="142"/>
                  </a:lnTo>
                  <a:lnTo>
                    <a:pt x="226" y="153"/>
                  </a:lnTo>
                  <a:lnTo>
                    <a:pt x="226" y="171"/>
                  </a:lnTo>
                  <a:lnTo>
                    <a:pt x="226" y="171"/>
                  </a:lnTo>
                  <a:lnTo>
                    <a:pt x="228" y="210"/>
                  </a:lnTo>
                  <a:lnTo>
                    <a:pt x="230" y="228"/>
                  </a:lnTo>
                  <a:lnTo>
                    <a:pt x="247" y="228"/>
                  </a:lnTo>
                  <a:lnTo>
                    <a:pt x="247" y="228"/>
                  </a:lnTo>
                  <a:lnTo>
                    <a:pt x="246" y="203"/>
                  </a:lnTo>
                  <a:lnTo>
                    <a:pt x="246" y="203"/>
                  </a:lnTo>
                  <a:lnTo>
                    <a:pt x="244" y="144"/>
                  </a:lnTo>
                  <a:lnTo>
                    <a:pt x="244" y="144"/>
                  </a:lnTo>
                  <a:lnTo>
                    <a:pt x="242" y="130"/>
                  </a:lnTo>
                  <a:lnTo>
                    <a:pt x="240" y="124"/>
                  </a:lnTo>
                  <a:lnTo>
                    <a:pt x="236" y="120"/>
                  </a:lnTo>
                  <a:lnTo>
                    <a:pt x="236" y="120"/>
                  </a:lnTo>
                  <a:lnTo>
                    <a:pt x="228" y="116"/>
                  </a:lnTo>
                  <a:lnTo>
                    <a:pt x="212" y="112"/>
                  </a:lnTo>
                  <a:lnTo>
                    <a:pt x="212" y="110"/>
                  </a:lnTo>
                  <a:lnTo>
                    <a:pt x="212" y="110"/>
                  </a:lnTo>
                  <a:lnTo>
                    <a:pt x="222" y="108"/>
                  </a:lnTo>
                  <a:lnTo>
                    <a:pt x="230" y="104"/>
                  </a:lnTo>
                  <a:lnTo>
                    <a:pt x="238" y="98"/>
                  </a:lnTo>
                  <a:lnTo>
                    <a:pt x="242" y="92"/>
                  </a:lnTo>
                  <a:lnTo>
                    <a:pt x="242" y="92"/>
                  </a:lnTo>
                  <a:close/>
                  <a:moveTo>
                    <a:pt x="185" y="102"/>
                  </a:moveTo>
                  <a:lnTo>
                    <a:pt x="151" y="102"/>
                  </a:lnTo>
                  <a:lnTo>
                    <a:pt x="151" y="22"/>
                  </a:lnTo>
                  <a:lnTo>
                    <a:pt x="192" y="22"/>
                  </a:lnTo>
                  <a:lnTo>
                    <a:pt x="192" y="22"/>
                  </a:lnTo>
                  <a:lnTo>
                    <a:pt x="208" y="22"/>
                  </a:lnTo>
                  <a:lnTo>
                    <a:pt x="214" y="26"/>
                  </a:lnTo>
                  <a:lnTo>
                    <a:pt x="218" y="28"/>
                  </a:lnTo>
                  <a:lnTo>
                    <a:pt x="218" y="28"/>
                  </a:lnTo>
                  <a:lnTo>
                    <a:pt x="222" y="31"/>
                  </a:lnTo>
                  <a:lnTo>
                    <a:pt x="226" y="39"/>
                  </a:lnTo>
                  <a:lnTo>
                    <a:pt x="228" y="47"/>
                  </a:lnTo>
                  <a:lnTo>
                    <a:pt x="228" y="57"/>
                  </a:lnTo>
                  <a:lnTo>
                    <a:pt x="228" y="57"/>
                  </a:lnTo>
                  <a:lnTo>
                    <a:pt x="228" y="69"/>
                  </a:lnTo>
                  <a:lnTo>
                    <a:pt x="226" y="81"/>
                  </a:lnTo>
                  <a:lnTo>
                    <a:pt x="222" y="88"/>
                  </a:lnTo>
                  <a:lnTo>
                    <a:pt x="218" y="92"/>
                  </a:lnTo>
                  <a:lnTo>
                    <a:pt x="218" y="92"/>
                  </a:lnTo>
                  <a:lnTo>
                    <a:pt x="212" y="98"/>
                  </a:lnTo>
                  <a:lnTo>
                    <a:pt x="204" y="100"/>
                  </a:lnTo>
                  <a:lnTo>
                    <a:pt x="194" y="102"/>
                  </a:lnTo>
                  <a:lnTo>
                    <a:pt x="185" y="102"/>
                  </a:lnTo>
                  <a:lnTo>
                    <a:pt x="185" y="102"/>
                  </a:lnTo>
                  <a:close/>
                  <a:moveTo>
                    <a:pt x="1156" y="22"/>
                  </a:moveTo>
                  <a:lnTo>
                    <a:pt x="1209" y="22"/>
                  </a:lnTo>
                  <a:lnTo>
                    <a:pt x="1209" y="228"/>
                  </a:lnTo>
                  <a:lnTo>
                    <a:pt x="1228" y="228"/>
                  </a:lnTo>
                  <a:lnTo>
                    <a:pt x="1228" y="22"/>
                  </a:lnTo>
                  <a:lnTo>
                    <a:pt x="1283" y="22"/>
                  </a:lnTo>
                  <a:lnTo>
                    <a:pt x="1283" y="4"/>
                  </a:lnTo>
                  <a:lnTo>
                    <a:pt x="1156" y="4"/>
                  </a:lnTo>
                  <a:lnTo>
                    <a:pt x="1156" y="22"/>
                  </a:lnTo>
                  <a:close/>
                  <a:moveTo>
                    <a:pt x="1307" y="228"/>
                  </a:moveTo>
                  <a:lnTo>
                    <a:pt x="1327" y="228"/>
                  </a:lnTo>
                  <a:lnTo>
                    <a:pt x="1327" y="4"/>
                  </a:lnTo>
                  <a:lnTo>
                    <a:pt x="1307" y="4"/>
                  </a:lnTo>
                  <a:lnTo>
                    <a:pt x="1307" y="228"/>
                  </a:lnTo>
                  <a:close/>
                  <a:moveTo>
                    <a:pt x="92" y="12"/>
                  </a:moveTo>
                  <a:lnTo>
                    <a:pt x="92" y="12"/>
                  </a:lnTo>
                  <a:lnTo>
                    <a:pt x="86" y="8"/>
                  </a:lnTo>
                  <a:lnTo>
                    <a:pt x="78" y="6"/>
                  </a:lnTo>
                  <a:lnTo>
                    <a:pt x="61" y="4"/>
                  </a:lnTo>
                  <a:lnTo>
                    <a:pt x="0" y="4"/>
                  </a:lnTo>
                  <a:lnTo>
                    <a:pt x="0" y="228"/>
                  </a:lnTo>
                  <a:lnTo>
                    <a:pt x="19" y="228"/>
                  </a:lnTo>
                  <a:lnTo>
                    <a:pt x="19" y="124"/>
                  </a:lnTo>
                  <a:lnTo>
                    <a:pt x="57" y="124"/>
                  </a:lnTo>
                  <a:lnTo>
                    <a:pt x="57" y="124"/>
                  </a:lnTo>
                  <a:lnTo>
                    <a:pt x="71" y="122"/>
                  </a:lnTo>
                  <a:lnTo>
                    <a:pt x="82" y="120"/>
                  </a:lnTo>
                  <a:lnTo>
                    <a:pt x="90" y="114"/>
                  </a:lnTo>
                  <a:lnTo>
                    <a:pt x="98" y="108"/>
                  </a:lnTo>
                  <a:lnTo>
                    <a:pt x="98" y="108"/>
                  </a:lnTo>
                  <a:lnTo>
                    <a:pt x="104" y="98"/>
                  </a:lnTo>
                  <a:lnTo>
                    <a:pt x="108" y="88"/>
                  </a:lnTo>
                  <a:lnTo>
                    <a:pt x="110" y="75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10" y="43"/>
                  </a:lnTo>
                  <a:lnTo>
                    <a:pt x="106" y="30"/>
                  </a:lnTo>
                  <a:lnTo>
                    <a:pt x="100" y="20"/>
                  </a:lnTo>
                  <a:lnTo>
                    <a:pt x="92" y="12"/>
                  </a:lnTo>
                  <a:lnTo>
                    <a:pt x="92" y="12"/>
                  </a:lnTo>
                  <a:close/>
                  <a:moveTo>
                    <a:pt x="57" y="106"/>
                  </a:moveTo>
                  <a:lnTo>
                    <a:pt x="19" y="106"/>
                  </a:lnTo>
                  <a:lnTo>
                    <a:pt x="19" y="22"/>
                  </a:lnTo>
                  <a:lnTo>
                    <a:pt x="57" y="22"/>
                  </a:lnTo>
                  <a:lnTo>
                    <a:pt x="57" y="22"/>
                  </a:lnTo>
                  <a:lnTo>
                    <a:pt x="71" y="22"/>
                  </a:lnTo>
                  <a:lnTo>
                    <a:pt x="76" y="24"/>
                  </a:lnTo>
                  <a:lnTo>
                    <a:pt x="80" y="28"/>
                  </a:lnTo>
                  <a:lnTo>
                    <a:pt x="80" y="28"/>
                  </a:lnTo>
                  <a:lnTo>
                    <a:pt x="84" y="33"/>
                  </a:lnTo>
                  <a:lnTo>
                    <a:pt x="88" y="41"/>
                  </a:lnTo>
                  <a:lnTo>
                    <a:pt x="90" y="49"/>
                  </a:lnTo>
                  <a:lnTo>
                    <a:pt x="90" y="61"/>
                  </a:lnTo>
                  <a:lnTo>
                    <a:pt x="90" y="61"/>
                  </a:lnTo>
                  <a:lnTo>
                    <a:pt x="90" y="73"/>
                  </a:lnTo>
                  <a:lnTo>
                    <a:pt x="88" y="81"/>
                  </a:lnTo>
                  <a:lnTo>
                    <a:pt x="86" y="88"/>
                  </a:lnTo>
                  <a:lnTo>
                    <a:pt x="82" y="96"/>
                  </a:lnTo>
                  <a:lnTo>
                    <a:pt x="76" y="100"/>
                  </a:lnTo>
                  <a:lnTo>
                    <a:pt x="71" y="104"/>
                  </a:lnTo>
                  <a:lnTo>
                    <a:pt x="65" y="106"/>
                  </a:lnTo>
                  <a:lnTo>
                    <a:pt x="57" y="106"/>
                  </a:lnTo>
                  <a:lnTo>
                    <a:pt x="57" y="106"/>
                  </a:lnTo>
                  <a:close/>
                  <a:moveTo>
                    <a:pt x="582" y="122"/>
                  </a:moveTo>
                  <a:lnTo>
                    <a:pt x="660" y="122"/>
                  </a:lnTo>
                  <a:lnTo>
                    <a:pt x="660" y="104"/>
                  </a:lnTo>
                  <a:lnTo>
                    <a:pt x="582" y="104"/>
                  </a:lnTo>
                  <a:lnTo>
                    <a:pt x="582" y="22"/>
                  </a:lnTo>
                  <a:lnTo>
                    <a:pt x="664" y="22"/>
                  </a:lnTo>
                  <a:lnTo>
                    <a:pt x="664" y="4"/>
                  </a:lnTo>
                  <a:lnTo>
                    <a:pt x="562" y="4"/>
                  </a:lnTo>
                  <a:lnTo>
                    <a:pt x="562" y="228"/>
                  </a:lnTo>
                  <a:lnTo>
                    <a:pt x="666" y="228"/>
                  </a:lnTo>
                  <a:lnTo>
                    <a:pt x="666" y="210"/>
                  </a:lnTo>
                  <a:lnTo>
                    <a:pt x="582" y="210"/>
                  </a:lnTo>
                  <a:lnTo>
                    <a:pt x="582" y="122"/>
                  </a:lnTo>
                  <a:close/>
                  <a:moveTo>
                    <a:pt x="816" y="201"/>
                  </a:moveTo>
                  <a:lnTo>
                    <a:pt x="816" y="201"/>
                  </a:lnTo>
                  <a:lnTo>
                    <a:pt x="725" y="4"/>
                  </a:lnTo>
                  <a:lnTo>
                    <a:pt x="694" y="4"/>
                  </a:lnTo>
                  <a:lnTo>
                    <a:pt x="694" y="228"/>
                  </a:lnTo>
                  <a:lnTo>
                    <a:pt x="713" y="228"/>
                  </a:lnTo>
                  <a:lnTo>
                    <a:pt x="713" y="30"/>
                  </a:lnTo>
                  <a:lnTo>
                    <a:pt x="715" y="30"/>
                  </a:lnTo>
                  <a:lnTo>
                    <a:pt x="806" y="228"/>
                  </a:lnTo>
                  <a:lnTo>
                    <a:pt x="835" y="228"/>
                  </a:lnTo>
                  <a:lnTo>
                    <a:pt x="835" y="4"/>
                  </a:lnTo>
                  <a:lnTo>
                    <a:pt x="816" y="4"/>
                  </a:lnTo>
                  <a:lnTo>
                    <a:pt x="816" y="201"/>
                  </a:lnTo>
                  <a:close/>
                  <a:moveTo>
                    <a:pt x="859" y="22"/>
                  </a:moveTo>
                  <a:lnTo>
                    <a:pt x="912" y="22"/>
                  </a:lnTo>
                  <a:lnTo>
                    <a:pt x="912" y="228"/>
                  </a:lnTo>
                  <a:lnTo>
                    <a:pt x="932" y="228"/>
                  </a:lnTo>
                  <a:lnTo>
                    <a:pt x="932" y="22"/>
                  </a:lnTo>
                  <a:lnTo>
                    <a:pt x="987" y="22"/>
                  </a:lnTo>
                  <a:lnTo>
                    <a:pt x="987" y="4"/>
                  </a:lnTo>
                  <a:lnTo>
                    <a:pt x="859" y="4"/>
                  </a:lnTo>
                  <a:lnTo>
                    <a:pt x="859" y="22"/>
                  </a:lnTo>
                  <a:close/>
                  <a:moveTo>
                    <a:pt x="303" y="122"/>
                  </a:moveTo>
                  <a:lnTo>
                    <a:pt x="381" y="122"/>
                  </a:lnTo>
                  <a:lnTo>
                    <a:pt x="381" y="104"/>
                  </a:lnTo>
                  <a:lnTo>
                    <a:pt x="303" y="104"/>
                  </a:lnTo>
                  <a:lnTo>
                    <a:pt x="303" y="22"/>
                  </a:lnTo>
                  <a:lnTo>
                    <a:pt x="383" y="22"/>
                  </a:lnTo>
                  <a:lnTo>
                    <a:pt x="383" y="4"/>
                  </a:lnTo>
                  <a:lnTo>
                    <a:pt x="283" y="4"/>
                  </a:lnTo>
                  <a:lnTo>
                    <a:pt x="283" y="228"/>
                  </a:lnTo>
                  <a:lnTo>
                    <a:pt x="387" y="228"/>
                  </a:lnTo>
                  <a:lnTo>
                    <a:pt x="387" y="210"/>
                  </a:lnTo>
                  <a:lnTo>
                    <a:pt x="303" y="210"/>
                  </a:lnTo>
                  <a:lnTo>
                    <a:pt x="303" y="122"/>
                  </a:lnTo>
                  <a:close/>
                  <a:moveTo>
                    <a:pt x="1655" y="201"/>
                  </a:moveTo>
                  <a:lnTo>
                    <a:pt x="1655" y="201"/>
                  </a:lnTo>
                  <a:lnTo>
                    <a:pt x="1564" y="4"/>
                  </a:lnTo>
                  <a:lnTo>
                    <a:pt x="1535" y="4"/>
                  </a:lnTo>
                  <a:lnTo>
                    <a:pt x="1535" y="228"/>
                  </a:lnTo>
                  <a:lnTo>
                    <a:pt x="1555" y="228"/>
                  </a:lnTo>
                  <a:lnTo>
                    <a:pt x="1555" y="30"/>
                  </a:lnTo>
                  <a:lnTo>
                    <a:pt x="1555" y="30"/>
                  </a:lnTo>
                  <a:lnTo>
                    <a:pt x="1645" y="228"/>
                  </a:lnTo>
                  <a:lnTo>
                    <a:pt x="1674" y="228"/>
                  </a:lnTo>
                  <a:lnTo>
                    <a:pt x="1674" y="4"/>
                  </a:lnTo>
                  <a:lnTo>
                    <a:pt x="1655" y="4"/>
                  </a:lnTo>
                  <a:lnTo>
                    <a:pt x="1655" y="201"/>
                  </a:lnTo>
                  <a:close/>
                  <a:moveTo>
                    <a:pt x="3096" y="92"/>
                  </a:moveTo>
                  <a:lnTo>
                    <a:pt x="3096" y="92"/>
                  </a:lnTo>
                  <a:lnTo>
                    <a:pt x="3100" y="87"/>
                  </a:lnTo>
                  <a:lnTo>
                    <a:pt x="3101" y="79"/>
                  </a:lnTo>
                  <a:lnTo>
                    <a:pt x="3101" y="57"/>
                  </a:lnTo>
                  <a:lnTo>
                    <a:pt x="3101" y="57"/>
                  </a:lnTo>
                  <a:lnTo>
                    <a:pt x="3101" y="43"/>
                  </a:lnTo>
                  <a:lnTo>
                    <a:pt x="3100" y="31"/>
                  </a:lnTo>
                  <a:lnTo>
                    <a:pt x="3096" y="24"/>
                  </a:lnTo>
                  <a:lnTo>
                    <a:pt x="3092" y="16"/>
                  </a:lnTo>
                  <a:lnTo>
                    <a:pt x="3092" y="16"/>
                  </a:lnTo>
                  <a:lnTo>
                    <a:pt x="3084" y="10"/>
                  </a:lnTo>
                  <a:lnTo>
                    <a:pt x="3076" y="8"/>
                  </a:lnTo>
                  <a:lnTo>
                    <a:pt x="3062" y="4"/>
                  </a:lnTo>
                  <a:lnTo>
                    <a:pt x="3048" y="4"/>
                  </a:lnTo>
                  <a:lnTo>
                    <a:pt x="2987" y="4"/>
                  </a:lnTo>
                  <a:lnTo>
                    <a:pt x="2987" y="228"/>
                  </a:lnTo>
                  <a:lnTo>
                    <a:pt x="3007" y="228"/>
                  </a:lnTo>
                  <a:lnTo>
                    <a:pt x="3007" y="120"/>
                  </a:lnTo>
                  <a:lnTo>
                    <a:pt x="3044" y="120"/>
                  </a:lnTo>
                  <a:lnTo>
                    <a:pt x="3044" y="120"/>
                  </a:lnTo>
                  <a:lnTo>
                    <a:pt x="3052" y="120"/>
                  </a:lnTo>
                  <a:lnTo>
                    <a:pt x="3060" y="122"/>
                  </a:lnTo>
                  <a:lnTo>
                    <a:pt x="3068" y="126"/>
                  </a:lnTo>
                  <a:lnTo>
                    <a:pt x="3072" y="130"/>
                  </a:lnTo>
                  <a:lnTo>
                    <a:pt x="3072" y="130"/>
                  </a:lnTo>
                  <a:lnTo>
                    <a:pt x="3078" y="142"/>
                  </a:lnTo>
                  <a:lnTo>
                    <a:pt x="3082" y="153"/>
                  </a:lnTo>
                  <a:lnTo>
                    <a:pt x="3082" y="171"/>
                  </a:lnTo>
                  <a:lnTo>
                    <a:pt x="3082" y="171"/>
                  </a:lnTo>
                  <a:lnTo>
                    <a:pt x="3082" y="210"/>
                  </a:lnTo>
                  <a:lnTo>
                    <a:pt x="3084" y="228"/>
                  </a:lnTo>
                  <a:lnTo>
                    <a:pt x="3101" y="228"/>
                  </a:lnTo>
                  <a:lnTo>
                    <a:pt x="3101" y="228"/>
                  </a:lnTo>
                  <a:lnTo>
                    <a:pt x="3101" y="203"/>
                  </a:lnTo>
                  <a:lnTo>
                    <a:pt x="3101" y="203"/>
                  </a:lnTo>
                  <a:lnTo>
                    <a:pt x="3100" y="144"/>
                  </a:lnTo>
                  <a:lnTo>
                    <a:pt x="3100" y="144"/>
                  </a:lnTo>
                  <a:lnTo>
                    <a:pt x="3096" y="130"/>
                  </a:lnTo>
                  <a:lnTo>
                    <a:pt x="3094" y="124"/>
                  </a:lnTo>
                  <a:lnTo>
                    <a:pt x="3090" y="120"/>
                  </a:lnTo>
                  <a:lnTo>
                    <a:pt x="3090" y="120"/>
                  </a:lnTo>
                  <a:lnTo>
                    <a:pt x="3082" y="116"/>
                  </a:lnTo>
                  <a:lnTo>
                    <a:pt x="3068" y="112"/>
                  </a:lnTo>
                  <a:lnTo>
                    <a:pt x="3068" y="110"/>
                  </a:lnTo>
                  <a:lnTo>
                    <a:pt x="3068" y="110"/>
                  </a:lnTo>
                  <a:lnTo>
                    <a:pt x="3078" y="108"/>
                  </a:lnTo>
                  <a:lnTo>
                    <a:pt x="3086" y="104"/>
                  </a:lnTo>
                  <a:lnTo>
                    <a:pt x="3092" y="98"/>
                  </a:lnTo>
                  <a:lnTo>
                    <a:pt x="3096" y="92"/>
                  </a:lnTo>
                  <a:lnTo>
                    <a:pt x="3096" y="92"/>
                  </a:lnTo>
                  <a:close/>
                  <a:moveTo>
                    <a:pt x="3039" y="102"/>
                  </a:moveTo>
                  <a:lnTo>
                    <a:pt x="3007" y="102"/>
                  </a:lnTo>
                  <a:lnTo>
                    <a:pt x="3007" y="22"/>
                  </a:lnTo>
                  <a:lnTo>
                    <a:pt x="3046" y="22"/>
                  </a:lnTo>
                  <a:lnTo>
                    <a:pt x="3046" y="22"/>
                  </a:lnTo>
                  <a:lnTo>
                    <a:pt x="3064" y="22"/>
                  </a:lnTo>
                  <a:lnTo>
                    <a:pt x="3070" y="26"/>
                  </a:lnTo>
                  <a:lnTo>
                    <a:pt x="3074" y="28"/>
                  </a:lnTo>
                  <a:lnTo>
                    <a:pt x="3074" y="28"/>
                  </a:lnTo>
                  <a:lnTo>
                    <a:pt x="3078" y="31"/>
                  </a:lnTo>
                  <a:lnTo>
                    <a:pt x="3080" y="39"/>
                  </a:lnTo>
                  <a:lnTo>
                    <a:pt x="3082" y="47"/>
                  </a:lnTo>
                  <a:lnTo>
                    <a:pt x="3082" y="57"/>
                  </a:lnTo>
                  <a:lnTo>
                    <a:pt x="3082" y="57"/>
                  </a:lnTo>
                  <a:lnTo>
                    <a:pt x="3082" y="69"/>
                  </a:lnTo>
                  <a:lnTo>
                    <a:pt x="3080" y="81"/>
                  </a:lnTo>
                  <a:lnTo>
                    <a:pt x="3076" y="88"/>
                  </a:lnTo>
                  <a:lnTo>
                    <a:pt x="3072" y="92"/>
                  </a:lnTo>
                  <a:lnTo>
                    <a:pt x="3072" y="92"/>
                  </a:lnTo>
                  <a:lnTo>
                    <a:pt x="3066" y="98"/>
                  </a:lnTo>
                  <a:lnTo>
                    <a:pt x="3058" y="100"/>
                  </a:lnTo>
                  <a:lnTo>
                    <a:pt x="3050" y="102"/>
                  </a:lnTo>
                  <a:lnTo>
                    <a:pt x="3039" y="102"/>
                  </a:lnTo>
                  <a:lnTo>
                    <a:pt x="3039" y="102"/>
                  </a:lnTo>
                  <a:close/>
                  <a:moveTo>
                    <a:pt x="2885" y="16"/>
                  </a:moveTo>
                  <a:lnTo>
                    <a:pt x="2885" y="16"/>
                  </a:lnTo>
                  <a:lnTo>
                    <a:pt x="2897" y="18"/>
                  </a:lnTo>
                  <a:lnTo>
                    <a:pt x="2905" y="20"/>
                  </a:lnTo>
                  <a:lnTo>
                    <a:pt x="2913" y="24"/>
                  </a:lnTo>
                  <a:lnTo>
                    <a:pt x="2919" y="28"/>
                  </a:lnTo>
                  <a:lnTo>
                    <a:pt x="2925" y="33"/>
                  </a:lnTo>
                  <a:lnTo>
                    <a:pt x="2927" y="41"/>
                  </a:lnTo>
                  <a:lnTo>
                    <a:pt x="2929" y="51"/>
                  </a:lnTo>
                  <a:lnTo>
                    <a:pt x="2930" y="61"/>
                  </a:lnTo>
                  <a:lnTo>
                    <a:pt x="2950" y="61"/>
                  </a:lnTo>
                  <a:lnTo>
                    <a:pt x="2950" y="61"/>
                  </a:lnTo>
                  <a:lnTo>
                    <a:pt x="2948" y="47"/>
                  </a:lnTo>
                  <a:lnTo>
                    <a:pt x="2946" y="33"/>
                  </a:lnTo>
                  <a:lnTo>
                    <a:pt x="2942" y="24"/>
                  </a:lnTo>
                  <a:lnTo>
                    <a:pt x="2934" y="16"/>
                  </a:lnTo>
                  <a:lnTo>
                    <a:pt x="2925" y="8"/>
                  </a:lnTo>
                  <a:lnTo>
                    <a:pt x="2915" y="4"/>
                  </a:lnTo>
                  <a:lnTo>
                    <a:pt x="2901" y="0"/>
                  </a:lnTo>
                  <a:lnTo>
                    <a:pt x="2885" y="0"/>
                  </a:lnTo>
                  <a:lnTo>
                    <a:pt x="2885" y="0"/>
                  </a:lnTo>
                  <a:lnTo>
                    <a:pt x="2870" y="0"/>
                  </a:lnTo>
                  <a:lnTo>
                    <a:pt x="2858" y="4"/>
                  </a:lnTo>
                  <a:lnTo>
                    <a:pt x="2846" y="12"/>
                  </a:lnTo>
                  <a:lnTo>
                    <a:pt x="2836" y="20"/>
                  </a:lnTo>
                  <a:lnTo>
                    <a:pt x="2836" y="20"/>
                  </a:lnTo>
                  <a:lnTo>
                    <a:pt x="2830" y="30"/>
                  </a:lnTo>
                  <a:lnTo>
                    <a:pt x="2826" y="39"/>
                  </a:lnTo>
                  <a:lnTo>
                    <a:pt x="2822" y="53"/>
                  </a:lnTo>
                  <a:lnTo>
                    <a:pt x="2820" y="67"/>
                  </a:lnTo>
                  <a:lnTo>
                    <a:pt x="2820" y="67"/>
                  </a:lnTo>
                  <a:lnTo>
                    <a:pt x="2818" y="116"/>
                  </a:lnTo>
                  <a:lnTo>
                    <a:pt x="2818" y="116"/>
                  </a:lnTo>
                  <a:lnTo>
                    <a:pt x="2820" y="165"/>
                  </a:lnTo>
                  <a:lnTo>
                    <a:pt x="2820" y="165"/>
                  </a:lnTo>
                  <a:lnTo>
                    <a:pt x="2822" y="179"/>
                  </a:lnTo>
                  <a:lnTo>
                    <a:pt x="2826" y="193"/>
                  </a:lnTo>
                  <a:lnTo>
                    <a:pt x="2830" y="203"/>
                  </a:lnTo>
                  <a:lnTo>
                    <a:pt x="2836" y="212"/>
                  </a:lnTo>
                  <a:lnTo>
                    <a:pt x="2836" y="212"/>
                  </a:lnTo>
                  <a:lnTo>
                    <a:pt x="2846" y="220"/>
                  </a:lnTo>
                  <a:lnTo>
                    <a:pt x="2858" y="226"/>
                  </a:lnTo>
                  <a:lnTo>
                    <a:pt x="2870" y="230"/>
                  </a:lnTo>
                  <a:lnTo>
                    <a:pt x="2885" y="232"/>
                  </a:lnTo>
                  <a:lnTo>
                    <a:pt x="2885" y="232"/>
                  </a:lnTo>
                  <a:lnTo>
                    <a:pt x="2917" y="230"/>
                  </a:lnTo>
                  <a:lnTo>
                    <a:pt x="2932" y="226"/>
                  </a:lnTo>
                  <a:lnTo>
                    <a:pt x="2948" y="222"/>
                  </a:lnTo>
                  <a:lnTo>
                    <a:pt x="2948" y="110"/>
                  </a:lnTo>
                  <a:lnTo>
                    <a:pt x="2883" y="110"/>
                  </a:lnTo>
                  <a:lnTo>
                    <a:pt x="2883" y="128"/>
                  </a:lnTo>
                  <a:lnTo>
                    <a:pt x="2929" y="128"/>
                  </a:lnTo>
                  <a:lnTo>
                    <a:pt x="2929" y="208"/>
                  </a:lnTo>
                  <a:lnTo>
                    <a:pt x="2929" y="208"/>
                  </a:lnTo>
                  <a:lnTo>
                    <a:pt x="2909" y="214"/>
                  </a:lnTo>
                  <a:lnTo>
                    <a:pt x="2885" y="214"/>
                  </a:lnTo>
                  <a:lnTo>
                    <a:pt x="2885" y="214"/>
                  </a:lnTo>
                  <a:lnTo>
                    <a:pt x="2872" y="214"/>
                  </a:lnTo>
                  <a:lnTo>
                    <a:pt x="2860" y="208"/>
                  </a:lnTo>
                  <a:lnTo>
                    <a:pt x="2850" y="199"/>
                  </a:lnTo>
                  <a:lnTo>
                    <a:pt x="2844" y="187"/>
                  </a:lnTo>
                  <a:lnTo>
                    <a:pt x="2844" y="187"/>
                  </a:lnTo>
                  <a:lnTo>
                    <a:pt x="2842" y="175"/>
                  </a:lnTo>
                  <a:lnTo>
                    <a:pt x="2840" y="161"/>
                  </a:lnTo>
                  <a:lnTo>
                    <a:pt x="2838" y="116"/>
                  </a:lnTo>
                  <a:lnTo>
                    <a:pt x="2838" y="116"/>
                  </a:lnTo>
                  <a:lnTo>
                    <a:pt x="2840" y="71"/>
                  </a:lnTo>
                  <a:lnTo>
                    <a:pt x="2842" y="55"/>
                  </a:lnTo>
                  <a:lnTo>
                    <a:pt x="2844" y="45"/>
                  </a:lnTo>
                  <a:lnTo>
                    <a:pt x="2844" y="45"/>
                  </a:lnTo>
                  <a:lnTo>
                    <a:pt x="2850" y="31"/>
                  </a:lnTo>
                  <a:lnTo>
                    <a:pt x="2860" y="24"/>
                  </a:lnTo>
                  <a:lnTo>
                    <a:pt x="2872" y="18"/>
                  </a:lnTo>
                  <a:lnTo>
                    <a:pt x="2885" y="16"/>
                  </a:lnTo>
                  <a:lnTo>
                    <a:pt x="2885" y="16"/>
                  </a:lnTo>
                  <a:close/>
                  <a:moveTo>
                    <a:pt x="1480" y="20"/>
                  </a:moveTo>
                  <a:lnTo>
                    <a:pt x="1480" y="20"/>
                  </a:lnTo>
                  <a:lnTo>
                    <a:pt x="1470" y="12"/>
                  </a:lnTo>
                  <a:lnTo>
                    <a:pt x="1460" y="4"/>
                  </a:lnTo>
                  <a:lnTo>
                    <a:pt x="1446" y="0"/>
                  </a:lnTo>
                  <a:lnTo>
                    <a:pt x="1431" y="0"/>
                  </a:lnTo>
                  <a:lnTo>
                    <a:pt x="1431" y="0"/>
                  </a:lnTo>
                  <a:lnTo>
                    <a:pt x="1415" y="0"/>
                  </a:lnTo>
                  <a:lnTo>
                    <a:pt x="1401" y="4"/>
                  </a:lnTo>
                  <a:lnTo>
                    <a:pt x="1389" y="12"/>
                  </a:lnTo>
                  <a:lnTo>
                    <a:pt x="1380" y="20"/>
                  </a:lnTo>
                  <a:lnTo>
                    <a:pt x="1380" y="20"/>
                  </a:lnTo>
                  <a:lnTo>
                    <a:pt x="1374" y="30"/>
                  </a:lnTo>
                  <a:lnTo>
                    <a:pt x="1370" y="39"/>
                  </a:lnTo>
                  <a:lnTo>
                    <a:pt x="1366" y="53"/>
                  </a:lnTo>
                  <a:lnTo>
                    <a:pt x="1364" y="67"/>
                  </a:lnTo>
                  <a:lnTo>
                    <a:pt x="1364" y="67"/>
                  </a:lnTo>
                  <a:lnTo>
                    <a:pt x="1362" y="116"/>
                  </a:lnTo>
                  <a:lnTo>
                    <a:pt x="1362" y="116"/>
                  </a:lnTo>
                  <a:lnTo>
                    <a:pt x="1364" y="165"/>
                  </a:lnTo>
                  <a:lnTo>
                    <a:pt x="1364" y="165"/>
                  </a:lnTo>
                  <a:lnTo>
                    <a:pt x="1366" y="179"/>
                  </a:lnTo>
                  <a:lnTo>
                    <a:pt x="1370" y="193"/>
                  </a:lnTo>
                  <a:lnTo>
                    <a:pt x="1374" y="203"/>
                  </a:lnTo>
                  <a:lnTo>
                    <a:pt x="1380" y="212"/>
                  </a:lnTo>
                  <a:lnTo>
                    <a:pt x="1380" y="212"/>
                  </a:lnTo>
                  <a:lnTo>
                    <a:pt x="1389" y="220"/>
                  </a:lnTo>
                  <a:lnTo>
                    <a:pt x="1401" y="226"/>
                  </a:lnTo>
                  <a:lnTo>
                    <a:pt x="1415" y="230"/>
                  </a:lnTo>
                  <a:lnTo>
                    <a:pt x="1431" y="232"/>
                  </a:lnTo>
                  <a:lnTo>
                    <a:pt x="1431" y="232"/>
                  </a:lnTo>
                  <a:lnTo>
                    <a:pt x="1446" y="230"/>
                  </a:lnTo>
                  <a:lnTo>
                    <a:pt x="1460" y="226"/>
                  </a:lnTo>
                  <a:lnTo>
                    <a:pt x="1470" y="220"/>
                  </a:lnTo>
                  <a:lnTo>
                    <a:pt x="1480" y="212"/>
                  </a:lnTo>
                  <a:lnTo>
                    <a:pt x="1480" y="212"/>
                  </a:lnTo>
                  <a:lnTo>
                    <a:pt x="1486" y="203"/>
                  </a:lnTo>
                  <a:lnTo>
                    <a:pt x="1492" y="193"/>
                  </a:lnTo>
                  <a:lnTo>
                    <a:pt x="1494" y="179"/>
                  </a:lnTo>
                  <a:lnTo>
                    <a:pt x="1496" y="165"/>
                  </a:lnTo>
                  <a:lnTo>
                    <a:pt x="1496" y="165"/>
                  </a:lnTo>
                  <a:lnTo>
                    <a:pt x="1498" y="116"/>
                  </a:lnTo>
                  <a:lnTo>
                    <a:pt x="1498" y="116"/>
                  </a:lnTo>
                  <a:lnTo>
                    <a:pt x="1496" y="67"/>
                  </a:lnTo>
                  <a:lnTo>
                    <a:pt x="1496" y="67"/>
                  </a:lnTo>
                  <a:lnTo>
                    <a:pt x="1494" y="53"/>
                  </a:lnTo>
                  <a:lnTo>
                    <a:pt x="1492" y="39"/>
                  </a:lnTo>
                  <a:lnTo>
                    <a:pt x="1486" y="30"/>
                  </a:lnTo>
                  <a:lnTo>
                    <a:pt x="1480" y="20"/>
                  </a:lnTo>
                  <a:lnTo>
                    <a:pt x="1480" y="20"/>
                  </a:lnTo>
                  <a:close/>
                  <a:moveTo>
                    <a:pt x="1472" y="187"/>
                  </a:moveTo>
                  <a:lnTo>
                    <a:pt x="1472" y="187"/>
                  </a:lnTo>
                  <a:lnTo>
                    <a:pt x="1466" y="199"/>
                  </a:lnTo>
                  <a:lnTo>
                    <a:pt x="1456" y="208"/>
                  </a:lnTo>
                  <a:lnTo>
                    <a:pt x="1445" y="214"/>
                  </a:lnTo>
                  <a:lnTo>
                    <a:pt x="1431" y="214"/>
                  </a:lnTo>
                  <a:lnTo>
                    <a:pt x="1431" y="214"/>
                  </a:lnTo>
                  <a:lnTo>
                    <a:pt x="1415" y="214"/>
                  </a:lnTo>
                  <a:lnTo>
                    <a:pt x="1403" y="208"/>
                  </a:lnTo>
                  <a:lnTo>
                    <a:pt x="1395" y="199"/>
                  </a:lnTo>
                  <a:lnTo>
                    <a:pt x="1389" y="187"/>
                  </a:lnTo>
                  <a:lnTo>
                    <a:pt x="1389" y="187"/>
                  </a:lnTo>
                  <a:lnTo>
                    <a:pt x="1386" y="175"/>
                  </a:lnTo>
                  <a:lnTo>
                    <a:pt x="1384" y="161"/>
                  </a:lnTo>
                  <a:lnTo>
                    <a:pt x="1384" y="116"/>
                  </a:lnTo>
                  <a:lnTo>
                    <a:pt x="1384" y="116"/>
                  </a:lnTo>
                  <a:lnTo>
                    <a:pt x="1384" y="71"/>
                  </a:lnTo>
                  <a:lnTo>
                    <a:pt x="1386" y="55"/>
                  </a:lnTo>
                  <a:lnTo>
                    <a:pt x="1389" y="45"/>
                  </a:lnTo>
                  <a:lnTo>
                    <a:pt x="1389" y="45"/>
                  </a:lnTo>
                  <a:lnTo>
                    <a:pt x="1395" y="31"/>
                  </a:lnTo>
                  <a:lnTo>
                    <a:pt x="1403" y="24"/>
                  </a:lnTo>
                  <a:lnTo>
                    <a:pt x="1415" y="18"/>
                  </a:lnTo>
                  <a:lnTo>
                    <a:pt x="1431" y="16"/>
                  </a:lnTo>
                  <a:lnTo>
                    <a:pt x="1431" y="16"/>
                  </a:lnTo>
                  <a:lnTo>
                    <a:pt x="1445" y="18"/>
                  </a:lnTo>
                  <a:lnTo>
                    <a:pt x="1456" y="24"/>
                  </a:lnTo>
                  <a:lnTo>
                    <a:pt x="1466" y="31"/>
                  </a:lnTo>
                  <a:lnTo>
                    <a:pt x="1472" y="45"/>
                  </a:lnTo>
                  <a:lnTo>
                    <a:pt x="1472" y="45"/>
                  </a:lnTo>
                  <a:lnTo>
                    <a:pt x="1474" y="55"/>
                  </a:lnTo>
                  <a:lnTo>
                    <a:pt x="1476" y="71"/>
                  </a:lnTo>
                  <a:lnTo>
                    <a:pt x="1478" y="116"/>
                  </a:lnTo>
                  <a:lnTo>
                    <a:pt x="1478" y="116"/>
                  </a:lnTo>
                  <a:lnTo>
                    <a:pt x="1476" y="161"/>
                  </a:lnTo>
                  <a:lnTo>
                    <a:pt x="1474" y="175"/>
                  </a:lnTo>
                  <a:lnTo>
                    <a:pt x="1472" y="187"/>
                  </a:lnTo>
                  <a:lnTo>
                    <a:pt x="1472" y="187"/>
                  </a:lnTo>
                  <a:close/>
                  <a:moveTo>
                    <a:pt x="3559" y="12"/>
                  </a:moveTo>
                  <a:lnTo>
                    <a:pt x="3559" y="12"/>
                  </a:lnTo>
                  <a:lnTo>
                    <a:pt x="3554" y="8"/>
                  </a:lnTo>
                  <a:lnTo>
                    <a:pt x="3546" y="6"/>
                  </a:lnTo>
                  <a:lnTo>
                    <a:pt x="3528" y="4"/>
                  </a:lnTo>
                  <a:lnTo>
                    <a:pt x="3465" y="4"/>
                  </a:lnTo>
                  <a:lnTo>
                    <a:pt x="3465" y="228"/>
                  </a:lnTo>
                  <a:lnTo>
                    <a:pt x="3487" y="228"/>
                  </a:lnTo>
                  <a:lnTo>
                    <a:pt x="3487" y="124"/>
                  </a:lnTo>
                  <a:lnTo>
                    <a:pt x="3524" y="124"/>
                  </a:lnTo>
                  <a:lnTo>
                    <a:pt x="3524" y="124"/>
                  </a:lnTo>
                  <a:lnTo>
                    <a:pt x="3536" y="122"/>
                  </a:lnTo>
                  <a:lnTo>
                    <a:pt x="3548" y="120"/>
                  </a:lnTo>
                  <a:lnTo>
                    <a:pt x="3558" y="114"/>
                  </a:lnTo>
                  <a:lnTo>
                    <a:pt x="3563" y="108"/>
                  </a:lnTo>
                  <a:lnTo>
                    <a:pt x="3563" y="108"/>
                  </a:lnTo>
                  <a:lnTo>
                    <a:pt x="3569" y="98"/>
                  </a:lnTo>
                  <a:lnTo>
                    <a:pt x="3573" y="88"/>
                  </a:lnTo>
                  <a:lnTo>
                    <a:pt x="3575" y="75"/>
                  </a:lnTo>
                  <a:lnTo>
                    <a:pt x="3577" y="59"/>
                  </a:lnTo>
                  <a:lnTo>
                    <a:pt x="3577" y="59"/>
                  </a:lnTo>
                  <a:lnTo>
                    <a:pt x="3575" y="43"/>
                  </a:lnTo>
                  <a:lnTo>
                    <a:pt x="3571" y="30"/>
                  </a:lnTo>
                  <a:lnTo>
                    <a:pt x="3567" y="20"/>
                  </a:lnTo>
                  <a:lnTo>
                    <a:pt x="3559" y="12"/>
                  </a:lnTo>
                  <a:lnTo>
                    <a:pt x="3559" y="12"/>
                  </a:lnTo>
                  <a:close/>
                  <a:moveTo>
                    <a:pt x="3522" y="106"/>
                  </a:moveTo>
                  <a:lnTo>
                    <a:pt x="3487" y="106"/>
                  </a:lnTo>
                  <a:lnTo>
                    <a:pt x="3487" y="22"/>
                  </a:lnTo>
                  <a:lnTo>
                    <a:pt x="3522" y="22"/>
                  </a:lnTo>
                  <a:lnTo>
                    <a:pt x="3522" y="22"/>
                  </a:lnTo>
                  <a:lnTo>
                    <a:pt x="3536" y="22"/>
                  </a:lnTo>
                  <a:lnTo>
                    <a:pt x="3542" y="24"/>
                  </a:lnTo>
                  <a:lnTo>
                    <a:pt x="3546" y="28"/>
                  </a:lnTo>
                  <a:lnTo>
                    <a:pt x="3546" y="28"/>
                  </a:lnTo>
                  <a:lnTo>
                    <a:pt x="3552" y="33"/>
                  </a:lnTo>
                  <a:lnTo>
                    <a:pt x="3554" y="41"/>
                  </a:lnTo>
                  <a:lnTo>
                    <a:pt x="3556" y="49"/>
                  </a:lnTo>
                  <a:lnTo>
                    <a:pt x="3558" y="61"/>
                  </a:lnTo>
                  <a:lnTo>
                    <a:pt x="3558" y="61"/>
                  </a:lnTo>
                  <a:lnTo>
                    <a:pt x="3556" y="73"/>
                  </a:lnTo>
                  <a:lnTo>
                    <a:pt x="3554" y="81"/>
                  </a:lnTo>
                  <a:lnTo>
                    <a:pt x="3552" y="88"/>
                  </a:lnTo>
                  <a:lnTo>
                    <a:pt x="3548" y="96"/>
                  </a:lnTo>
                  <a:lnTo>
                    <a:pt x="3544" y="100"/>
                  </a:lnTo>
                  <a:lnTo>
                    <a:pt x="3538" y="104"/>
                  </a:lnTo>
                  <a:lnTo>
                    <a:pt x="3530" y="106"/>
                  </a:lnTo>
                  <a:lnTo>
                    <a:pt x="3522" y="106"/>
                  </a:lnTo>
                  <a:lnTo>
                    <a:pt x="3522" y="106"/>
                  </a:lnTo>
                  <a:close/>
                  <a:moveTo>
                    <a:pt x="3412" y="146"/>
                  </a:moveTo>
                  <a:lnTo>
                    <a:pt x="3412" y="146"/>
                  </a:lnTo>
                  <a:lnTo>
                    <a:pt x="3410" y="173"/>
                  </a:lnTo>
                  <a:lnTo>
                    <a:pt x="3408" y="183"/>
                  </a:lnTo>
                  <a:lnTo>
                    <a:pt x="3406" y="191"/>
                  </a:lnTo>
                  <a:lnTo>
                    <a:pt x="3406" y="191"/>
                  </a:lnTo>
                  <a:lnTo>
                    <a:pt x="3400" y="201"/>
                  </a:lnTo>
                  <a:lnTo>
                    <a:pt x="3390" y="208"/>
                  </a:lnTo>
                  <a:lnTo>
                    <a:pt x="3381" y="214"/>
                  </a:lnTo>
                  <a:lnTo>
                    <a:pt x="3367" y="214"/>
                  </a:lnTo>
                  <a:lnTo>
                    <a:pt x="3367" y="214"/>
                  </a:lnTo>
                  <a:lnTo>
                    <a:pt x="3353" y="214"/>
                  </a:lnTo>
                  <a:lnTo>
                    <a:pt x="3341" y="208"/>
                  </a:lnTo>
                  <a:lnTo>
                    <a:pt x="3333" y="201"/>
                  </a:lnTo>
                  <a:lnTo>
                    <a:pt x="3326" y="191"/>
                  </a:lnTo>
                  <a:lnTo>
                    <a:pt x="3326" y="191"/>
                  </a:lnTo>
                  <a:lnTo>
                    <a:pt x="3324" y="183"/>
                  </a:lnTo>
                  <a:lnTo>
                    <a:pt x="3322" y="173"/>
                  </a:lnTo>
                  <a:lnTo>
                    <a:pt x="3322" y="146"/>
                  </a:lnTo>
                  <a:lnTo>
                    <a:pt x="3322" y="4"/>
                  </a:lnTo>
                  <a:lnTo>
                    <a:pt x="3302" y="4"/>
                  </a:lnTo>
                  <a:lnTo>
                    <a:pt x="3302" y="159"/>
                  </a:lnTo>
                  <a:lnTo>
                    <a:pt x="3302" y="159"/>
                  </a:lnTo>
                  <a:lnTo>
                    <a:pt x="3302" y="177"/>
                  </a:lnTo>
                  <a:lnTo>
                    <a:pt x="3306" y="191"/>
                  </a:lnTo>
                  <a:lnTo>
                    <a:pt x="3310" y="203"/>
                  </a:lnTo>
                  <a:lnTo>
                    <a:pt x="3318" y="214"/>
                  </a:lnTo>
                  <a:lnTo>
                    <a:pt x="3326" y="222"/>
                  </a:lnTo>
                  <a:lnTo>
                    <a:pt x="3337" y="228"/>
                  </a:lnTo>
                  <a:lnTo>
                    <a:pt x="3351" y="230"/>
                  </a:lnTo>
                  <a:lnTo>
                    <a:pt x="3367" y="232"/>
                  </a:lnTo>
                  <a:lnTo>
                    <a:pt x="3367" y="232"/>
                  </a:lnTo>
                  <a:lnTo>
                    <a:pt x="3383" y="230"/>
                  </a:lnTo>
                  <a:lnTo>
                    <a:pt x="3394" y="228"/>
                  </a:lnTo>
                  <a:lnTo>
                    <a:pt x="3406" y="222"/>
                  </a:lnTo>
                  <a:lnTo>
                    <a:pt x="3416" y="214"/>
                  </a:lnTo>
                  <a:lnTo>
                    <a:pt x="3422" y="203"/>
                  </a:lnTo>
                  <a:lnTo>
                    <a:pt x="3428" y="191"/>
                  </a:lnTo>
                  <a:lnTo>
                    <a:pt x="3430" y="177"/>
                  </a:lnTo>
                  <a:lnTo>
                    <a:pt x="3432" y="159"/>
                  </a:lnTo>
                  <a:lnTo>
                    <a:pt x="3432" y="4"/>
                  </a:lnTo>
                  <a:lnTo>
                    <a:pt x="3412" y="4"/>
                  </a:lnTo>
                  <a:lnTo>
                    <a:pt x="3412" y="146"/>
                  </a:lnTo>
                  <a:close/>
                  <a:moveTo>
                    <a:pt x="2638" y="201"/>
                  </a:moveTo>
                  <a:lnTo>
                    <a:pt x="2638" y="201"/>
                  </a:lnTo>
                  <a:lnTo>
                    <a:pt x="2547" y="4"/>
                  </a:lnTo>
                  <a:lnTo>
                    <a:pt x="2516" y="4"/>
                  </a:lnTo>
                  <a:lnTo>
                    <a:pt x="2516" y="228"/>
                  </a:lnTo>
                  <a:lnTo>
                    <a:pt x="2535" y="228"/>
                  </a:lnTo>
                  <a:lnTo>
                    <a:pt x="2535" y="30"/>
                  </a:lnTo>
                  <a:lnTo>
                    <a:pt x="2535" y="30"/>
                  </a:lnTo>
                  <a:lnTo>
                    <a:pt x="2628" y="228"/>
                  </a:lnTo>
                  <a:lnTo>
                    <a:pt x="2657" y="228"/>
                  </a:lnTo>
                  <a:lnTo>
                    <a:pt x="2657" y="4"/>
                  </a:lnTo>
                  <a:lnTo>
                    <a:pt x="2638" y="4"/>
                  </a:lnTo>
                  <a:lnTo>
                    <a:pt x="2638" y="201"/>
                  </a:lnTo>
                  <a:close/>
                  <a:moveTo>
                    <a:pt x="3251" y="20"/>
                  </a:moveTo>
                  <a:lnTo>
                    <a:pt x="3251" y="20"/>
                  </a:lnTo>
                  <a:lnTo>
                    <a:pt x="3241" y="12"/>
                  </a:lnTo>
                  <a:lnTo>
                    <a:pt x="3229" y="4"/>
                  </a:lnTo>
                  <a:lnTo>
                    <a:pt x="3215" y="0"/>
                  </a:lnTo>
                  <a:lnTo>
                    <a:pt x="3200" y="0"/>
                  </a:lnTo>
                  <a:lnTo>
                    <a:pt x="3200" y="0"/>
                  </a:lnTo>
                  <a:lnTo>
                    <a:pt x="3184" y="0"/>
                  </a:lnTo>
                  <a:lnTo>
                    <a:pt x="3172" y="4"/>
                  </a:lnTo>
                  <a:lnTo>
                    <a:pt x="3160" y="12"/>
                  </a:lnTo>
                  <a:lnTo>
                    <a:pt x="3151" y="20"/>
                  </a:lnTo>
                  <a:lnTo>
                    <a:pt x="3151" y="20"/>
                  </a:lnTo>
                  <a:lnTo>
                    <a:pt x="3145" y="30"/>
                  </a:lnTo>
                  <a:lnTo>
                    <a:pt x="3141" y="39"/>
                  </a:lnTo>
                  <a:lnTo>
                    <a:pt x="3137" y="53"/>
                  </a:lnTo>
                  <a:lnTo>
                    <a:pt x="3135" y="67"/>
                  </a:lnTo>
                  <a:lnTo>
                    <a:pt x="3135" y="67"/>
                  </a:lnTo>
                  <a:lnTo>
                    <a:pt x="3133" y="116"/>
                  </a:lnTo>
                  <a:lnTo>
                    <a:pt x="3133" y="116"/>
                  </a:lnTo>
                  <a:lnTo>
                    <a:pt x="3135" y="165"/>
                  </a:lnTo>
                  <a:lnTo>
                    <a:pt x="3135" y="165"/>
                  </a:lnTo>
                  <a:lnTo>
                    <a:pt x="3137" y="179"/>
                  </a:lnTo>
                  <a:lnTo>
                    <a:pt x="3141" y="193"/>
                  </a:lnTo>
                  <a:lnTo>
                    <a:pt x="3145" y="203"/>
                  </a:lnTo>
                  <a:lnTo>
                    <a:pt x="3151" y="212"/>
                  </a:lnTo>
                  <a:lnTo>
                    <a:pt x="3151" y="212"/>
                  </a:lnTo>
                  <a:lnTo>
                    <a:pt x="3160" y="220"/>
                  </a:lnTo>
                  <a:lnTo>
                    <a:pt x="3172" y="226"/>
                  </a:lnTo>
                  <a:lnTo>
                    <a:pt x="3184" y="230"/>
                  </a:lnTo>
                  <a:lnTo>
                    <a:pt x="3200" y="232"/>
                  </a:lnTo>
                  <a:lnTo>
                    <a:pt x="3200" y="232"/>
                  </a:lnTo>
                  <a:lnTo>
                    <a:pt x="3215" y="230"/>
                  </a:lnTo>
                  <a:lnTo>
                    <a:pt x="3229" y="226"/>
                  </a:lnTo>
                  <a:lnTo>
                    <a:pt x="3241" y="220"/>
                  </a:lnTo>
                  <a:lnTo>
                    <a:pt x="3251" y="212"/>
                  </a:lnTo>
                  <a:lnTo>
                    <a:pt x="3251" y="212"/>
                  </a:lnTo>
                  <a:lnTo>
                    <a:pt x="3257" y="203"/>
                  </a:lnTo>
                  <a:lnTo>
                    <a:pt x="3261" y="193"/>
                  </a:lnTo>
                  <a:lnTo>
                    <a:pt x="3265" y="179"/>
                  </a:lnTo>
                  <a:lnTo>
                    <a:pt x="3267" y="165"/>
                  </a:lnTo>
                  <a:lnTo>
                    <a:pt x="3267" y="165"/>
                  </a:lnTo>
                  <a:lnTo>
                    <a:pt x="3269" y="116"/>
                  </a:lnTo>
                  <a:lnTo>
                    <a:pt x="3269" y="116"/>
                  </a:lnTo>
                  <a:lnTo>
                    <a:pt x="3267" y="67"/>
                  </a:lnTo>
                  <a:lnTo>
                    <a:pt x="3267" y="67"/>
                  </a:lnTo>
                  <a:lnTo>
                    <a:pt x="3265" y="53"/>
                  </a:lnTo>
                  <a:lnTo>
                    <a:pt x="3261" y="39"/>
                  </a:lnTo>
                  <a:lnTo>
                    <a:pt x="3257" y="30"/>
                  </a:lnTo>
                  <a:lnTo>
                    <a:pt x="3251" y="20"/>
                  </a:lnTo>
                  <a:lnTo>
                    <a:pt x="3251" y="20"/>
                  </a:lnTo>
                  <a:close/>
                  <a:moveTo>
                    <a:pt x="3243" y="187"/>
                  </a:moveTo>
                  <a:lnTo>
                    <a:pt x="3243" y="187"/>
                  </a:lnTo>
                  <a:lnTo>
                    <a:pt x="3237" y="199"/>
                  </a:lnTo>
                  <a:lnTo>
                    <a:pt x="3227" y="208"/>
                  </a:lnTo>
                  <a:lnTo>
                    <a:pt x="3215" y="214"/>
                  </a:lnTo>
                  <a:lnTo>
                    <a:pt x="3200" y="214"/>
                  </a:lnTo>
                  <a:lnTo>
                    <a:pt x="3200" y="214"/>
                  </a:lnTo>
                  <a:lnTo>
                    <a:pt x="3186" y="214"/>
                  </a:lnTo>
                  <a:lnTo>
                    <a:pt x="3174" y="208"/>
                  </a:lnTo>
                  <a:lnTo>
                    <a:pt x="3164" y="199"/>
                  </a:lnTo>
                  <a:lnTo>
                    <a:pt x="3158" y="187"/>
                  </a:lnTo>
                  <a:lnTo>
                    <a:pt x="3158" y="187"/>
                  </a:lnTo>
                  <a:lnTo>
                    <a:pt x="3157" y="175"/>
                  </a:lnTo>
                  <a:lnTo>
                    <a:pt x="3155" y="161"/>
                  </a:lnTo>
                  <a:lnTo>
                    <a:pt x="3153" y="116"/>
                  </a:lnTo>
                  <a:lnTo>
                    <a:pt x="3153" y="116"/>
                  </a:lnTo>
                  <a:lnTo>
                    <a:pt x="3155" y="71"/>
                  </a:lnTo>
                  <a:lnTo>
                    <a:pt x="3157" y="55"/>
                  </a:lnTo>
                  <a:lnTo>
                    <a:pt x="3158" y="45"/>
                  </a:lnTo>
                  <a:lnTo>
                    <a:pt x="3158" y="45"/>
                  </a:lnTo>
                  <a:lnTo>
                    <a:pt x="3164" y="31"/>
                  </a:lnTo>
                  <a:lnTo>
                    <a:pt x="3174" y="24"/>
                  </a:lnTo>
                  <a:lnTo>
                    <a:pt x="3186" y="18"/>
                  </a:lnTo>
                  <a:lnTo>
                    <a:pt x="3200" y="16"/>
                  </a:lnTo>
                  <a:lnTo>
                    <a:pt x="3200" y="16"/>
                  </a:lnTo>
                  <a:lnTo>
                    <a:pt x="3215" y="18"/>
                  </a:lnTo>
                  <a:lnTo>
                    <a:pt x="3227" y="24"/>
                  </a:lnTo>
                  <a:lnTo>
                    <a:pt x="3237" y="31"/>
                  </a:lnTo>
                  <a:lnTo>
                    <a:pt x="3243" y="45"/>
                  </a:lnTo>
                  <a:lnTo>
                    <a:pt x="3243" y="45"/>
                  </a:lnTo>
                  <a:lnTo>
                    <a:pt x="3245" y="55"/>
                  </a:lnTo>
                  <a:lnTo>
                    <a:pt x="3247" y="71"/>
                  </a:lnTo>
                  <a:lnTo>
                    <a:pt x="3249" y="116"/>
                  </a:lnTo>
                  <a:lnTo>
                    <a:pt x="3249" y="116"/>
                  </a:lnTo>
                  <a:lnTo>
                    <a:pt x="3247" y="161"/>
                  </a:lnTo>
                  <a:lnTo>
                    <a:pt x="3245" y="175"/>
                  </a:lnTo>
                  <a:lnTo>
                    <a:pt x="3243" y="187"/>
                  </a:lnTo>
                  <a:lnTo>
                    <a:pt x="3243" y="187"/>
                  </a:lnTo>
                  <a:close/>
                  <a:moveTo>
                    <a:pt x="2412" y="16"/>
                  </a:moveTo>
                  <a:lnTo>
                    <a:pt x="2412" y="16"/>
                  </a:lnTo>
                  <a:lnTo>
                    <a:pt x="2423" y="18"/>
                  </a:lnTo>
                  <a:lnTo>
                    <a:pt x="2431" y="20"/>
                  </a:lnTo>
                  <a:lnTo>
                    <a:pt x="2439" y="24"/>
                  </a:lnTo>
                  <a:lnTo>
                    <a:pt x="2445" y="28"/>
                  </a:lnTo>
                  <a:lnTo>
                    <a:pt x="2451" y="33"/>
                  </a:lnTo>
                  <a:lnTo>
                    <a:pt x="2453" y="41"/>
                  </a:lnTo>
                  <a:lnTo>
                    <a:pt x="2455" y="51"/>
                  </a:lnTo>
                  <a:lnTo>
                    <a:pt x="2457" y="61"/>
                  </a:lnTo>
                  <a:lnTo>
                    <a:pt x="2476" y="61"/>
                  </a:lnTo>
                  <a:lnTo>
                    <a:pt x="2476" y="61"/>
                  </a:lnTo>
                  <a:lnTo>
                    <a:pt x="2474" y="47"/>
                  </a:lnTo>
                  <a:lnTo>
                    <a:pt x="2473" y="33"/>
                  </a:lnTo>
                  <a:lnTo>
                    <a:pt x="2469" y="24"/>
                  </a:lnTo>
                  <a:lnTo>
                    <a:pt x="2461" y="16"/>
                  </a:lnTo>
                  <a:lnTo>
                    <a:pt x="2451" y="8"/>
                  </a:lnTo>
                  <a:lnTo>
                    <a:pt x="2441" y="4"/>
                  </a:lnTo>
                  <a:lnTo>
                    <a:pt x="2427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396" y="0"/>
                  </a:lnTo>
                  <a:lnTo>
                    <a:pt x="2384" y="4"/>
                  </a:lnTo>
                  <a:lnTo>
                    <a:pt x="2372" y="12"/>
                  </a:lnTo>
                  <a:lnTo>
                    <a:pt x="2362" y="20"/>
                  </a:lnTo>
                  <a:lnTo>
                    <a:pt x="2362" y="20"/>
                  </a:lnTo>
                  <a:lnTo>
                    <a:pt x="2357" y="30"/>
                  </a:lnTo>
                  <a:lnTo>
                    <a:pt x="2353" y="39"/>
                  </a:lnTo>
                  <a:lnTo>
                    <a:pt x="2349" y="53"/>
                  </a:lnTo>
                  <a:lnTo>
                    <a:pt x="2347" y="67"/>
                  </a:lnTo>
                  <a:lnTo>
                    <a:pt x="2347" y="67"/>
                  </a:lnTo>
                  <a:lnTo>
                    <a:pt x="2345" y="116"/>
                  </a:lnTo>
                  <a:lnTo>
                    <a:pt x="2345" y="116"/>
                  </a:lnTo>
                  <a:lnTo>
                    <a:pt x="2347" y="165"/>
                  </a:lnTo>
                  <a:lnTo>
                    <a:pt x="2347" y="165"/>
                  </a:lnTo>
                  <a:lnTo>
                    <a:pt x="2349" y="179"/>
                  </a:lnTo>
                  <a:lnTo>
                    <a:pt x="2353" y="193"/>
                  </a:lnTo>
                  <a:lnTo>
                    <a:pt x="2357" y="203"/>
                  </a:lnTo>
                  <a:lnTo>
                    <a:pt x="2362" y="212"/>
                  </a:lnTo>
                  <a:lnTo>
                    <a:pt x="2362" y="212"/>
                  </a:lnTo>
                  <a:lnTo>
                    <a:pt x="2372" y="220"/>
                  </a:lnTo>
                  <a:lnTo>
                    <a:pt x="2384" y="226"/>
                  </a:lnTo>
                  <a:lnTo>
                    <a:pt x="2396" y="230"/>
                  </a:lnTo>
                  <a:lnTo>
                    <a:pt x="2412" y="232"/>
                  </a:lnTo>
                  <a:lnTo>
                    <a:pt x="2412" y="232"/>
                  </a:lnTo>
                  <a:lnTo>
                    <a:pt x="2443" y="230"/>
                  </a:lnTo>
                  <a:lnTo>
                    <a:pt x="2459" y="226"/>
                  </a:lnTo>
                  <a:lnTo>
                    <a:pt x="2474" y="222"/>
                  </a:lnTo>
                  <a:lnTo>
                    <a:pt x="2474" y="110"/>
                  </a:lnTo>
                  <a:lnTo>
                    <a:pt x="2410" y="110"/>
                  </a:lnTo>
                  <a:lnTo>
                    <a:pt x="2410" y="128"/>
                  </a:lnTo>
                  <a:lnTo>
                    <a:pt x="2455" y="128"/>
                  </a:lnTo>
                  <a:lnTo>
                    <a:pt x="2455" y="208"/>
                  </a:lnTo>
                  <a:lnTo>
                    <a:pt x="2455" y="208"/>
                  </a:lnTo>
                  <a:lnTo>
                    <a:pt x="2435" y="214"/>
                  </a:lnTo>
                  <a:lnTo>
                    <a:pt x="2412" y="214"/>
                  </a:lnTo>
                  <a:lnTo>
                    <a:pt x="2412" y="214"/>
                  </a:lnTo>
                  <a:lnTo>
                    <a:pt x="2398" y="214"/>
                  </a:lnTo>
                  <a:lnTo>
                    <a:pt x="2386" y="208"/>
                  </a:lnTo>
                  <a:lnTo>
                    <a:pt x="2376" y="199"/>
                  </a:lnTo>
                  <a:lnTo>
                    <a:pt x="2370" y="187"/>
                  </a:lnTo>
                  <a:lnTo>
                    <a:pt x="2370" y="187"/>
                  </a:lnTo>
                  <a:lnTo>
                    <a:pt x="2368" y="175"/>
                  </a:lnTo>
                  <a:lnTo>
                    <a:pt x="2366" y="161"/>
                  </a:lnTo>
                  <a:lnTo>
                    <a:pt x="2364" y="116"/>
                  </a:lnTo>
                  <a:lnTo>
                    <a:pt x="2364" y="116"/>
                  </a:lnTo>
                  <a:lnTo>
                    <a:pt x="2366" y="71"/>
                  </a:lnTo>
                  <a:lnTo>
                    <a:pt x="2368" y="55"/>
                  </a:lnTo>
                  <a:lnTo>
                    <a:pt x="2370" y="45"/>
                  </a:lnTo>
                  <a:lnTo>
                    <a:pt x="2370" y="45"/>
                  </a:lnTo>
                  <a:lnTo>
                    <a:pt x="2376" y="31"/>
                  </a:lnTo>
                  <a:lnTo>
                    <a:pt x="2386" y="24"/>
                  </a:lnTo>
                  <a:lnTo>
                    <a:pt x="2398" y="18"/>
                  </a:lnTo>
                  <a:lnTo>
                    <a:pt x="2412" y="16"/>
                  </a:lnTo>
                  <a:lnTo>
                    <a:pt x="2412" y="16"/>
                  </a:lnTo>
                  <a:close/>
                  <a:moveTo>
                    <a:pt x="1901" y="4"/>
                  </a:moveTo>
                  <a:lnTo>
                    <a:pt x="1842" y="4"/>
                  </a:lnTo>
                  <a:lnTo>
                    <a:pt x="1842" y="228"/>
                  </a:lnTo>
                  <a:lnTo>
                    <a:pt x="1893" y="228"/>
                  </a:lnTo>
                  <a:lnTo>
                    <a:pt x="1893" y="228"/>
                  </a:lnTo>
                  <a:lnTo>
                    <a:pt x="1914" y="226"/>
                  </a:lnTo>
                  <a:lnTo>
                    <a:pt x="1932" y="220"/>
                  </a:lnTo>
                  <a:lnTo>
                    <a:pt x="1940" y="216"/>
                  </a:lnTo>
                  <a:lnTo>
                    <a:pt x="1946" y="212"/>
                  </a:lnTo>
                  <a:lnTo>
                    <a:pt x="1952" y="206"/>
                  </a:lnTo>
                  <a:lnTo>
                    <a:pt x="1958" y="201"/>
                  </a:lnTo>
                  <a:lnTo>
                    <a:pt x="1958" y="201"/>
                  </a:lnTo>
                  <a:lnTo>
                    <a:pt x="1963" y="187"/>
                  </a:lnTo>
                  <a:lnTo>
                    <a:pt x="1967" y="167"/>
                  </a:lnTo>
                  <a:lnTo>
                    <a:pt x="1969" y="146"/>
                  </a:lnTo>
                  <a:lnTo>
                    <a:pt x="1971" y="116"/>
                  </a:lnTo>
                  <a:lnTo>
                    <a:pt x="1971" y="116"/>
                  </a:lnTo>
                  <a:lnTo>
                    <a:pt x="1969" y="88"/>
                  </a:lnTo>
                  <a:lnTo>
                    <a:pt x="1967" y="65"/>
                  </a:lnTo>
                  <a:lnTo>
                    <a:pt x="1963" y="45"/>
                  </a:lnTo>
                  <a:lnTo>
                    <a:pt x="1960" y="31"/>
                  </a:lnTo>
                  <a:lnTo>
                    <a:pt x="1960" y="31"/>
                  </a:lnTo>
                  <a:lnTo>
                    <a:pt x="1956" y="26"/>
                  </a:lnTo>
                  <a:lnTo>
                    <a:pt x="1950" y="20"/>
                  </a:lnTo>
                  <a:lnTo>
                    <a:pt x="1944" y="16"/>
                  </a:lnTo>
                  <a:lnTo>
                    <a:pt x="1938" y="12"/>
                  </a:lnTo>
                  <a:lnTo>
                    <a:pt x="1920" y="6"/>
                  </a:lnTo>
                  <a:lnTo>
                    <a:pt x="1901" y="4"/>
                  </a:lnTo>
                  <a:lnTo>
                    <a:pt x="1901" y="4"/>
                  </a:lnTo>
                  <a:close/>
                  <a:moveTo>
                    <a:pt x="1948" y="171"/>
                  </a:moveTo>
                  <a:lnTo>
                    <a:pt x="1948" y="171"/>
                  </a:lnTo>
                  <a:lnTo>
                    <a:pt x="1944" y="183"/>
                  </a:lnTo>
                  <a:lnTo>
                    <a:pt x="1940" y="191"/>
                  </a:lnTo>
                  <a:lnTo>
                    <a:pt x="1936" y="199"/>
                  </a:lnTo>
                  <a:lnTo>
                    <a:pt x="1930" y="203"/>
                  </a:lnTo>
                  <a:lnTo>
                    <a:pt x="1930" y="203"/>
                  </a:lnTo>
                  <a:lnTo>
                    <a:pt x="1922" y="206"/>
                  </a:lnTo>
                  <a:lnTo>
                    <a:pt x="1912" y="208"/>
                  </a:lnTo>
                  <a:lnTo>
                    <a:pt x="1885" y="210"/>
                  </a:lnTo>
                  <a:lnTo>
                    <a:pt x="1861" y="210"/>
                  </a:lnTo>
                  <a:lnTo>
                    <a:pt x="1861" y="22"/>
                  </a:lnTo>
                  <a:lnTo>
                    <a:pt x="1887" y="22"/>
                  </a:lnTo>
                  <a:lnTo>
                    <a:pt x="1887" y="22"/>
                  </a:lnTo>
                  <a:lnTo>
                    <a:pt x="1906" y="22"/>
                  </a:lnTo>
                  <a:lnTo>
                    <a:pt x="1920" y="26"/>
                  </a:lnTo>
                  <a:lnTo>
                    <a:pt x="1932" y="31"/>
                  </a:lnTo>
                  <a:lnTo>
                    <a:pt x="1940" y="37"/>
                  </a:lnTo>
                  <a:lnTo>
                    <a:pt x="1940" y="37"/>
                  </a:lnTo>
                  <a:lnTo>
                    <a:pt x="1944" y="47"/>
                  </a:lnTo>
                  <a:lnTo>
                    <a:pt x="1948" y="63"/>
                  </a:lnTo>
                  <a:lnTo>
                    <a:pt x="1950" y="81"/>
                  </a:lnTo>
                  <a:lnTo>
                    <a:pt x="1952" y="104"/>
                  </a:lnTo>
                  <a:lnTo>
                    <a:pt x="1952" y="104"/>
                  </a:lnTo>
                  <a:lnTo>
                    <a:pt x="1950" y="146"/>
                  </a:lnTo>
                  <a:lnTo>
                    <a:pt x="1948" y="171"/>
                  </a:lnTo>
                  <a:lnTo>
                    <a:pt x="1948" y="171"/>
                  </a:lnTo>
                  <a:close/>
                  <a:moveTo>
                    <a:pt x="2026" y="122"/>
                  </a:moveTo>
                  <a:lnTo>
                    <a:pt x="2105" y="122"/>
                  </a:lnTo>
                  <a:lnTo>
                    <a:pt x="2105" y="104"/>
                  </a:lnTo>
                  <a:lnTo>
                    <a:pt x="2026" y="104"/>
                  </a:lnTo>
                  <a:lnTo>
                    <a:pt x="2026" y="22"/>
                  </a:lnTo>
                  <a:lnTo>
                    <a:pt x="2109" y="22"/>
                  </a:lnTo>
                  <a:lnTo>
                    <a:pt x="2109" y="4"/>
                  </a:lnTo>
                  <a:lnTo>
                    <a:pt x="2007" y="4"/>
                  </a:lnTo>
                  <a:lnTo>
                    <a:pt x="2007" y="228"/>
                  </a:lnTo>
                  <a:lnTo>
                    <a:pt x="2111" y="228"/>
                  </a:lnTo>
                  <a:lnTo>
                    <a:pt x="2111" y="210"/>
                  </a:lnTo>
                  <a:lnTo>
                    <a:pt x="2026" y="210"/>
                  </a:lnTo>
                  <a:lnTo>
                    <a:pt x="2026" y="122"/>
                  </a:lnTo>
                  <a:close/>
                  <a:moveTo>
                    <a:pt x="2195" y="16"/>
                  </a:moveTo>
                  <a:lnTo>
                    <a:pt x="2195" y="16"/>
                  </a:lnTo>
                  <a:lnTo>
                    <a:pt x="2205" y="18"/>
                  </a:lnTo>
                  <a:lnTo>
                    <a:pt x="2213" y="20"/>
                  </a:lnTo>
                  <a:lnTo>
                    <a:pt x="2219" y="24"/>
                  </a:lnTo>
                  <a:lnTo>
                    <a:pt x="2225" y="28"/>
                  </a:lnTo>
                  <a:lnTo>
                    <a:pt x="2225" y="28"/>
                  </a:lnTo>
                  <a:lnTo>
                    <a:pt x="2229" y="33"/>
                  </a:lnTo>
                  <a:lnTo>
                    <a:pt x="2231" y="41"/>
                  </a:lnTo>
                  <a:lnTo>
                    <a:pt x="2233" y="61"/>
                  </a:lnTo>
                  <a:lnTo>
                    <a:pt x="2252" y="61"/>
                  </a:lnTo>
                  <a:lnTo>
                    <a:pt x="2252" y="61"/>
                  </a:lnTo>
                  <a:lnTo>
                    <a:pt x="2252" y="47"/>
                  </a:lnTo>
                  <a:lnTo>
                    <a:pt x="2248" y="33"/>
                  </a:lnTo>
                  <a:lnTo>
                    <a:pt x="2245" y="24"/>
                  </a:lnTo>
                  <a:lnTo>
                    <a:pt x="2239" y="16"/>
                  </a:lnTo>
                  <a:lnTo>
                    <a:pt x="2231" y="8"/>
                  </a:lnTo>
                  <a:lnTo>
                    <a:pt x="2221" y="4"/>
                  </a:lnTo>
                  <a:lnTo>
                    <a:pt x="2209" y="0"/>
                  </a:lnTo>
                  <a:lnTo>
                    <a:pt x="2195" y="0"/>
                  </a:lnTo>
                  <a:lnTo>
                    <a:pt x="2195" y="0"/>
                  </a:lnTo>
                  <a:lnTo>
                    <a:pt x="2182" y="0"/>
                  </a:lnTo>
                  <a:lnTo>
                    <a:pt x="2170" y="4"/>
                  </a:lnTo>
                  <a:lnTo>
                    <a:pt x="2158" y="8"/>
                  </a:lnTo>
                  <a:lnTo>
                    <a:pt x="2150" y="14"/>
                  </a:lnTo>
                  <a:lnTo>
                    <a:pt x="2144" y="22"/>
                  </a:lnTo>
                  <a:lnTo>
                    <a:pt x="2138" y="31"/>
                  </a:lnTo>
                  <a:lnTo>
                    <a:pt x="2136" y="41"/>
                  </a:lnTo>
                  <a:lnTo>
                    <a:pt x="2134" y="55"/>
                  </a:lnTo>
                  <a:lnTo>
                    <a:pt x="2134" y="55"/>
                  </a:lnTo>
                  <a:lnTo>
                    <a:pt x="2136" y="71"/>
                  </a:lnTo>
                  <a:lnTo>
                    <a:pt x="2142" y="85"/>
                  </a:lnTo>
                  <a:lnTo>
                    <a:pt x="2142" y="85"/>
                  </a:lnTo>
                  <a:lnTo>
                    <a:pt x="2148" y="90"/>
                  </a:lnTo>
                  <a:lnTo>
                    <a:pt x="2156" y="100"/>
                  </a:lnTo>
                  <a:lnTo>
                    <a:pt x="2182" y="116"/>
                  </a:lnTo>
                  <a:lnTo>
                    <a:pt x="2182" y="116"/>
                  </a:lnTo>
                  <a:lnTo>
                    <a:pt x="2207" y="134"/>
                  </a:lnTo>
                  <a:lnTo>
                    <a:pt x="2219" y="142"/>
                  </a:lnTo>
                  <a:lnTo>
                    <a:pt x="2219" y="142"/>
                  </a:lnTo>
                  <a:lnTo>
                    <a:pt x="2225" y="149"/>
                  </a:lnTo>
                  <a:lnTo>
                    <a:pt x="2229" y="157"/>
                  </a:lnTo>
                  <a:lnTo>
                    <a:pt x="2233" y="165"/>
                  </a:lnTo>
                  <a:lnTo>
                    <a:pt x="2233" y="175"/>
                  </a:lnTo>
                  <a:lnTo>
                    <a:pt x="2233" y="175"/>
                  </a:lnTo>
                  <a:lnTo>
                    <a:pt x="2233" y="185"/>
                  </a:lnTo>
                  <a:lnTo>
                    <a:pt x="2231" y="193"/>
                  </a:lnTo>
                  <a:lnTo>
                    <a:pt x="2227" y="201"/>
                  </a:lnTo>
                  <a:lnTo>
                    <a:pt x="2223" y="204"/>
                  </a:lnTo>
                  <a:lnTo>
                    <a:pt x="2219" y="210"/>
                  </a:lnTo>
                  <a:lnTo>
                    <a:pt x="2211" y="212"/>
                  </a:lnTo>
                  <a:lnTo>
                    <a:pt x="2203" y="214"/>
                  </a:lnTo>
                  <a:lnTo>
                    <a:pt x="2195" y="214"/>
                  </a:lnTo>
                  <a:lnTo>
                    <a:pt x="2195" y="214"/>
                  </a:lnTo>
                  <a:lnTo>
                    <a:pt x="2182" y="214"/>
                  </a:lnTo>
                  <a:lnTo>
                    <a:pt x="2172" y="210"/>
                  </a:lnTo>
                  <a:lnTo>
                    <a:pt x="2164" y="206"/>
                  </a:lnTo>
                  <a:lnTo>
                    <a:pt x="2158" y="199"/>
                  </a:lnTo>
                  <a:lnTo>
                    <a:pt x="2158" y="199"/>
                  </a:lnTo>
                  <a:lnTo>
                    <a:pt x="2156" y="193"/>
                  </a:lnTo>
                  <a:lnTo>
                    <a:pt x="2154" y="185"/>
                  </a:lnTo>
                  <a:lnTo>
                    <a:pt x="2152" y="165"/>
                  </a:lnTo>
                  <a:lnTo>
                    <a:pt x="2132" y="165"/>
                  </a:lnTo>
                  <a:lnTo>
                    <a:pt x="2132" y="165"/>
                  </a:lnTo>
                  <a:lnTo>
                    <a:pt x="2132" y="181"/>
                  </a:lnTo>
                  <a:lnTo>
                    <a:pt x="2134" y="195"/>
                  </a:lnTo>
                  <a:lnTo>
                    <a:pt x="2140" y="206"/>
                  </a:lnTo>
                  <a:lnTo>
                    <a:pt x="2146" y="214"/>
                  </a:lnTo>
                  <a:lnTo>
                    <a:pt x="2154" y="222"/>
                  </a:lnTo>
                  <a:lnTo>
                    <a:pt x="2166" y="228"/>
                  </a:lnTo>
                  <a:lnTo>
                    <a:pt x="2178" y="230"/>
                  </a:lnTo>
                  <a:lnTo>
                    <a:pt x="2193" y="232"/>
                  </a:lnTo>
                  <a:lnTo>
                    <a:pt x="2193" y="232"/>
                  </a:lnTo>
                  <a:lnTo>
                    <a:pt x="2207" y="230"/>
                  </a:lnTo>
                  <a:lnTo>
                    <a:pt x="2219" y="228"/>
                  </a:lnTo>
                  <a:lnTo>
                    <a:pt x="2229" y="224"/>
                  </a:lnTo>
                  <a:lnTo>
                    <a:pt x="2239" y="216"/>
                  </a:lnTo>
                  <a:lnTo>
                    <a:pt x="2245" y="208"/>
                  </a:lnTo>
                  <a:lnTo>
                    <a:pt x="2248" y="199"/>
                  </a:lnTo>
                  <a:lnTo>
                    <a:pt x="2252" y="187"/>
                  </a:lnTo>
                  <a:lnTo>
                    <a:pt x="2252" y="173"/>
                  </a:lnTo>
                  <a:lnTo>
                    <a:pt x="2252" y="173"/>
                  </a:lnTo>
                  <a:lnTo>
                    <a:pt x="2250" y="153"/>
                  </a:lnTo>
                  <a:lnTo>
                    <a:pt x="2248" y="147"/>
                  </a:lnTo>
                  <a:lnTo>
                    <a:pt x="2245" y="140"/>
                  </a:lnTo>
                  <a:lnTo>
                    <a:pt x="2245" y="140"/>
                  </a:lnTo>
                  <a:lnTo>
                    <a:pt x="2237" y="130"/>
                  </a:lnTo>
                  <a:lnTo>
                    <a:pt x="2223" y="120"/>
                  </a:lnTo>
                  <a:lnTo>
                    <a:pt x="2223" y="120"/>
                  </a:lnTo>
                  <a:lnTo>
                    <a:pt x="2197" y="104"/>
                  </a:lnTo>
                  <a:lnTo>
                    <a:pt x="2197" y="104"/>
                  </a:lnTo>
                  <a:lnTo>
                    <a:pt x="2166" y="83"/>
                  </a:lnTo>
                  <a:lnTo>
                    <a:pt x="2166" y="83"/>
                  </a:lnTo>
                  <a:lnTo>
                    <a:pt x="2162" y="77"/>
                  </a:lnTo>
                  <a:lnTo>
                    <a:pt x="2158" y="69"/>
                  </a:lnTo>
                  <a:lnTo>
                    <a:pt x="2156" y="61"/>
                  </a:lnTo>
                  <a:lnTo>
                    <a:pt x="2156" y="51"/>
                  </a:lnTo>
                  <a:lnTo>
                    <a:pt x="2156" y="51"/>
                  </a:lnTo>
                  <a:lnTo>
                    <a:pt x="2156" y="43"/>
                  </a:lnTo>
                  <a:lnTo>
                    <a:pt x="2158" y="35"/>
                  </a:lnTo>
                  <a:lnTo>
                    <a:pt x="2160" y="30"/>
                  </a:lnTo>
                  <a:lnTo>
                    <a:pt x="2166" y="26"/>
                  </a:lnTo>
                  <a:lnTo>
                    <a:pt x="2170" y="22"/>
                  </a:lnTo>
                  <a:lnTo>
                    <a:pt x="2178" y="18"/>
                  </a:lnTo>
                  <a:lnTo>
                    <a:pt x="2186" y="18"/>
                  </a:lnTo>
                  <a:lnTo>
                    <a:pt x="2195" y="16"/>
                  </a:lnTo>
                  <a:lnTo>
                    <a:pt x="2195" y="16"/>
                  </a:lnTo>
                  <a:close/>
                  <a:moveTo>
                    <a:pt x="2288" y="228"/>
                  </a:moveTo>
                  <a:lnTo>
                    <a:pt x="2307" y="228"/>
                  </a:lnTo>
                  <a:lnTo>
                    <a:pt x="2307" y="4"/>
                  </a:lnTo>
                  <a:lnTo>
                    <a:pt x="2288" y="4"/>
                  </a:lnTo>
                  <a:lnTo>
                    <a:pt x="2288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320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6693 0.61944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46" y="30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3" presetClass="entr" presetSubtype="3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62604 -0.11343 " pathEditMode="relative" rAng="0" ptsTypes="AA">
                                      <p:cBhvr>
                                        <p:cTn id="32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02" y="-567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3" presetClass="entr" presetSubtype="3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8" presetClass="emp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4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4388 0.5564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01" y="2782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0.59838 " pathEditMode="relative" rAng="0" ptsTypes="AA">
                                      <p:cBhvr>
                                        <p:cTn id="60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38" y="29907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23" presetClass="entr" presetSubtype="3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path" presetSubtype="0" accel="50000" decel="5000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-0.53151 0.26759 " pathEditMode="relative" rAng="0" ptsTypes="AA">
                                      <p:cBhvr>
                                        <p:cTn id="73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76" y="1338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23" presetClass="entr" presetSubtype="3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771 -0.73495 " pathEditMode="relative" rAng="0" ptsTypes="AA">
                                      <p:cBhvr>
                                        <p:cTn id="86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" y="-36759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23" presetClass="entr" presetSubtype="3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decel="5000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-0.56693 -0.55648 " pathEditMode="relative" rAng="0" ptsTypes="AA">
                                      <p:cBhvr>
                                        <p:cTn id="99" dur="7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46" y="-27824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23" presetClass="entr" presetSubtype="3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path" presetSubtype="0" accel="50000" decel="5000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60833 0.16366 " pathEditMode="relative" rAng="0" ptsTypes="AA">
                                      <p:cBhvr>
                                        <p:cTn id="112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17" y="8171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4336 -0.14282 " pathEditMode="relative" rAng="0" ptsTypes="AA">
                                      <p:cBhvr>
                                        <p:cTn id="125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174" y="-715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23" presetClass="entr" presetSubtype="3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8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-43200000">
                                      <p:cBhvr>
                                        <p:cTn id="1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" presetID="42" presetClass="path" presetSubtype="0" accel="50000" decel="5000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-0.2362 -0.70347 " pathEditMode="relative" rAng="0" ptsTypes="AA">
                                      <p:cBhvr>
                                        <p:cTn id="140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10" y="-35185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716 -0.71389 " pathEditMode="relative" rAng="0" ptsTypes="AA">
                                      <p:cBhvr>
                                        <p:cTn id="155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52" y="-35694"/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23" presetClass="entr" presetSubtype="3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8" presetClass="emp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-43200000">
                                      <p:cBhvr>
                                        <p:cTn id="16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" presetID="42" presetClass="path" presetSubtype="0" accel="50000" decel="5000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56107 -0.43056 " pathEditMode="relative" rAng="0" ptsTypes="AA">
                                      <p:cBhvr>
                                        <p:cTn id="170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47" y="-21528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 0.57801 " pathEditMode="relative" rAng="0" ptsTypes="AA">
                                      <p:cBhvr>
                                        <p:cTn id="183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0" y="28889"/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190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42" presetClass="path" presetSubtype="0" accel="50000" decel="5000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-0.14388 0.55648 " pathEditMode="relative" rAng="0" ptsTypes="AA">
                                      <p:cBhvr>
                                        <p:cTn id="192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01" y="27824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10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4" grpId="0" animBg="1"/>
      <p:bldP spid="4" grpId="1" animBg="1"/>
      <p:bldP spid="4" grpId="2" animBg="1"/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5" grpId="3" animBg="1"/>
      <p:bldP spid="16" grpId="0" animBg="1"/>
      <p:bldP spid="16" grpId="1" animBg="1"/>
      <p:bldP spid="16" grpId="2" animBg="1"/>
      <p:bldP spid="16" grpId="3" animBg="1"/>
      <p:bldP spid="17" grpId="0" animBg="1"/>
      <p:bldP spid="17" grpId="1" animBg="1"/>
      <p:bldP spid="17" grpId="2" animBg="1"/>
      <p:bldP spid="1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3E4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74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47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30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86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222945" y="301871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253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/>
        </p:nvSpPr>
        <p:spPr>
          <a:xfrm>
            <a:off x="304800" y="6724650"/>
            <a:ext cx="1196975" cy="133350"/>
          </a:xfrm>
          <a:custGeom>
            <a:avLst/>
            <a:gdLst>
              <a:gd name="connsiteX0" fmla="*/ 71329 w 1196704"/>
              <a:gd name="connsiteY0" fmla="*/ 0 h 133350"/>
              <a:gd name="connsiteX1" fmla="*/ 1196704 w 1196704"/>
              <a:gd name="connsiteY1" fmla="*/ 0 h 133350"/>
              <a:gd name="connsiteX2" fmla="*/ 1125375 w 1196704"/>
              <a:gd name="connsiteY2" fmla="*/ 133350 h 133350"/>
              <a:gd name="connsiteX3" fmla="*/ 0 w 1196704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704" h="133350">
                <a:moveTo>
                  <a:pt x="71329" y="0"/>
                </a:moveTo>
                <a:lnTo>
                  <a:pt x="1196704" y="0"/>
                </a:lnTo>
                <a:lnTo>
                  <a:pt x="1125375" y="133350"/>
                </a:lnTo>
                <a:lnTo>
                  <a:pt x="0" y="1333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7818438" y="0"/>
            <a:ext cx="1201737" cy="142875"/>
          </a:xfrm>
          <a:custGeom>
            <a:avLst/>
            <a:gdLst>
              <a:gd name="connsiteX0" fmla="*/ 76283 w 1201657"/>
              <a:gd name="connsiteY0" fmla="*/ 0 h 142612"/>
              <a:gd name="connsiteX1" fmla="*/ 1201657 w 1201657"/>
              <a:gd name="connsiteY1" fmla="*/ 0 h 142612"/>
              <a:gd name="connsiteX2" fmla="*/ 1125374 w 1201657"/>
              <a:gd name="connsiteY2" fmla="*/ 142612 h 142612"/>
              <a:gd name="connsiteX3" fmla="*/ 0 w 1201657"/>
              <a:gd name="connsiteY3" fmla="*/ 142612 h 14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1657" h="142612">
                <a:moveTo>
                  <a:pt x="76283" y="0"/>
                </a:moveTo>
                <a:lnTo>
                  <a:pt x="1201657" y="0"/>
                </a:lnTo>
                <a:lnTo>
                  <a:pt x="1125374" y="142612"/>
                </a:lnTo>
                <a:lnTo>
                  <a:pt x="0" y="14261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22945" y="301871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276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490066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317908"/>
            <a:ext cx="7920880" cy="4464496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5E9F-FC77-4C53-B3A7-9184A03DA9BF}" type="datetime1">
              <a:rPr lang="ko-KR" altLang="en-US" smtClean="0"/>
              <a:pPr/>
              <a:t>2020-03-21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CDB4-94B9-4976-A8FB-07981E6742A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304770" y="1000108"/>
            <a:ext cx="8553510" cy="507209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127000" dist="190500" dir="2400000" algn="ctr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morning" dir="t"/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buFont typeface="Wingdings" pitchFamily="2" charset="2"/>
              <a:buNone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7787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048" r:id="rId1"/>
    <p:sldLayoutId id="2147485049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나눔바른고딕" panose="020B060302010102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나눔바른고딕" panose="020B060302010102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나눔바른고딕" panose="020B060302010102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나눔바른고딕" panose="020B060302010102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050" r:id="rId1"/>
    <p:sldLayoutId id="2147485051" r:id="rId2"/>
    <p:sldLayoutId id="2147485052" r:id="rId3"/>
    <p:sldLayoutId id="2147485053" r:id="rId4"/>
    <p:sldLayoutId id="2147485054" r:id="rId5"/>
    <p:sldLayoutId id="2147485055" r:id="rId6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2"/>
          <p:cNvSpPr txBox="1">
            <a:spLocks/>
          </p:cNvSpPr>
          <p:nvPr/>
        </p:nvSpPr>
        <p:spPr bwMode="auto">
          <a:xfrm>
            <a:off x="784431" y="2006959"/>
            <a:ext cx="70279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1">
              <a:defRPr/>
            </a:pP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rPr>
              <a:t>얼굴인식 기반 신분 확인 및 수험표 대체 프로그램</a:t>
            </a:r>
            <a:endParaRPr lang="en-US" altLang="ko-KR" sz="2400" dirty="0">
              <a:solidFill>
                <a:schemeClr val="bg1">
                  <a:lumMod val="85000"/>
                </a:schemeClr>
              </a:solidFill>
              <a:latin typeface="서울남산체 M" panose="02020603020101020101" pitchFamily="18" charset="-127"/>
              <a:ea typeface="서울남산체 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0244" name="TextBox 5"/>
          <p:cNvSpPr txBox="1">
            <a:spLocks noChangeArrowheads="1"/>
          </p:cNvSpPr>
          <p:nvPr/>
        </p:nvSpPr>
        <p:spPr bwMode="auto">
          <a:xfrm>
            <a:off x="755576" y="980728"/>
            <a:ext cx="7945189" cy="924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80000"/>
              </a:lnSpc>
            </a:pPr>
            <a:r>
              <a:rPr kumimoji="0" lang="en-US" altLang="ko-KR" sz="6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  <a:cs typeface="Arial" panose="020B0604020202020204" pitchFamily="34" charset="0"/>
              </a:rPr>
              <a:t>Capstone Design</a:t>
            </a:r>
          </a:p>
        </p:txBody>
      </p:sp>
      <p:sp>
        <p:nvSpPr>
          <p:cNvPr id="9219" name="제목 2"/>
          <p:cNvSpPr txBox="1">
            <a:spLocks/>
          </p:cNvSpPr>
          <p:nvPr/>
        </p:nvSpPr>
        <p:spPr bwMode="auto">
          <a:xfrm>
            <a:off x="4932040" y="6021288"/>
            <a:ext cx="38305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latinLnBrk="1">
              <a:defRPr/>
            </a:pPr>
            <a:r>
              <a:rPr lang="ko-KR" altLang="en-US" sz="20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홍길동</a:t>
            </a:r>
            <a:r>
              <a:rPr lang="en-US" altLang="ko-KR" sz="20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김길동</a:t>
            </a:r>
            <a:r>
              <a:rPr lang="en-US" altLang="ko-KR" sz="20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이길동</a:t>
            </a:r>
            <a:r>
              <a:rPr lang="en-US" altLang="ko-KR" sz="20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박길동</a:t>
            </a:r>
            <a:endParaRPr lang="en-US" altLang="ko-KR" sz="20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타이포_쌍문동 B" panose="02020803020101020101" pitchFamily="18" charset="-127"/>
              <a:ea typeface="타이포_쌍문동 B" panose="02020803020101020101" pitchFamily="18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자유형 41"/>
          <p:cNvSpPr/>
          <p:nvPr/>
        </p:nvSpPr>
        <p:spPr>
          <a:xfrm>
            <a:off x="-31440" y="0"/>
            <a:ext cx="7648575" cy="6858000"/>
          </a:xfrm>
          <a:custGeom>
            <a:avLst/>
            <a:gdLst>
              <a:gd name="connsiteX0" fmla="*/ 1066434 w 7648575"/>
              <a:gd name="connsiteY0" fmla="*/ 0 h 6858001"/>
              <a:gd name="connsiteX1" fmla="*/ 5902409 w 7648575"/>
              <a:gd name="connsiteY1" fmla="*/ 0 h 6858001"/>
              <a:gd name="connsiteX2" fmla="*/ 5902409 w 7648575"/>
              <a:gd name="connsiteY2" fmla="*/ 1 h 6858001"/>
              <a:gd name="connsiteX3" fmla="*/ 7353301 w 7648575"/>
              <a:gd name="connsiteY3" fmla="*/ 1 h 6858001"/>
              <a:gd name="connsiteX4" fmla="*/ 7353301 w 7648575"/>
              <a:gd name="connsiteY4" fmla="*/ 2 h 6858001"/>
              <a:gd name="connsiteX5" fmla="*/ 7648575 w 7648575"/>
              <a:gd name="connsiteY5" fmla="*/ 2 h 6858001"/>
              <a:gd name="connsiteX6" fmla="*/ 6142967 w 7648575"/>
              <a:gd name="connsiteY6" fmla="*/ 2800351 h 6858001"/>
              <a:gd name="connsiteX7" fmla="*/ 6498668 w 7648575"/>
              <a:gd name="connsiteY7" fmla="*/ 2800351 h 6858001"/>
              <a:gd name="connsiteX8" fmla="*/ 4317073 w 7648575"/>
              <a:gd name="connsiteY8" fmla="*/ 6858000 h 6858001"/>
              <a:gd name="connsiteX9" fmla="*/ 3961372 w 7648575"/>
              <a:gd name="connsiteY9" fmla="*/ 6858000 h 6858001"/>
              <a:gd name="connsiteX10" fmla="*/ 3961371 w 7648575"/>
              <a:gd name="connsiteY10" fmla="*/ 6858001 h 6858001"/>
              <a:gd name="connsiteX11" fmla="*/ 3666097 w 7648575"/>
              <a:gd name="connsiteY11" fmla="*/ 6858001 h 6858001"/>
              <a:gd name="connsiteX12" fmla="*/ 2476501 w 7648575"/>
              <a:gd name="connsiteY12" fmla="*/ 6858001 h 6858001"/>
              <a:gd name="connsiteX13" fmla="*/ 2181226 w 7648575"/>
              <a:gd name="connsiteY13" fmla="*/ 6858001 h 6858001"/>
              <a:gd name="connsiteX14" fmla="*/ 2181226 w 7648575"/>
              <a:gd name="connsiteY14" fmla="*/ 6858000 h 6858001"/>
              <a:gd name="connsiteX15" fmla="*/ 1352552 w 7648575"/>
              <a:gd name="connsiteY15" fmla="*/ 6858000 h 6858001"/>
              <a:gd name="connsiteX16" fmla="*/ 0 w 7648575"/>
              <a:gd name="connsiteY16" fmla="*/ 6858000 h 6858001"/>
              <a:gd name="connsiteX17" fmla="*/ 0 w 7648575"/>
              <a:gd name="connsiteY17" fmla="*/ 198351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648575" h="6858001">
                <a:moveTo>
                  <a:pt x="1066434" y="0"/>
                </a:moveTo>
                <a:lnTo>
                  <a:pt x="5902409" y="0"/>
                </a:lnTo>
                <a:lnTo>
                  <a:pt x="5902409" y="1"/>
                </a:lnTo>
                <a:lnTo>
                  <a:pt x="7353301" y="1"/>
                </a:lnTo>
                <a:lnTo>
                  <a:pt x="7353301" y="2"/>
                </a:lnTo>
                <a:lnTo>
                  <a:pt x="7648575" y="2"/>
                </a:lnTo>
                <a:lnTo>
                  <a:pt x="6142967" y="2800351"/>
                </a:lnTo>
                <a:lnTo>
                  <a:pt x="6498668" y="2800351"/>
                </a:lnTo>
                <a:lnTo>
                  <a:pt x="4317073" y="6858000"/>
                </a:lnTo>
                <a:lnTo>
                  <a:pt x="3961372" y="6858000"/>
                </a:lnTo>
                <a:lnTo>
                  <a:pt x="3961371" y="6858001"/>
                </a:lnTo>
                <a:lnTo>
                  <a:pt x="3666097" y="6858001"/>
                </a:lnTo>
                <a:lnTo>
                  <a:pt x="2476501" y="6858001"/>
                </a:lnTo>
                <a:lnTo>
                  <a:pt x="2181226" y="6858001"/>
                </a:lnTo>
                <a:lnTo>
                  <a:pt x="2181226" y="6858000"/>
                </a:lnTo>
                <a:lnTo>
                  <a:pt x="1352552" y="6858000"/>
                </a:lnTo>
                <a:lnTo>
                  <a:pt x="0" y="6858000"/>
                </a:lnTo>
                <a:lnTo>
                  <a:pt x="0" y="1983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0243" name="TextBox 19"/>
          <p:cNvSpPr txBox="1">
            <a:spLocks noChangeArrowheads="1"/>
          </p:cNvSpPr>
          <p:nvPr/>
        </p:nvSpPr>
        <p:spPr bwMode="auto">
          <a:xfrm>
            <a:off x="971600" y="404664"/>
            <a:ext cx="3672408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0" lang="en-US" altLang="ko-KR" sz="4500" b="1" spc="-150" dirty="0">
                <a:latin typeface="Arial Black" panose="020B0A040201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7544" y="1340768"/>
            <a:ext cx="36022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동기</a:t>
            </a:r>
            <a:endParaRPr lang="en-US" altLang="ko-KR" sz="2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목적</a:t>
            </a:r>
            <a:endParaRPr lang="en-US" altLang="ko-KR" sz="2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시스템개요도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개발환경 및 구성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오류처리방안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프로젝트의 차별성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활용가능성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개발일정</a:t>
            </a:r>
            <a:endParaRPr lang="en-US" altLang="ko-KR" sz="2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요청사항</a:t>
            </a:r>
            <a:r>
              <a:rPr lang="en-US" altLang="ko-KR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(</a:t>
            </a: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견적서</a:t>
            </a:r>
            <a:r>
              <a:rPr lang="en-US" altLang="ko-KR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80000" y="2924944"/>
            <a:ext cx="43909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동       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2"/>
          <p:cNvSpPr txBox="1">
            <a:spLocks/>
          </p:cNvSpPr>
          <p:nvPr/>
        </p:nvSpPr>
        <p:spPr bwMode="auto">
          <a:xfrm>
            <a:off x="571896" y="4250604"/>
            <a:ext cx="2484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marL="182563" indent="-1825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신분증을 소지 문제</a:t>
            </a:r>
            <a:endParaRPr lang="en-US" altLang="ko-KR" sz="16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소지 </a:t>
            </a:r>
            <a:r>
              <a:rPr lang="ko-KR" altLang="en-US" sz="1200" dirty="0" err="1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않한</a:t>
            </a: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 경우 생기는 문제</a:t>
            </a:r>
            <a:r>
              <a:rPr lang="en-US" altLang="ko-KR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소지 시 생기는 문제</a:t>
            </a:r>
            <a:r>
              <a:rPr lang="en-US" altLang="ko-KR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분실 문제</a:t>
            </a:r>
            <a:endParaRPr lang="en-US" altLang="ko-KR" sz="1200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0" name="제목 2"/>
          <p:cNvSpPr txBox="1">
            <a:spLocks/>
          </p:cNvSpPr>
          <p:nvPr/>
        </p:nvSpPr>
        <p:spPr bwMode="auto">
          <a:xfrm>
            <a:off x="6089057" y="4250603"/>
            <a:ext cx="248443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marL="182563" indent="-1825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수험표 관리 문제</a:t>
            </a:r>
            <a:endParaRPr lang="en-US" altLang="ko-KR" sz="16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수험표 분실</a:t>
            </a:r>
            <a:r>
              <a:rPr lang="en-US" altLang="ko-KR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수험표 파손</a:t>
            </a:r>
            <a:r>
              <a:rPr lang="en-US" altLang="ko-KR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수험표 미참하는 등 혜택을 받을 때의 문제</a:t>
            </a:r>
            <a:endParaRPr lang="en-US" altLang="ko-KR" sz="1200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1" name="제목 2"/>
          <p:cNvSpPr txBox="1">
            <a:spLocks/>
          </p:cNvSpPr>
          <p:nvPr/>
        </p:nvSpPr>
        <p:spPr bwMode="auto">
          <a:xfrm>
            <a:off x="3217274" y="4250603"/>
            <a:ext cx="2709452" cy="226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marL="182563" indent="-1825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시험 보는 사람의 문제</a:t>
            </a:r>
            <a:endParaRPr lang="en-US" altLang="ko-KR" sz="16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신분증 확인 시 생기는 불편함</a:t>
            </a:r>
            <a:r>
              <a:rPr lang="en-US" altLang="ko-KR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효율적이지 못한 신분 확인</a:t>
            </a:r>
            <a:endParaRPr lang="en-US" altLang="ko-KR" sz="1200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marL="0" indent="0" latinLnBrk="1">
              <a:lnSpc>
                <a:spcPct val="150000"/>
              </a:lnSpc>
              <a:defRPr/>
            </a:pPr>
            <a:endParaRPr lang="en-US" altLang="ko-KR" sz="1400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시험 감독의 문제</a:t>
            </a:r>
            <a:endParaRPr lang="en-US" altLang="ko-KR" sz="16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신분증 검사 시 생기는 불편함</a:t>
            </a:r>
            <a:r>
              <a:rPr lang="en-US" altLang="ko-KR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신분증의 불명확한 사진 때문에 생기는 불편함</a:t>
            </a:r>
            <a:endParaRPr lang="en-US" altLang="ko-KR" sz="1200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3" name="제목 2"/>
          <p:cNvSpPr txBox="1">
            <a:spLocks/>
          </p:cNvSpPr>
          <p:nvPr/>
        </p:nvSpPr>
        <p:spPr bwMode="auto">
          <a:xfrm>
            <a:off x="3434754" y="3668384"/>
            <a:ext cx="23435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marL="182563" indent="-1825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1">
              <a:defRPr/>
            </a:pPr>
            <a:r>
              <a:rPr lang="ko-KR" altLang="en-US" sz="2400" b="1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시험 중에 불편함</a:t>
            </a:r>
            <a:endParaRPr lang="en-US" altLang="ko-KR" sz="2400" b="1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8441" name="제목 2"/>
          <p:cNvSpPr txBox="1">
            <a:spLocks/>
          </p:cNvSpPr>
          <p:nvPr/>
        </p:nvSpPr>
        <p:spPr bwMode="auto">
          <a:xfrm>
            <a:off x="674092" y="3668340"/>
            <a:ext cx="2344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1"/>
            <a:r>
              <a:rPr lang="ko-KR" altLang="en-US" sz="2400" b="1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시험 전에 불편함</a:t>
            </a:r>
            <a:endParaRPr lang="en-US" altLang="ko-KR" sz="2400" b="1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8442" name="제목 2"/>
          <p:cNvSpPr txBox="1">
            <a:spLocks/>
          </p:cNvSpPr>
          <p:nvPr/>
        </p:nvSpPr>
        <p:spPr bwMode="auto">
          <a:xfrm>
            <a:off x="6191381" y="3668340"/>
            <a:ext cx="2344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1"/>
            <a:r>
              <a:rPr lang="ko-KR" altLang="en-US" sz="2400" b="1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시험 후에 불편함</a:t>
            </a:r>
            <a:endParaRPr lang="en-US" altLang="ko-KR" sz="2400" b="1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Arial" panose="020B0604020202020204" pitchFamily="34" charset="0"/>
            </a:endParaRPr>
          </a:p>
        </p:txBody>
      </p:sp>
      <p:pic>
        <p:nvPicPr>
          <p:cNvPr id="16386" name="Picture 2" descr="수험표 술집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409" y="1418400"/>
            <a:ext cx="2484000" cy="21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시험장 신분증 안가져와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600" y="1418400"/>
            <a:ext cx="2484000" cy="21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시험장 지각에 대한 이미지 검색결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00" y="1418400"/>
            <a:ext cx="2484000" cy="21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1393859" cy="590931"/>
          </a:xfrm>
        </p:spPr>
        <p:txBody>
          <a:bodyPr/>
          <a:lstStyle/>
          <a:p>
            <a:pPr>
              <a:defRPr/>
            </a:pPr>
            <a:r>
              <a:rPr lang="ko-KR" altLang="en-US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동기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206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2924944"/>
            <a:ext cx="43909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목       적</a:t>
            </a:r>
            <a:endParaRPr lang="en-US" altLang="ko-KR" sz="80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71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1393859" cy="590931"/>
          </a:xfrm>
        </p:spPr>
        <p:txBody>
          <a:bodyPr/>
          <a:lstStyle/>
          <a:p>
            <a:pPr>
              <a:defRPr/>
            </a:pPr>
            <a:r>
              <a:rPr lang="ko-KR" altLang="en-US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목적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0" y="1628800"/>
            <a:ext cx="9144000" cy="4414838"/>
            <a:chOff x="0" y="1419225"/>
            <a:chExt cx="9144000" cy="4414838"/>
          </a:xfrm>
        </p:grpSpPr>
        <p:sp>
          <p:nvSpPr>
            <p:cNvPr id="24" name="직사각형 23"/>
            <p:cNvSpPr/>
            <p:nvPr/>
          </p:nvSpPr>
          <p:spPr>
            <a:xfrm>
              <a:off x="0" y="1419225"/>
              <a:ext cx="9144000" cy="4414838"/>
            </a:xfrm>
            <a:prstGeom prst="rect">
              <a:avLst/>
            </a:prstGeom>
            <a:solidFill>
              <a:schemeClr val="accent1">
                <a:lumMod val="85000"/>
                <a:lumOff val="15000"/>
              </a:schemeClr>
            </a:solidFill>
            <a:ln>
              <a:solidFill>
                <a:schemeClr val="accent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 dirty="0"/>
            </a:p>
          </p:txBody>
        </p:sp>
        <p:grpSp>
          <p:nvGrpSpPr>
            <p:cNvPr id="25" name="그룹 10"/>
            <p:cNvGrpSpPr>
              <a:grpSpLocks/>
            </p:cNvGrpSpPr>
            <p:nvPr/>
          </p:nvGrpSpPr>
          <p:grpSpPr bwMode="auto">
            <a:xfrm>
              <a:off x="3447807" y="1837643"/>
              <a:ext cx="1752600" cy="3249612"/>
              <a:chOff x="3974790" y="2519468"/>
              <a:chExt cx="1194420" cy="2215108"/>
            </a:xfrm>
            <a:solidFill>
              <a:schemeClr val="accent1">
                <a:lumMod val="85000"/>
                <a:lumOff val="15000"/>
              </a:schemeClr>
            </a:solidFill>
          </p:grpSpPr>
          <p:cxnSp>
            <p:nvCxnSpPr>
              <p:cNvPr id="26" name="직선 연결선 25"/>
              <p:cNvCxnSpPr/>
              <p:nvPr/>
            </p:nvCxnSpPr>
            <p:spPr>
              <a:xfrm flipH="1">
                <a:off x="3974790" y="2519468"/>
                <a:ext cx="1194420" cy="2215108"/>
              </a:xfrm>
              <a:prstGeom prst="line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직사각형 26"/>
              <p:cNvSpPr/>
              <p:nvPr/>
            </p:nvSpPr>
            <p:spPr>
              <a:xfrm>
                <a:off x="4211727" y="3083254"/>
                <a:ext cx="720547" cy="108753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29" name="오른쪽 화살표 11"/>
            <p:cNvSpPr/>
            <p:nvPr/>
          </p:nvSpPr>
          <p:spPr bwMode="auto">
            <a:xfrm>
              <a:off x="3885957" y="2966355"/>
              <a:ext cx="876300" cy="992188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997" y="2195483"/>
              <a:ext cx="4092508" cy="28623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신분을 증명 시 번거로운 인증 절차</a:t>
              </a: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수험표</a:t>
              </a:r>
              <a:r>
                <a:rPr lang="en-US" altLang="ko-KR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, </a:t>
              </a: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신분증 소지의 번거로움</a:t>
              </a: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소지한 신분증과 수험표의 정보가 </a:t>
              </a:r>
              <a:r>
                <a:rPr lang="ko-KR" altLang="en-US" dirty="0" err="1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같은지</a:t>
              </a: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 감독의 눈으로만 확인</a:t>
              </a: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67790" y="2225757"/>
              <a:ext cx="4092508" cy="28623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인증 절차 단일화</a:t>
              </a: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특별한 소지품없이 얼굴인식으로 확인</a:t>
              </a: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bg1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 얼굴인식으로 보다 더 정확한 인증가능 </a:t>
              </a: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solidFill>
                  <a:schemeClr val="bg1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33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2926800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시스템개요도</a:t>
            </a:r>
            <a:endParaRPr lang="ko-KR" altLang="en-US" sz="66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01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71896" y="355418"/>
            <a:ext cx="3496048" cy="1089529"/>
          </a:xfrm>
        </p:spPr>
        <p:txBody>
          <a:bodyPr/>
          <a:lstStyle/>
          <a:p>
            <a:pPr>
              <a:defRPr/>
            </a:pPr>
            <a:r>
              <a:rPr lang="ko-KR" altLang="en-US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시스템개요도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4389335" y="510784"/>
            <a:ext cx="8015808" cy="518749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System Organization</a:t>
            </a:r>
            <a:endParaRPr kumimoji="0" lang="ko-KR" altLang="en-US" sz="3200" dirty="0"/>
          </a:p>
        </p:txBody>
      </p:sp>
      <p:sp>
        <p:nvSpPr>
          <p:cNvPr id="5" name="슬라이드 번호 개체 틀 3"/>
          <p:cNvSpPr txBox="1">
            <a:spLocks/>
          </p:cNvSpPr>
          <p:nvPr/>
        </p:nvSpPr>
        <p:spPr>
          <a:xfrm>
            <a:off x="8434146" y="6546655"/>
            <a:ext cx="328854" cy="310709"/>
          </a:xfrm>
        </p:spPr>
        <p:txBody>
          <a:bodyPr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6" name="날짜 개체 틀 2"/>
          <p:cNvSpPr txBox="1">
            <a:spLocks/>
          </p:cNvSpPr>
          <p:nvPr/>
        </p:nvSpPr>
        <p:spPr>
          <a:xfrm>
            <a:off x="6670757" y="6546751"/>
            <a:ext cx="1726482" cy="311249"/>
          </a:xfrm>
        </p:spPr>
        <p:txBody>
          <a:bodyPr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endParaRPr lang="en-US" altLang="ko-KR" dirty="0"/>
          </a:p>
        </p:txBody>
      </p:sp>
      <p:grpSp>
        <p:nvGrpSpPr>
          <p:cNvPr id="7" name="Group 6"/>
          <p:cNvGrpSpPr/>
          <p:nvPr/>
        </p:nvGrpSpPr>
        <p:grpSpPr>
          <a:xfrm>
            <a:off x="280780" y="1324924"/>
            <a:ext cx="8582440" cy="4961938"/>
            <a:chOff x="152400" y="655616"/>
            <a:chExt cx="9138814" cy="5586611"/>
          </a:xfrm>
        </p:grpSpPr>
        <p:pic>
          <p:nvPicPr>
            <p:cNvPr id="8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630" y="1931915"/>
              <a:ext cx="1851170" cy="1851170"/>
            </a:xfrm>
            <a:prstGeom prst="rect">
              <a:avLst/>
            </a:prstGeom>
          </p:spPr>
        </p:pic>
        <p:pic>
          <p:nvPicPr>
            <p:cNvPr id="9" name="Picture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0242" y="1957725"/>
              <a:ext cx="2514600" cy="25146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52400" y="4244876"/>
              <a:ext cx="2438400" cy="16633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dirty="0" err="1">
                  <a:latin typeface="제주고딕" panose="02000300000000000000" pitchFamily="2" charset="-127"/>
                  <a:ea typeface="제주고딕" panose="02000300000000000000" pitchFamily="2" charset="-127"/>
                </a:rPr>
                <a:t>Andriod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/ </a:t>
              </a:r>
              <a:r>
                <a:rPr lang="en-US" altLang="ko-KR" dirty="0" err="1">
                  <a:latin typeface="제주고딕" panose="02000300000000000000" pitchFamily="2" charset="-127"/>
                  <a:ea typeface="제주고딕" panose="02000300000000000000" pitchFamily="2" charset="-127"/>
                </a:rPr>
                <a:t>Iphone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Hybrid App( With </a:t>
              </a:r>
              <a:r>
                <a:rPr lang="en-US" altLang="ko-KR" dirty="0" err="1">
                  <a:latin typeface="제주고딕" panose="02000300000000000000" pitchFamily="2" charset="-127"/>
                  <a:ea typeface="제주고딕" panose="02000300000000000000" pitchFamily="2" charset="-127"/>
                </a:rPr>
                <a:t>Phonegap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or React native)</a:t>
              </a:r>
            </a:p>
            <a:p>
              <a:pPr marL="285750" indent="-285750">
                <a:buFontTx/>
                <a:buChar char="-"/>
              </a:pPr>
              <a:endParaRPr lang="ko-KR" altLang="en-US" dirty="0"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63339" y="4267044"/>
              <a:ext cx="2967448" cy="19751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Web Homepage </a:t>
              </a:r>
            </a:p>
            <a:p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With JSP, HTML, CSS)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DBMS( With </a:t>
              </a:r>
              <a:r>
                <a:rPr lang="en-US" altLang="ko-KR" dirty="0" err="1">
                  <a:latin typeface="제주고딕" panose="02000300000000000000" pitchFamily="2" charset="-127"/>
                  <a:ea typeface="제주고딕" panose="02000300000000000000" pitchFamily="2" charset="-127"/>
                </a:rPr>
                <a:t>Mysql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)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Web Server( With Apache Tomcat, Window 10)</a:t>
              </a:r>
              <a:endParaRPr lang="ko-KR" altLang="en-US" dirty="0"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55341" y="4297106"/>
              <a:ext cx="3235872" cy="10395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Face Recognition Program (With Python)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File List Date (With)</a:t>
              </a:r>
              <a:endParaRPr lang="ko-KR" altLang="en-US" dirty="0"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9105" y="669521"/>
              <a:ext cx="2743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Language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JSP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SQL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48014" y="655616"/>
              <a:ext cx="27432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Module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Window10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APACHE TOMCAT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MYSQL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Eclipse</a:t>
              </a:r>
              <a:endParaRPr lang="ko-KR" altLang="en-US" dirty="0"/>
            </a:p>
          </p:txBody>
        </p:sp>
        <p:grpSp>
          <p:nvGrpSpPr>
            <p:cNvPr id="16" name="Group 13"/>
            <p:cNvGrpSpPr/>
            <p:nvPr/>
          </p:nvGrpSpPr>
          <p:grpSpPr>
            <a:xfrm>
              <a:off x="313896" y="1957724"/>
              <a:ext cx="2047440" cy="2047440"/>
              <a:chOff x="-136114" y="888144"/>
              <a:chExt cx="1851170" cy="1851170"/>
            </a:xfrm>
          </p:grpSpPr>
          <p:grpSp>
            <p:nvGrpSpPr>
              <p:cNvPr id="17" name="Group 14"/>
              <p:cNvGrpSpPr/>
              <p:nvPr/>
            </p:nvGrpSpPr>
            <p:grpSpPr>
              <a:xfrm>
                <a:off x="-136114" y="888144"/>
                <a:ext cx="1851170" cy="1851170"/>
                <a:chOff x="-136114" y="888144"/>
                <a:chExt cx="1851170" cy="1851170"/>
              </a:xfrm>
            </p:grpSpPr>
            <p:grpSp>
              <p:nvGrpSpPr>
                <p:cNvPr id="19" name="Group 16"/>
                <p:cNvGrpSpPr/>
                <p:nvPr/>
              </p:nvGrpSpPr>
              <p:grpSpPr>
                <a:xfrm>
                  <a:off x="446088" y="1046567"/>
                  <a:ext cx="774700" cy="735473"/>
                  <a:chOff x="1365250" y="1295400"/>
                  <a:chExt cx="774700" cy="735473"/>
                </a:xfrm>
              </p:grpSpPr>
              <p:pic>
                <p:nvPicPr>
                  <p:cNvPr id="24" name="Picture 21"/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24000" y="1295400"/>
                    <a:ext cx="457200" cy="457200"/>
                  </a:xfrm>
                  <a:prstGeom prst="rect">
                    <a:avLst/>
                  </a:prstGeom>
                </p:spPr>
              </p:pic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1365250" y="1752600"/>
                    <a:ext cx="774700" cy="278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/>
                      <a:t>student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0" name="Group 17"/>
                <p:cNvGrpSpPr/>
                <p:nvPr/>
              </p:nvGrpSpPr>
              <p:grpSpPr>
                <a:xfrm>
                  <a:off x="334963" y="1793806"/>
                  <a:ext cx="996950" cy="729771"/>
                  <a:chOff x="4302125" y="1371601"/>
                  <a:chExt cx="996950" cy="729771"/>
                </a:xfrm>
              </p:grpSpPr>
              <p:pic>
                <p:nvPicPr>
                  <p:cNvPr id="22" name="Picture 19"/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72000" y="1371601"/>
                    <a:ext cx="457200" cy="457200"/>
                  </a:xfrm>
                  <a:prstGeom prst="rect">
                    <a:avLst/>
                  </a:prstGeom>
                </p:spPr>
              </p:pic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4302125" y="1823099"/>
                    <a:ext cx="996950" cy="278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/>
                      <a:t>supervisor</a:t>
                    </a:r>
                    <a:endParaRPr lang="ko-KR" altLang="en-US" sz="1400" dirty="0"/>
                  </a:p>
                </p:txBody>
              </p:sp>
            </p:grpSp>
            <p:pic>
              <p:nvPicPr>
                <p:cNvPr id="21" name="Picture 1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36114" y="888144"/>
                  <a:ext cx="1851170" cy="1851170"/>
                </a:xfrm>
                <a:prstGeom prst="rect">
                  <a:avLst/>
                </a:prstGeom>
              </p:spPr>
            </p:pic>
          </p:grpSp>
          <p:cxnSp>
            <p:nvCxnSpPr>
              <p:cNvPr id="18" name="Straight Connector 15"/>
              <p:cNvCxnSpPr/>
              <p:nvPr/>
            </p:nvCxnSpPr>
            <p:spPr>
              <a:xfrm>
                <a:off x="306388" y="1793806"/>
                <a:ext cx="9144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984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3" name="Group 6"/>
          <p:cNvGrpSpPr/>
          <p:nvPr/>
        </p:nvGrpSpPr>
        <p:grpSpPr>
          <a:xfrm>
            <a:off x="-108520" y="1432743"/>
            <a:ext cx="9144000" cy="4968552"/>
            <a:chOff x="-205190" y="763458"/>
            <a:chExt cx="9287567" cy="5027742"/>
          </a:xfrm>
        </p:grpSpPr>
        <p:pic>
          <p:nvPicPr>
            <p:cNvPr id="4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5190" y="2302420"/>
              <a:ext cx="1399637" cy="1425560"/>
            </a:xfrm>
            <a:prstGeom prst="rect">
              <a:avLst/>
            </a:prstGeom>
          </p:spPr>
        </p:pic>
        <p:grpSp>
          <p:nvGrpSpPr>
            <p:cNvPr id="5" name="Group 90"/>
            <p:cNvGrpSpPr/>
            <p:nvPr/>
          </p:nvGrpSpPr>
          <p:grpSpPr>
            <a:xfrm>
              <a:off x="80434" y="763458"/>
              <a:ext cx="9001943" cy="5027742"/>
              <a:chOff x="80434" y="1380809"/>
              <a:chExt cx="9001943" cy="5027742"/>
            </a:xfrm>
          </p:grpSpPr>
          <p:pic>
            <p:nvPicPr>
              <p:cNvPr id="6" name="Picture 4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07509" y="2256609"/>
                <a:ext cx="2874868" cy="2481267"/>
              </a:xfrm>
              <a:prstGeom prst="rect">
                <a:avLst/>
              </a:prstGeom>
            </p:spPr>
          </p:pic>
          <p:pic>
            <p:nvPicPr>
              <p:cNvPr id="7" name="Picture 3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9023" y="3041787"/>
                <a:ext cx="1023093" cy="1023093"/>
              </a:xfrm>
              <a:prstGeom prst="rect">
                <a:avLst/>
              </a:prstGeom>
            </p:spPr>
          </p:pic>
          <p:pic>
            <p:nvPicPr>
              <p:cNvPr id="8" name="Picture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68454" y="4001489"/>
                <a:ext cx="1633520" cy="1633520"/>
              </a:xfrm>
              <a:prstGeom prst="rect">
                <a:avLst/>
              </a:prstGeom>
            </p:spPr>
          </p:pic>
          <p:pic>
            <p:nvPicPr>
              <p:cNvPr id="9" name="Picture 1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4116" y="1380809"/>
                <a:ext cx="1648884" cy="1648884"/>
              </a:xfrm>
              <a:prstGeom prst="rect">
                <a:avLst/>
              </a:prstGeom>
            </p:spPr>
          </p:pic>
          <p:grpSp>
            <p:nvGrpSpPr>
              <p:cNvPr id="10" name="Group 1"/>
              <p:cNvGrpSpPr/>
              <p:nvPr/>
            </p:nvGrpSpPr>
            <p:grpSpPr>
              <a:xfrm>
                <a:off x="80434" y="2186001"/>
                <a:ext cx="8580053" cy="4222550"/>
                <a:chOff x="80434" y="2186001"/>
                <a:chExt cx="8580053" cy="4222550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152400" y="3429000"/>
                  <a:ext cx="685800" cy="36933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  <a:effectLst>
                  <a:softEdge rad="25400"/>
                </a:effectLst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App</a:t>
                  </a: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1676400" y="3420533"/>
                  <a:ext cx="685800" cy="369332"/>
                </a:xfrm>
                <a:prstGeom prst="rect">
                  <a:avLst/>
                </a:prstGeom>
                <a:solidFill>
                  <a:srgbClr val="DEF5FA">
                    <a:lumMod val="90000"/>
                  </a:srgbClr>
                </a:solidFill>
                <a:ln>
                  <a:noFill/>
                </a:ln>
                <a:effectLst>
                  <a:softEdge rad="88900"/>
                </a:effectLst>
              </p:spPr>
              <p:txBody>
                <a:bodyPr wrap="square" rtlCol="0" anchor="ctr" anchorCtr="0">
                  <a:spAutoFit/>
                </a:bodyPr>
                <a:lstStyle/>
                <a:p>
                  <a:pPr marL="0" marR="0" lvl="0" indent="0" algn="ctr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Web</a:t>
                  </a: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3352800" y="2186001"/>
                  <a:ext cx="1524000" cy="369332"/>
                </a:xfrm>
                <a:prstGeom prst="rect">
                  <a:avLst/>
                </a:prstGeom>
                <a:solidFill>
                  <a:srgbClr val="EB641B">
                    <a:lumMod val="75000"/>
                  </a:srgbClr>
                </a:solidFill>
                <a:ln>
                  <a:solidFill>
                    <a:srgbClr val="EB641B">
                      <a:lumMod val="75000"/>
                    </a:srgbClr>
                  </a:solidFill>
                </a:ln>
                <a:effectLst>
                  <a:softEdge rad="152400"/>
                </a:effectLst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Member DB</a:t>
                  </a: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3352800" y="4800600"/>
                  <a:ext cx="1676400" cy="369332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7030A0"/>
                  </a:solidFill>
                </a:ln>
                <a:effectLst>
                  <a:softEdge rad="152400"/>
                </a:effectLst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Program List</a:t>
                  </a: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6629400" y="2875002"/>
                  <a:ext cx="2031087" cy="923330"/>
                </a:xfrm>
                <a:prstGeom prst="rect">
                  <a:avLst/>
                </a:prstGeom>
                <a:solidFill>
                  <a:srgbClr val="9CECA0"/>
                </a:solidFill>
                <a:ln>
                  <a:solidFill>
                    <a:srgbClr val="8E9BFA"/>
                  </a:solidFill>
                </a:ln>
                <a:effectLst>
                  <a:softEdge rad="63500"/>
                </a:effectLst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Face Recognition Program</a:t>
                  </a: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17" name="Straight Connector 10"/>
                <p:cNvCxnSpPr>
                  <a:stCxn id="12" idx="3"/>
                  <a:endCxn id="13" idx="1"/>
                </p:cNvCxnSpPr>
                <p:nvPr/>
              </p:nvCxnSpPr>
              <p:spPr>
                <a:xfrm flipV="1">
                  <a:off x="838200" y="3605199"/>
                  <a:ext cx="838200" cy="8467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cxnSp>
              <p:nvCxnSpPr>
                <p:cNvPr id="18" name="Straight Arrow Connector 16"/>
                <p:cNvCxnSpPr>
                  <a:endCxn id="15" idx="1"/>
                </p:cNvCxnSpPr>
                <p:nvPr/>
              </p:nvCxnSpPr>
              <p:spPr>
                <a:xfrm>
                  <a:off x="2310870" y="3977760"/>
                  <a:ext cx="1041930" cy="1007506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9" name="Straight Arrow Connector 18"/>
                <p:cNvCxnSpPr/>
                <p:nvPr/>
              </p:nvCxnSpPr>
              <p:spPr>
                <a:xfrm flipV="1">
                  <a:off x="5029200" y="3789865"/>
                  <a:ext cx="1408490" cy="1010735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" name="Straight Arrow Connector 20"/>
                <p:cNvCxnSpPr>
                  <a:endCxn id="15" idx="3"/>
                </p:cNvCxnSpPr>
                <p:nvPr/>
              </p:nvCxnSpPr>
              <p:spPr>
                <a:xfrm flipH="1">
                  <a:off x="5029200" y="4175516"/>
                  <a:ext cx="1151083" cy="80975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1" name="Straight Arrow Connector 24"/>
                <p:cNvCxnSpPr/>
                <p:nvPr/>
              </p:nvCxnSpPr>
              <p:spPr>
                <a:xfrm flipH="1" flipV="1">
                  <a:off x="4876800" y="2551971"/>
                  <a:ext cx="1560890" cy="849566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2" name="Straight Connector 30"/>
                <p:cNvCxnSpPr>
                  <a:endCxn id="14" idx="1"/>
                </p:cNvCxnSpPr>
                <p:nvPr/>
              </p:nvCxnSpPr>
              <p:spPr>
                <a:xfrm flipV="1">
                  <a:off x="2362200" y="2370667"/>
                  <a:ext cx="990600" cy="848211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sp>
              <p:nvSpPr>
                <p:cNvPr id="23" name="TextBox 22"/>
                <p:cNvSpPr txBox="1"/>
                <p:nvPr/>
              </p:nvSpPr>
              <p:spPr>
                <a:xfrm>
                  <a:off x="2393014" y="3811802"/>
                  <a:ext cx="1439333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Member ID, Certification Photo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24" name="Elbow Connector 33"/>
                <p:cNvCxnSpPr>
                  <a:stCxn id="6" idx="2"/>
                  <a:endCxn id="7" idx="2"/>
                </p:cNvCxnSpPr>
                <p:nvPr/>
              </p:nvCxnSpPr>
              <p:spPr>
                <a:xfrm rot="5400000" flipH="1">
                  <a:off x="4501259" y="1594192"/>
                  <a:ext cx="672996" cy="5614373"/>
                </a:xfrm>
                <a:prstGeom prst="bentConnector3">
                  <a:avLst>
                    <a:gd name="adj1" fmla="val -242805"/>
                  </a:avLst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3659716" y="5831470"/>
                  <a:ext cx="1595967" cy="577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Member ID, Certification Boolean,</a:t>
                  </a: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 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Certification Photo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4465637" y="3869864"/>
                  <a:ext cx="1534583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First Member’s ID &amp; Certification Photo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3352800" y="5150682"/>
                  <a:ext cx="1676400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Queue(FIFO)</a:t>
                  </a:r>
                  <a:endPara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5255683" y="4818249"/>
                  <a:ext cx="1534583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First List request for Information &amp; Delete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4808125" y="3059625"/>
                  <a:ext cx="1035050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Member’s ID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5274353" y="2256866"/>
                  <a:ext cx="1624331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Member’s Main Photo &amp; Characteristic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1386417" y="2583471"/>
                  <a:ext cx="1631950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Information , request, response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80434" y="4342284"/>
                  <a:ext cx="1631950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 Unicode"/>
                      <a:ea typeface="맑은 고딕" panose="020B0503020000020004" pitchFamily="50" charset="-127"/>
                    </a:rPr>
                    <a:t>Information , request, response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33" name="Straight Arrow Connector 26"/>
                <p:cNvCxnSpPr>
                  <a:stCxn id="14" idx="3"/>
                </p:cNvCxnSpPr>
                <p:nvPr/>
              </p:nvCxnSpPr>
              <p:spPr>
                <a:xfrm>
                  <a:off x="4876800" y="2370667"/>
                  <a:ext cx="1531525" cy="842602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11" name="Straight Connector 89"/>
              <p:cNvCxnSpPr>
                <a:stCxn id="6" idx="2"/>
              </p:cNvCxnSpPr>
              <p:nvPr/>
            </p:nvCxnSpPr>
            <p:spPr>
              <a:xfrm flipV="1">
                <a:off x="7644943" y="4354655"/>
                <a:ext cx="0" cy="383221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</p:grpSp>
      <p:sp>
        <p:nvSpPr>
          <p:cNvPr id="34" name="직사각형 33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" name="제목 1"/>
          <p:cNvSpPr txBox="1">
            <a:spLocks/>
          </p:cNvSpPr>
          <p:nvPr/>
        </p:nvSpPr>
        <p:spPr>
          <a:xfrm>
            <a:off x="571896" y="355418"/>
            <a:ext cx="364006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defRPr/>
            </a:pPr>
            <a:r>
              <a:rPr kumimoji="0" lang="ko-KR" altLang="en-US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시스템개요도</a:t>
            </a:r>
            <a:endParaRPr kumimoji="0"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sp>
        <p:nvSpPr>
          <p:cNvPr id="36" name="제목 4"/>
          <p:cNvSpPr txBox="1">
            <a:spLocks/>
          </p:cNvSpPr>
          <p:nvPr/>
        </p:nvSpPr>
        <p:spPr>
          <a:xfrm>
            <a:off x="4714520" y="589768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Main System Cycle</a:t>
            </a:r>
            <a:endParaRPr kumimoji="0"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06078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32" name="Group 6"/>
          <p:cNvGrpSpPr/>
          <p:nvPr/>
        </p:nvGrpSpPr>
        <p:grpSpPr>
          <a:xfrm>
            <a:off x="571896" y="1012530"/>
            <a:ext cx="8228629" cy="2819400"/>
            <a:chOff x="794907" y="2494116"/>
            <a:chExt cx="8228629" cy="2819400"/>
          </a:xfrm>
        </p:grpSpPr>
        <p:pic>
          <p:nvPicPr>
            <p:cNvPr id="33" name="Picture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07" y="3242400"/>
              <a:ext cx="720000" cy="720000"/>
            </a:xfrm>
            <a:prstGeom prst="rect">
              <a:avLst/>
            </a:prstGeom>
          </p:spPr>
        </p:pic>
        <p:pic>
          <p:nvPicPr>
            <p:cNvPr id="34" name="Picture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9720" y="3242400"/>
              <a:ext cx="720000" cy="720000"/>
            </a:xfrm>
            <a:prstGeom prst="rect">
              <a:avLst/>
            </a:prstGeom>
          </p:spPr>
        </p:pic>
        <p:pic>
          <p:nvPicPr>
            <p:cNvPr id="35" name="Picture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7760" y="3242400"/>
              <a:ext cx="720000" cy="720000"/>
            </a:xfrm>
            <a:prstGeom prst="rect">
              <a:avLst/>
            </a:prstGeom>
          </p:spPr>
        </p:pic>
        <p:pic>
          <p:nvPicPr>
            <p:cNvPr id="36" name="Picture 1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1680" y="3242400"/>
              <a:ext cx="720000" cy="720000"/>
            </a:xfrm>
            <a:prstGeom prst="rect">
              <a:avLst/>
            </a:prstGeom>
          </p:spPr>
        </p:pic>
        <p:pic>
          <p:nvPicPr>
            <p:cNvPr id="37" name="Picture 1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5800" y="3242400"/>
              <a:ext cx="720000" cy="720000"/>
            </a:xfrm>
            <a:prstGeom prst="rect">
              <a:avLst/>
            </a:prstGeom>
          </p:spPr>
        </p:pic>
        <p:pic>
          <p:nvPicPr>
            <p:cNvPr id="38" name="Picture 1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3640" y="3242400"/>
              <a:ext cx="720000" cy="720000"/>
            </a:xfrm>
            <a:prstGeom prst="rect">
              <a:avLst/>
            </a:prstGeom>
          </p:spPr>
        </p:pic>
        <p:cxnSp>
          <p:nvCxnSpPr>
            <p:cNvPr id="39" name="Straight Arrow Connector 19"/>
            <p:cNvCxnSpPr>
              <a:stCxn id="33" idx="3"/>
              <a:endCxn id="38" idx="1"/>
            </p:cNvCxnSpPr>
            <p:nvPr/>
          </p:nvCxnSpPr>
          <p:spPr>
            <a:xfrm>
              <a:off x="1514907" y="3602400"/>
              <a:ext cx="63873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838200" y="3959423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Login</a:t>
              </a:r>
              <a:endParaRPr lang="ko-KR" altLang="en-US" sz="1400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109720" y="3959423"/>
              <a:ext cx="816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Setting</a:t>
              </a:r>
              <a:endParaRPr lang="ko-KR" altLang="en-US" sz="14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45800" y="3959423"/>
              <a:ext cx="816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Main Picture</a:t>
              </a:r>
              <a:endParaRPr lang="ko-KR" altLang="en-US" sz="1400" b="1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199020" y="2722716"/>
              <a:ext cx="181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Upload a new Picture/ Change the Picture</a:t>
              </a:r>
              <a:endParaRPr lang="ko-KR" altLang="en-US" sz="1200" dirty="0"/>
            </a:p>
          </p:txBody>
        </p:sp>
        <p:cxnSp>
          <p:nvCxnSpPr>
            <p:cNvPr id="44" name="Straight Arrow Connector 24"/>
            <p:cNvCxnSpPr>
              <a:stCxn id="36" idx="3"/>
              <a:endCxn id="34" idx="1"/>
            </p:cNvCxnSpPr>
            <p:nvPr/>
          </p:nvCxnSpPr>
          <p:spPr>
            <a:xfrm>
              <a:off x="4231680" y="3602400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4231680" y="2875116"/>
              <a:ext cx="1178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Take a photo</a:t>
              </a:r>
              <a:endParaRPr lang="ko-KR" altLang="en-US" sz="1200" dirty="0"/>
            </a:p>
          </p:txBody>
        </p:sp>
        <p:cxnSp>
          <p:nvCxnSpPr>
            <p:cNvPr id="46" name="Straight Arrow Connector 26"/>
            <p:cNvCxnSpPr>
              <a:stCxn id="38" idx="3"/>
              <a:endCxn id="36" idx="1"/>
            </p:cNvCxnSpPr>
            <p:nvPr/>
          </p:nvCxnSpPr>
          <p:spPr>
            <a:xfrm>
              <a:off x="2873640" y="3602400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847760" y="3959420"/>
              <a:ext cx="816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Photo</a:t>
              </a:r>
              <a:endParaRPr lang="ko-KR" altLang="en-US" sz="1400" b="1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023520" y="3959419"/>
              <a:ext cx="1128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Recognize</a:t>
              </a:r>
              <a:endParaRPr lang="ko-KR" altLang="en-US" sz="1400" b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597980" y="3959419"/>
              <a:ext cx="6956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Save</a:t>
              </a:r>
              <a:endParaRPr lang="ko-KR" altLang="en-US" sz="1400" b="1" dirty="0"/>
            </a:p>
          </p:txBody>
        </p:sp>
        <p:cxnSp>
          <p:nvCxnSpPr>
            <p:cNvPr id="50" name="Straight Arrow Connector 32"/>
            <p:cNvCxnSpPr>
              <a:stCxn id="34" idx="3"/>
              <a:endCxn id="35" idx="1"/>
            </p:cNvCxnSpPr>
            <p:nvPr/>
          </p:nvCxnSpPr>
          <p:spPr>
            <a:xfrm>
              <a:off x="5589720" y="3602400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33"/>
            <p:cNvCxnSpPr>
              <a:stCxn id="35" idx="3"/>
              <a:endCxn id="37" idx="1"/>
            </p:cNvCxnSpPr>
            <p:nvPr/>
          </p:nvCxnSpPr>
          <p:spPr>
            <a:xfrm>
              <a:off x="6947760" y="3602400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34"/>
            <p:cNvCxnSpPr>
              <a:stCxn id="35" idx="3"/>
              <a:endCxn id="41" idx="2"/>
            </p:cNvCxnSpPr>
            <p:nvPr/>
          </p:nvCxnSpPr>
          <p:spPr>
            <a:xfrm flipH="1">
              <a:off x="2517840" y="3602400"/>
              <a:ext cx="4429920" cy="664800"/>
            </a:xfrm>
            <a:prstGeom prst="bentConnector4">
              <a:avLst>
                <a:gd name="adj1" fmla="val -5160"/>
                <a:gd name="adj2" fmla="val 25410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Picture 3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6000" y="2798916"/>
              <a:ext cx="180000" cy="180000"/>
            </a:xfrm>
            <a:prstGeom prst="rect">
              <a:avLst/>
            </a:prstGeom>
          </p:spPr>
        </p:pic>
        <p:pic>
          <p:nvPicPr>
            <p:cNvPr id="54" name="Picture 3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3926" y="2875116"/>
              <a:ext cx="180000" cy="18000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5860933" y="2494116"/>
              <a:ext cx="1658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Wait until the program compares the two pictures</a:t>
              </a:r>
              <a:endParaRPr lang="ko-KR" altLang="en-US" sz="1200" dirty="0"/>
            </a:p>
          </p:txBody>
        </p:sp>
        <p:pic>
          <p:nvPicPr>
            <p:cNvPr id="56" name="Picture 3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8740" y="2570316"/>
              <a:ext cx="180000" cy="180000"/>
            </a:xfrm>
            <a:prstGeom prst="rect">
              <a:avLst/>
            </a:prstGeom>
          </p:spPr>
        </p:pic>
        <p:pic>
          <p:nvPicPr>
            <p:cNvPr id="57" name="Picture 39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7967" y="4350774"/>
              <a:ext cx="180000" cy="180000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7563703" y="4297853"/>
              <a:ext cx="14598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The system will save the picture or make you re-upload the picture</a:t>
              </a:r>
              <a:endParaRPr lang="ko-KR" altLang="en-US" sz="1200" dirty="0"/>
            </a:p>
          </p:txBody>
        </p:sp>
      </p:grpSp>
      <p:sp>
        <p:nvSpPr>
          <p:cNvPr id="59" name="Rectangle 8"/>
          <p:cNvSpPr/>
          <p:nvPr/>
        </p:nvSpPr>
        <p:spPr>
          <a:xfrm>
            <a:off x="418524" y="4517730"/>
            <a:ext cx="4039571" cy="2209800"/>
          </a:xfrm>
          <a:prstGeom prst="rect">
            <a:avLst/>
          </a:prstGeom>
          <a:noFill/>
          <a:ln w="76200">
            <a:solidFill>
              <a:srgbClr val="D802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인증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얼굴인식 실시간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얼굴 크기에 따른 성능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다양한 얼굴 각도에 따른 성능 저하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조명에 따른 얼굴 성능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머리카락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얼굴 주위의 제거되지 않은 배경과 같은 성능을 </a:t>
            </a:r>
            <a:r>
              <a:rPr lang="ko-KR" altLang="en-US" sz="1600" dirty="0" err="1">
                <a:solidFill>
                  <a:schemeClr val="tx1"/>
                </a:solidFill>
              </a:rPr>
              <a:t>저해시키는</a:t>
            </a:r>
            <a:r>
              <a:rPr lang="ko-KR" altLang="en-US" sz="1600" dirty="0">
                <a:solidFill>
                  <a:schemeClr val="tx1"/>
                </a:solidFill>
              </a:rPr>
              <a:t> 요소</a:t>
            </a:r>
          </a:p>
        </p:txBody>
      </p:sp>
      <p:sp>
        <p:nvSpPr>
          <p:cNvPr id="60" name="Rectangle 9"/>
          <p:cNvSpPr/>
          <p:nvPr/>
        </p:nvSpPr>
        <p:spPr>
          <a:xfrm>
            <a:off x="4909203" y="4517730"/>
            <a:ext cx="4039571" cy="2209800"/>
          </a:xfrm>
          <a:prstGeom prst="rect">
            <a:avLst/>
          </a:prstGeom>
          <a:noFill/>
          <a:ln w="76200">
            <a:solidFill>
              <a:srgbClr val="27C5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인증 후 휴대폰문자로 알림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사진을 통해 인식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사진을 찍을 때 </a:t>
            </a:r>
            <a:r>
              <a:rPr lang="ko-KR" altLang="en-US" sz="1400" dirty="0" err="1">
                <a:solidFill>
                  <a:schemeClr val="tx1"/>
                </a:solidFill>
              </a:rPr>
              <a:t>네모칸</a:t>
            </a:r>
            <a:r>
              <a:rPr lang="ko-KR" altLang="en-US" sz="1400" dirty="0">
                <a:solidFill>
                  <a:schemeClr val="tx1"/>
                </a:solidFill>
              </a:rPr>
              <a:t> 안에 </a:t>
            </a:r>
            <a:r>
              <a:rPr lang="ko-KR" altLang="en-US" sz="1400" dirty="0" err="1">
                <a:solidFill>
                  <a:schemeClr val="tx1"/>
                </a:solidFill>
              </a:rPr>
              <a:t>찍게하여</a:t>
            </a:r>
            <a:r>
              <a:rPr lang="ko-KR" altLang="en-US" sz="1400" dirty="0">
                <a:solidFill>
                  <a:schemeClr val="tx1"/>
                </a:solidFill>
              </a:rPr>
              <a:t> 일정한 사이즈 유지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눈동자와 코를 기준으로 얼굴 정렬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chemeClr val="tx1"/>
                </a:solidFill>
              </a:rPr>
              <a:t>OpenCV</a:t>
            </a:r>
            <a:r>
              <a:rPr lang="ko-KR" altLang="en-US" sz="1400" dirty="0">
                <a:solidFill>
                  <a:schemeClr val="tx1"/>
                </a:solidFill>
              </a:rPr>
              <a:t>의 </a:t>
            </a:r>
            <a:r>
              <a:rPr lang="en-US" altLang="ko-KR" sz="1400" dirty="0" err="1">
                <a:solidFill>
                  <a:schemeClr val="tx1"/>
                </a:solidFill>
              </a:rPr>
              <a:t>FaceRecognizer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함수 중 </a:t>
            </a:r>
            <a:r>
              <a:rPr lang="en-US" altLang="ko-KR" sz="1400" dirty="0" err="1">
                <a:solidFill>
                  <a:schemeClr val="tx1"/>
                </a:solidFill>
              </a:rPr>
              <a:t>LBPFacerecognizer</a:t>
            </a:r>
            <a:r>
              <a:rPr lang="ko-KR" altLang="en-US" sz="1400" dirty="0">
                <a:solidFill>
                  <a:schemeClr val="tx1"/>
                </a:solidFill>
              </a:rPr>
              <a:t>를 이용하여 조명에 따른 성능 저하를 최소화 할 수 있을 것으로 기대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얼굴 마스크 적용을 이용해 배경 제거 및 인식 성능 개선 기대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524" y="4212930"/>
            <a:ext cx="4039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Predicted Problems</a:t>
            </a:r>
            <a:endParaRPr lang="ko-KR" altLang="en-US" sz="1100" dirty="0"/>
          </a:p>
        </p:txBody>
      </p:sp>
      <p:sp>
        <p:nvSpPr>
          <p:cNvPr id="62" name="TextBox 61"/>
          <p:cNvSpPr txBox="1"/>
          <p:nvPr/>
        </p:nvSpPr>
        <p:spPr>
          <a:xfrm>
            <a:off x="4909202" y="4212930"/>
            <a:ext cx="4039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Exceptions</a:t>
            </a:r>
            <a:endParaRPr lang="ko-KR" altLang="en-US" sz="1100" dirty="0"/>
          </a:p>
        </p:txBody>
      </p:sp>
      <p:sp>
        <p:nvSpPr>
          <p:cNvPr id="63" name="Right Arrow 12"/>
          <p:cNvSpPr/>
          <p:nvPr/>
        </p:nvSpPr>
        <p:spPr>
          <a:xfrm>
            <a:off x="4534297" y="5599961"/>
            <a:ext cx="304800" cy="213169"/>
          </a:xfrm>
          <a:prstGeom prst="rightArrow">
            <a:avLst/>
          </a:prstGeom>
          <a:solidFill>
            <a:srgbClr val="FFFF0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7" name="연결선: 꺾임 86"/>
          <p:cNvCxnSpPr>
            <a:stCxn id="48" idx="2"/>
            <a:endCxn id="42" idx="2"/>
          </p:cNvCxnSpPr>
          <p:nvPr/>
        </p:nvCxnSpPr>
        <p:spPr>
          <a:xfrm rot="5400000">
            <a:off x="4890106" y="1526413"/>
            <a:ext cx="215447" cy="2733840"/>
          </a:xfrm>
          <a:prstGeom prst="bentConnector3">
            <a:avLst>
              <a:gd name="adj1" fmla="val 300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제목 4"/>
          <p:cNvSpPr txBox="1">
            <a:spLocks/>
          </p:cNvSpPr>
          <p:nvPr/>
        </p:nvSpPr>
        <p:spPr>
          <a:xfrm>
            <a:off x="58543" y="461236"/>
            <a:ext cx="9256307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Face Recognition System Cycle</a:t>
            </a:r>
            <a:r>
              <a:rPr kumimoji="0" lang="en-US" altLang="ko-KR" sz="1800" b="0" dirty="0">
                <a:latin typeface="Arial Black" panose="020B0A04020102020204" pitchFamily="34" charset="0"/>
              </a:rPr>
              <a:t>(Main Picture)</a:t>
            </a:r>
            <a:endParaRPr kumimoji="0" lang="ko-KR" alt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393428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제목 4"/>
          <p:cNvSpPr txBox="1">
            <a:spLocks/>
          </p:cNvSpPr>
          <p:nvPr/>
        </p:nvSpPr>
        <p:spPr>
          <a:xfrm>
            <a:off x="12154" y="455627"/>
            <a:ext cx="925252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>
                <a:latin typeface="Arial Black" panose="020B0A04020102020204" pitchFamily="34" charset="0"/>
              </a:rPr>
              <a:t>Face Recognition System Cycle</a:t>
            </a:r>
            <a:r>
              <a:rPr kumimoji="0" lang="en-US" altLang="ko-KR" sz="1800" b="0">
                <a:latin typeface="Arial Black" panose="020B0A04020102020204" pitchFamily="34" charset="0"/>
              </a:rPr>
              <a:t>(Certification)</a:t>
            </a:r>
            <a:endParaRPr kumimoji="0" lang="ko-KR" altLang="en-US" sz="3200" b="0" dirty="0"/>
          </a:p>
        </p:txBody>
      </p:sp>
      <p:grpSp>
        <p:nvGrpSpPr>
          <p:cNvPr id="44" name="그룹 43"/>
          <p:cNvGrpSpPr/>
          <p:nvPr/>
        </p:nvGrpSpPr>
        <p:grpSpPr>
          <a:xfrm>
            <a:off x="163414" y="1272405"/>
            <a:ext cx="8530249" cy="4509784"/>
            <a:chOff x="163414" y="1272405"/>
            <a:chExt cx="8530249" cy="4509784"/>
          </a:xfrm>
        </p:grpSpPr>
        <p:sp>
          <p:nvSpPr>
            <p:cNvPr id="13" name="TextBox 12"/>
            <p:cNvSpPr txBox="1"/>
            <p:nvPr/>
          </p:nvSpPr>
          <p:spPr>
            <a:xfrm>
              <a:off x="2967679" y="3411681"/>
              <a:ext cx="816240" cy="507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Select</a:t>
              </a:r>
            </a:p>
            <a:p>
              <a:pPr algn="ctr"/>
              <a:r>
                <a:rPr lang="en-US" altLang="ko-KR" sz="1400" b="1" dirty="0"/>
                <a:t>Test</a:t>
              </a:r>
              <a:endParaRPr lang="ko-KR" altLang="en-US" sz="1400" b="1" dirty="0"/>
            </a:p>
          </p:txBody>
        </p:sp>
        <p:cxnSp>
          <p:nvCxnSpPr>
            <p:cNvPr id="23" name="Elbow Connector 125"/>
            <p:cNvCxnSpPr>
              <a:stCxn id="9" idx="3"/>
              <a:endCxn id="18" idx="2"/>
            </p:cNvCxnSpPr>
            <p:nvPr/>
          </p:nvCxnSpPr>
          <p:spPr>
            <a:xfrm flipH="1">
              <a:off x="4808345" y="3118597"/>
              <a:ext cx="1691880" cy="645001"/>
            </a:xfrm>
            <a:prstGeom prst="bentConnector4">
              <a:avLst>
                <a:gd name="adj1" fmla="val -13512"/>
                <a:gd name="adj2" fmla="val 13544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1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5713" y="1272405"/>
              <a:ext cx="180000" cy="17464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63414" y="4229641"/>
              <a:ext cx="4039571" cy="25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Predicted Problems</a:t>
              </a:r>
              <a:endParaRPr lang="ko-KR" altLang="en-US" sz="11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654092" y="4229641"/>
              <a:ext cx="4039571" cy="25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Exceptions</a:t>
              </a:r>
              <a:endParaRPr lang="ko-KR" altLang="en-US" sz="1100" dirty="0"/>
            </a:p>
          </p:txBody>
        </p:sp>
        <p:sp>
          <p:nvSpPr>
            <p:cNvPr id="34" name="Right Arrow 147"/>
            <p:cNvSpPr/>
            <p:nvPr/>
          </p:nvSpPr>
          <p:spPr>
            <a:xfrm>
              <a:off x="4279187" y="5575368"/>
              <a:ext cx="304800" cy="206821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347372" y="1251782"/>
            <a:ext cx="8796628" cy="2519429"/>
            <a:chOff x="316786" y="1198474"/>
            <a:chExt cx="8796628" cy="2519429"/>
          </a:xfrm>
        </p:grpSpPr>
        <p:pic>
          <p:nvPicPr>
            <p:cNvPr id="7" name="Picture 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86" y="2716009"/>
              <a:ext cx="720000" cy="698560"/>
            </a:xfrm>
            <a:prstGeom prst="rect">
              <a:avLst/>
            </a:prstGeom>
          </p:spPr>
        </p:pic>
        <p:pic>
          <p:nvPicPr>
            <p:cNvPr id="8" name="Picture 4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599" y="2716009"/>
              <a:ext cx="720000" cy="698560"/>
            </a:xfrm>
            <a:prstGeom prst="rect">
              <a:avLst/>
            </a:prstGeom>
          </p:spPr>
        </p:pic>
        <p:pic>
          <p:nvPicPr>
            <p:cNvPr id="9" name="Picture 4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639" y="2716009"/>
              <a:ext cx="720000" cy="698560"/>
            </a:xfrm>
            <a:prstGeom prst="rect">
              <a:avLst/>
            </a:prstGeom>
          </p:spPr>
        </p:pic>
        <p:cxnSp>
          <p:nvCxnSpPr>
            <p:cNvPr id="10" name="Straight Arrow Connector 76"/>
            <p:cNvCxnSpPr>
              <a:stCxn id="7" idx="3"/>
            </p:cNvCxnSpPr>
            <p:nvPr/>
          </p:nvCxnSpPr>
          <p:spPr>
            <a:xfrm>
              <a:off x="1036786" y="3065289"/>
              <a:ext cx="63873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60079" y="3411681"/>
              <a:ext cx="685800" cy="298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Login</a:t>
              </a:r>
              <a:endParaRPr lang="ko-KR" altLang="en-US" sz="14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31599" y="3411681"/>
              <a:ext cx="816240" cy="298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User</a:t>
              </a:r>
              <a:endParaRPr lang="ko-KR" altLang="en-US" sz="1400" b="1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43349" y="2303554"/>
              <a:ext cx="1815760" cy="447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Select the test in the members test list</a:t>
              </a:r>
              <a:endParaRPr lang="ko-KR" altLang="en-US" sz="1200" dirty="0"/>
            </a:p>
          </p:txBody>
        </p:sp>
        <p:cxnSp>
          <p:nvCxnSpPr>
            <p:cNvPr id="15" name="Straight Arrow Connector 88"/>
            <p:cNvCxnSpPr>
              <a:endCxn id="8" idx="1"/>
            </p:cNvCxnSpPr>
            <p:nvPr/>
          </p:nvCxnSpPr>
          <p:spPr>
            <a:xfrm>
              <a:off x="3753559" y="3065289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411693" y="2388978"/>
              <a:ext cx="1178520" cy="268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Take a photo</a:t>
              </a:r>
              <a:endParaRPr lang="ko-KR" altLang="en-US" sz="1200" dirty="0"/>
            </a:p>
          </p:txBody>
        </p:sp>
        <p:cxnSp>
          <p:nvCxnSpPr>
            <p:cNvPr id="17" name="Straight Arrow Connector 91"/>
            <p:cNvCxnSpPr/>
            <p:nvPr/>
          </p:nvCxnSpPr>
          <p:spPr>
            <a:xfrm>
              <a:off x="2395519" y="3065289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369639" y="3411678"/>
              <a:ext cx="816240" cy="298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Photo</a:t>
              </a:r>
              <a:endParaRPr lang="ko-KR" altLang="en-US" sz="14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545399" y="3411677"/>
              <a:ext cx="1128480" cy="298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Recognize</a:t>
              </a:r>
              <a:endParaRPr lang="ko-KR" altLang="en-US" sz="1400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45901" y="3419291"/>
              <a:ext cx="843556" cy="298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Certify</a:t>
              </a:r>
              <a:endParaRPr lang="ko-KR" altLang="en-US" sz="1400" b="1" dirty="0"/>
            </a:p>
          </p:txBody>
        </p:sp>
        <p:cxnSp>
          <p:nvCxnSpPr>
            <p:cNvPr id="21" name="Straight Arrow Connector 97"/>
            <p:cNvCxnSpPr>
              <a:stCxn id="8" idx="3"/>
              <a:endCxn id="9" idx="1"/>
            </p:cNvCxnSpPr>
            <p:nvPr/>
          </p:nvCxnSpPr>
          <p:spPr>
            <a:xfrm>
              <a:off x="5111599" y="3065289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99"/>
            <p:cNvCxnSpPr>
              <a:stCxn id="9" idx="3"/>
            </p:cNvCxnSpPr>
            <p:nvPr/>
          </p:nvCxnSpPr>
          <p:spPr>
            <a:xfrm>
              <a:off x="6469639" y="3065289"/>
              <a:ext cx="638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13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0329" y="2377484"/>
              <a:ext cx="180000" cy="174640"/>
            </a:xfrm>
            <a:prstGeom prst="rect">
              <a:avLst/>
            </a:prstGeom>
          </p:spPr>
        </p:pic>
        <p:pic>
          <p:nvPicPr>
            <p:cNvPr id="25" name="Picture 13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939" y="2388978"/>
              <a:ext cx="180000" cy="17464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597906" y="1198474"/>
              <a:ext cx="1658920" cy="806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The server gives the members main photo to the program</a:t>
              </a:r>
              <a:endParaRPr lang="ko-KR" altLang="en-US" sz="1200" dirty="0"/>
            </a:p>
          </p:txBody>
        </p:sp>
        <p:pic>
          <p:nvPicPr>
            <p:cNvPr id="28" name="Picture 13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7845" y="2502277"/>
              <a:ext cx="180000" cy="17464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7653581" y="2450932"/>
              <a:ext cx="1459833" cy="985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The system will certify it or make the person take another photo shot</a:t>
              </a:r>
              <a:endParaRPr lang="ko-KR" altLang="en-US" sz="1200" dirty="0"/>
            </a:p>
          </p:txBody>
        </p:sp>
        <p:pic>
          <p:nvPicPr>
            <p:cNvPr id="35" name="Picture 2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0779" y="2717220"/>
              <a:ext cx="720000" cy="698560"/>
            </a:xfrm>
            <a:prstGeom prst="rect">
              <a:avLst/>
            </a:prstGeom>
          </p:spPr>
        </p:pic>
        <p:pic>
          <p:nvPicPr>
            <p:cNvPr id="36" name="Picture 3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4739" y="2717635"/>
              <a:ext cx="720000" cy="698560"/>
            </a:xfrm>
            <a:prstGeom prst="rect">
              <a:avLst/>
            </a:prstGeom>
          </p:spPr>
        </p:pic>
        <p:pic>
          <p:nvPicPr>
            <p:cNvPr id="37" name="Picture 41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639" y="1277961"/>
              <a:ext cx="720000" cy="69856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5701519" y="1943293"/>
              <a:ext cx="816240" cy="507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Main Picture</a:t>
              </a:r>
              <a:endParaRPr lang="ko-KR" altLang="en-US" sz="1400" b="1" dirty="0"/>
            </a:p>
          </p:txBody>
        </p:sp>
        <p:cxnSp>
          <p:nvCxnSpPr>
            <p:cNvPr id="39" name="Straight Arrow Connector 7"/>
            <p:cNvCxnSpPr>
              <a:stCxn id="38" idx="2"/>
              <a:endCxn id="9" idx="0"/>
            </p:cNvCxnSpPr>
            <p:nvPr/>
          </p:nvCxnSpPr>
          <p:spPr>
            <a:xfrm>
              <a:off x="6109639" y="2450932"/>
              <a:ext cx="0" cy="2650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7679" y="2716009"/>
              <a:ext cx="720000" cy="698560"/>
            </a:xfrm>
            <a:prstGeom prst="rect">
              <a:avLst/>
            </a:prstGeom>
          </p:spPr>
        </p:pic>
      </p:grpSp>
      <p:sp>
        <p:nvSpPr>
          <p:cNvPr id="41" name="Rectangle 8"/>
          <p:cNvSpPr/>
          <p:nvPr/>
        </p:nvSpPr>
        <p:spPr>
          <a:xfrm>
            <a:off x="222945" y="4540611"/>
            <a:ext cx="4039571" cy="2209800"/>
          </a:xfrm>
          <a:prstGeom prst="rect">
            <a:avLst/>
          </a:prstGeom>
          <a:noFill/>
          <a:ln w="76200">
            <a:solidFill>
              <a:srgbClr val="D802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인증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얼굴인식 실시간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얼굴 크기에 따른 성능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다양한 얼굴 각도에 따른 성능 저하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조명에 따른 얼굴 성능 문제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chemeClr val="tx1"/>
                </a:solidFill>
              </a:rPr>
              <a:t>머리카락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얼굴 주위의 제거되지 않은 배경과 같은 성능을 </a:t>
            </a:r>
            <a:r>
              <a:rPr lang="ko-KR" altLang="en-US" sz="1600" dirty="0" err="1">
                <a:solidFill>
                  <a:schemeClr val="tx1"/>
                </a:solidFill>
              </a:rPr>
              <a:t>저해시키는</a:t>
            </a:r>
            <a:r>
              <a:rPr lang="ko-KR" altLang="en-US" sz="1600" dirty="0">
                <a:solidFill>
                  <a:schemeClr val="tx1"/>
                </a:solidFill>
              </a:rPr>
              <a:t> 요소</a:t>
            </a:r>
          </a:p>
        </p:txBody>
      </p:sp>
      <p:sp>
        <p:nvSpPr>
          <p:cNvPr id="42" name="Rectangle 9"/>
          <p:cNvSpPr/>
          <p:nvPr/>
        </p:nvSpPr>
        <p:spPr>
          <a:xfrm>
            <a:off x="4713624" y="4540611"/>
            <a:ext cx="4039571" cy="2209800"/>
          </a:xfrm>
          <a:prstGeom prst="rect">
            <a:avLst/>
          </a:prstGeom>
          <a:noFill/>
          <a:ln w="76200">
            <a:solidFill>
              <a:srgbClr val="27C5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인증 후 휴대폰문자로 알림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사진을 통해 인식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사진을 찍을 때 </a:t>
            </a:r>
            <a:r>
              <a:rPr lang="ko-KR" altLang="en-US" sz="1400" dirty="0" err="1">
                <a:solidFill>
                  <a:schemeClr val="tx1"/>
                </a:solidFill>
              </a:rPr>
              <a:t>네모칸</a:t>
            </a:r>
            <a:r>
              <a:rPr lang="ko-KR" altLang="en-US" sz="1400" dirty="0">
                <a:solidFill>
                  <a:schemeClr val="tx1"/>
                </a:solidFill>
              </a:rPr>
              <a:t> 안에 </a:t>
            </a:r>
            <a:r>
              <a:rPr lang="ko-KR" altLang="en-US" sz="1400" dirty="0" err="1">
                <a:solidFill>
                  <a:schemeClr val="tx1"/>
                </a:solidFill>
              </a:rPr>
              <a:t>찍게하여</a:t>
            </a:r>
            <a:r>
              <a:rPr lang="ko-KR" altLang="en-US" sz="1400" dirty="0">
                <a:solidFill>
                  <a:schemeClr val="tx1"/>
                </a:solidFill>
              </a:rPr>
              <a:t> 일정한 사이즈 유지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눈동자와 코를 기준으로 얼굴 정렬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chemeClr val="tx1"/>
                </a:solidFill>
              </a:rPr>
              <a:t>OpenCV</a:t>
            </a:r>
            <a:r>
              <a:rPr lang="ko-KR" altLang="en-US" sz="1400" dirty="0">
                <a:solidFill>
                  <a:schemeClr val="tx1"/>
                </a:solidFill>
              </a:rPr>
              <a:t>의 </a:t>
            </a:r>
            <a:r>
              <a:rPr lang="en-US" altLang="ko-KR" sz="1400" dirty="0" err="1">
                <a:solidFill>
                  <a:schemeClr val="tx1"/>
                </a:solidFill>
              </a:rPr>
              <a:t>FaceRecognizer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함수 중 </a:t>
            </a:r>
            <a:r>
              <a:rPr lang="en-US" altLang="ko-KR" sz="1400" dirty="0" err="1">
                <a:solidFill>
                  <a:schemeClr val="tx1"/>
                </a:solidFill>
              </a:rPr>
              <a:t>LBPFacerecognizer</a:t>
            </a:r>
            <a:r>
              <a:rPr lang="ko-KR" altLang="en-US" sz="1400" dirty="0">
                <a:solidFill>
                  <a:schemeClr val="tx1"/>
                </a:solidFill>
              </a:rPr>
              <a:t>를 이용하여 조명에 따른 성능 저하를 최소화 할 수 있을 것으로 기대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얼굴 마스크 적용을 이용해 배경 제거 및 인식 성능 개선 기대</a:t>
            </a:r>
          </a:p>
        </p:txBody>
      </p:sp>
    </p:spTree>
    <p:extLst>
      <p:ext uri="{BB962C8B-B14F-4D97-AF65-F5344CB8AC3E}">
        <p14:creationId xmlns:p14="http://schemas.microsoft.com/office/powerpoint/2010/main" val="1354081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9952" y="2736502"/>
            <a:ext cx="37444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66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개발환경 </a:t>
            </a:r>
            <a:endParaRPr lang="en-US" altLang="ko-KR" sz="66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r"/>
            <a:r>
              <a:rPr lang="ko-KR" altLang="en-US" sz="66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및 구성</a:t>
            </a:r>
          </a:p>
        </p:txBody>
      </p:sp>
    </p:spTree>
    <p:extLst>
      <p:ext uri="{BB962C8B-B14F-4D97-AF65-F5344CB8AC3E}">
        <p14:creationId xmlns:p14="http://schemas.microsoft.com/office/powerpoint/2010/main" val="71033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71896" y="355418"/>
            <a:ext cx="2127896" cy="553302"/>
          </a:xfrm>
        </p:spPr>
        <p:txBody>
          <a:bodyPr/>
          <a:lstStyle/>
          <a:p>
            <a:pPr>
              <a:defRPr/>
            </a:pPr>
            <a:r>
              <a:rPr lang="ko-KR" altLang="en-US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개발환경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510696" y="2420887"/>
            <a:ext cx="8110701" cy="3366768"/>
            <a:chOff x="2907065" y="1225557"/>
            <a:chExt cx="8453187" cy="3366768"/>
          </a:xfrm>
        </p:grpSpPr>
        <p:sp>
          <p:nvSpPr>
            <p:cNvPr id="31" name="Rectangle 1"/>
            <p:cNvSpPr/>
            <p:nvPr/>
          </p:nvSpPr>
          <p:spPr>
            <a:xfrm>
              <a:off x="3211642" y="1945638"/>
              <a:ext cx="1746208" cy="20313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800" b="1" dirty="0">
                  <a:latin typeface="Stencil BT" pitchFamily="2" charset="0"/>
                  <a:cs typeface="Arial" panose="020B0604020202020204" pitchFamily="34" charset="0"/>
                </a:rPr>
                <a:t>Python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800" b="1" dirty="0">
                  <a:latin typeface="Stencil BT" pitchFamily="2" charset="0"/>
                  <a:cs typeface="Arial" panose="020B0604020202020204" pitchFamily="34" charset="0"/>
                </a:rPr>
                <a:t>JSP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800" b="1" dirty="0">
                  <a:latin typeface="Stencil BT" pitchFamily="2" charset="0"/>
                  <a:cs typeface="Arial" panose="020B0604020202020204" pitchFamily="34" charset="0"/>
                </a:rPr>
                <a:t>SQL</a:t>
              </a:r>
              <a:endParaRPr lang="ko-KR" altLang="en-US" sz="2800" b="1" dirty="0">
                <a:latin typeface="Stencil BT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7"/>
            <p:cNvSpPr/>
            <p:nvPr/>
          </p:nvSpPr>
          <p:spPr>
            <a:xfrm>
              <a:off x="5587902" y="1914669"/>
              <a:ext cx="3098205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800" b="1" dirty="0">
                  <a:latin typeface="Stencil BT" pitchFamily="2" charset="0"/>
                  <a:ea typeface="나눔바른고딕" panose="020B0603020101020101" pitchFamily="50" charset="-127"/>
                </a:rPr>
                <a:t>OpenCV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800" b="1" dirty="0">
                  <a:latin typeface="Stencil BT" pitchFamily="2" charset="0"/>
                  <a:ea typeface="나눔바른고딕" panose="020B0603020101020101" pitchFamily="50" charset="-127"/>
                </a:rPr>
                <a:t>DLIB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800" b="1" dirty="0" err="1">
                  <a:latin typeface="Stencil BT" pitchFamily="2" charset="0"/>
                  <a:ea typeface="나눔바른고딕" panose="020B0603020101020101" pitchFamily="50" charset="-127"/>
                </a:rPr>
                <a:t>ARTOOLKIt</a:t>
              </a:r>
              <a:endParaRPr lang="en-US" altLang="ko-KR" sz="2800" b="1" dirty="0">
                <a:latin typeface="Stencil BT" pitchFamily="2" charset="0"/>
                <a:ea typeface="나눔바른고딕" panose="020B060302010102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2800" b="1" dirty="0" err="1">
                  <a:latin typeface="Stencil BT" pitchFamily="2" charset="0"/>
                  <a:ea typeface="나눔바른고딕" panose="020B0603020101020101" pitchFamily="50" charset="-127"/>
                </a:rPr>
                <a:t>UnIty</a:t>
              </a:r>
              <a:endParaRPr lang="en-US" altLang="ko-KR" sz="2800" b="1" dirty="0">
                <a:latin typeface="Stencil BT" pitchFamily="2" charset="0"/>
                <a:ea typeface="한컴 윤고딕 250" pitchFamily="18" charset="-127"/>
              </a:endParaRPr>
            </a:p>
          </p:txBody>
        </p:sp>
        <p:sp>
          <p:nvSpPr>
            <p:cNvPr id="33" name="Rectangle 2"/>
            <p:cNvSpPr/>
            <p:nvPr/>
          </p:nvSpPr>
          <p:spPr>
            <a:xfrm>
              <a:off x="9316159" y="1945638"/>
              <a:ext cx="1742866" cy="13078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800" b="1" dirty="0">
                  <a:latin typeface="Stencil BT" pitchFamily="2" charset="0"/>
                  <a:ea typeface="나눔바른고딕" panose="020B0603020101020101" pitchFamily="50" charset="-127"/>
                </a:rPr>
                <a:t>APACHE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800" b="1" dirty="0">
                  <a:latin typeface="Stencil BT" pitchFamily="2" charset="0"/>
                  <a:ea typeface="나눔바른고딕" panose="020B0603020101020101" pitchFamily="50" charset="-127"/>
                </a:rPr>
                <a:t>MySQL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907065" y="1225557"/>
              <a:ext cx="2345317" cy="5232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>
                      <a:lumMod val="95000"/>
                    </a:schemeClr>
                  </a:solidFill>
                  <a:latin typeface="Stencil BT" pitchFamily="2" charset="0"/>
                  <a:ea typeface="나눔바른고딕" panose="020B0603020101020101" pitchFamily="50" charset="-127"/>
                </a:rPr>
                <a:t>Language</a:t>
              </a:r>
              <a:endParaRPr lang="ko-KR" altLang="en-US" sz="2800" b="1" dirty="0">
                <a:solidFill>
                  <a:schemeClr val="bg1">
                    <a:lumMod val="95000"/>
                  </a:schemeClr>
                </a:solidFill>
                <a:latin typeface="Stencil BT" pitchFamily="2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61000" y="1225558"/>
              <a:ext cx="2345317" cy="5232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>
                      <a:lumMod val="95000"/>
                    </a:schemeClr>
                  </a:solidFill>
                  <a:latin typeface="Stencil BT" pitchFamily="2" charset="0"/>
                  <a:ea typeface="나눔바른고딕" panose="020B0603020101020101" pitchFamily="50" charset="-127"/>
                </a:rPr>
                <a:t>Library</a:t>
              </a:r>
              <a:endParaRPr lang="ko-KR" altLang="en-US" sz="2800" b="1" dirty="0">
                <a:solidFill>
                  <a:schemeClr val="bg1">
                    <a:lumMod val="95000"/>
                  </a:schemeClr>
                </a:solidFill>
                <a:latin typeface="Stencil BT" pitchFamily="2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014935" y="1225557"/>
              <a:ext cx="2345317" cy="5232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>
                      <a:lumMod val="95000"/>
                    </a:schemeClr>
                  </a:solidFill>
                  <a:latin typeface="Stencil BT" pitchFamily="2" charset="0"/>
                  <a:ea typeface="나눔바른고딕" panose="020B0603020101020101" pitchFamily="50" charset="-127"/>
                </a:rPr>
                <a:t>Tool</a:t>
              </a:r>
              <a:endParaRPr lang="ko-KR" altLang="en-US" sz="2800" b="1" dirty="0">
                <a:solidFill>
                  <a:schemeClr val="bg1">
                    <a:lumMod val="95000"/>
                  </a:schemeClr>
                </a:solidFill>
                <a:latin typeface="Stencil BT" pitchFamily="2" charset="0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600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2415928" cy="481295"/>
          </a:xfrm>
        </p:spPr>
        <p:txBody>
          <a:bodyPr/>
          <a:lstStyle/>
          <a:p>
            <a:pPr>
              <a:defRPr/>
            </a:pPr>
            <a:r>
              <a:rPr lang="ko-KR" altLang="en-US" sz="360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내용구성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grpSp>
        <p:nvGrpSpPr>
          <p:cNvPr id="4" name="그룹 22"/>
          <p:cNvGrpSpPr>
            <a:grpSpLocks/>
          </p:cNvGrpSpPr>
          <p:nvPr/>
        </p:nvGrpSpPr>
        <p:grpSpPr bwMode="auto">
          <a:xfrm>
            <a:off x="4254802" y="3714559"/>
            <a:ext cx="1016000" cy="766763"/>
            <a:chOff x="4031581" y="3648898"/>
            <a:chExt cx="1080845" cy="814076"/>
          </a:xfrm>
        </p:grpSpPr>
        <p:sp>
          <p:nvSpPr>
            <p:cNvPr id="5" name="Freeform 8"/>
            <p:cNvSpPr>
              <a:spLocks noEditPoints="1"/>
            </p:cNvSpPr>
            <p:nvPr/>
          </p:nvSpPr>
          <p:spPr bwMode="auto">
            <a:xfrm>
              <a:off x="4031581" y="3648898"/>
              <a:ext cx="807256" cy="814076"/>
            </a:xfrm>
            <a:custGeom>
              <a:avLst/>
              <a:gdLst>
                <a:gd name="T0" fmla="*/ 870061541 w 374"/>
                <a:gd name="T1" fmla="*/ 0 h 374"/>
                <a:gd name="T2" fmla="*/ 0 w 374"/>
                <a:gd name="T3" fmla="*/ 879930774 h 374"/>
                <a:gd name="T4" fmla="*/ 870061541 w 374"/>
                <a:gd name="T5" fmla="*/ 1759861548 h 374"/>
                <a:gd name="T6" fmla="*/ 1740120924 w 374"/>
                <a:gd name="T7" fmla="*/ 879930774 h 374"/>
                <a:gd name="T8" fmla="*/ 870061541 w 374"/>
                <a:gd name="T9" fmla="*/ 0 h 374"/>
                <a:gd name="T10" fmla="*/ 870061541 w 374"/>
                <a:gd name="T11" fmla="*/ 1364599431 h 374"/>
                <a:gd name="T12" fmla="*/ 390830221 w 374"/>
                <a:gd name="T13" fmla="*/ 879930774 h 374"/>
                <a:gd name="T14" fmla="*/ 870061541 w 374"/>
                <a:gd name="T15" fmla="*/ 399969322 h 374"/>
                <a:gd name="T16" fmla="*/ 1344638014 w 374"/>
                <a:gd name="T17" fmla="*/ 879930774 h 374"/>
                <a:gd name="T18" fmla="*/ 870061541 w 374"/>
                <a:gd name="T19" fmla="*/ 1364599431 h 3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4" h="374">
                  <a:moveTo>
                    <a:pt x="187" y="0"/>
                  </a:moveTo>
                  <a:cubicBezTo>
                    <a:pt x="84" y="0"/>
                    <a:pt x="0" y="84"/>
                    <a:pt x="0" y="187"/>
                  </a:cubicBezTo>
                  <a:cubicBezTo>
                    <a:pt x="0" y="290"/>
                    <a:pt x="84" y="374"/>
                    <a:pt x="187" y="374"/>
                  </a:cubicBezTo>
                  <a:cubicBezTo>
                    <a:pt x="290" y="374"/>
                    <a:pt x="374" y="290"/>
                    <a:pt x="374" y="187"/>
                  </a:cubicBezTo>
                  <a:cubicBezTo>
                    <a:pt x="374" y="84"/>
                    <a:pt x="290" y="0"/>
                    <a:pt x="187" y="0"/>
                  </a:cubicBezTo>
                  <a:close/>
                  <a:moveTo>
                    <a:pt x="187" y="290"/>
                  </a:moveTo>
                  <a:cubicBezTo>
                    <a:pt x="130" y="290"/>
                    <a:pt x="84" y="244"/>
                    <a:pt x="84" y="187"/>
                  </a:cubicBezTo>
                  <a:cubicBezTo>
                    <a:pt x="84" y="131"/>
                    <a:pt x="130" y="85"/>
                    <a:pt x="187" y="85"/>
                  </a:cubicBezTo>
                  <a:cubicBezTo>
                    <a:pt x="244" y="85"/>
                    <a:pt x="289" y="131"/>
                    <a:pt x="289" y="187"/>
                  </a:cubicBezTo>
                  <a:cubicBezTo>
                    <a:pt x="289" y="244"/>
                    <a:pt x="244" y="290"/>
                    <a:pt x="187" y="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ko-KR" altLang="en-US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936789" y="3817444"/>
              <a:ext cx="175637" cy="1752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ko-KR" altLang="en-US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936789" y="4122512"/>
              <a:ext cx="175637" cy="1752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ko-KR" altLang="en-US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8" name="Freeform 11"/>
          <p:cNvSpPr>
            <a:spLocks/>
          </p:cNvSpPr>
          <p:nvPr/>
        </p:nvSpPr>
        <p:spPr bwMode="auto">
          <a:xfrm>
            <a:off x="6961490" y="3651059"/>
            <a:ext cx="495300" cy="893763"/>
          </a:xfrm>
          <a:custGeom>
            <a:avLst/>
            <a:gdLst>
              <a:gd name="T0" fmla="*/ 980286743 w 242"/>
              <a:gd name="T1" fmla="*/ 0 h 438"/>
              <a:gd name="T2" fmla="*/ 980286743 w 242"/>
              <a:gd name="T3" fmla="*/ 253534317 h 438"/>
              <a:gd name="T4" fmla="*/ 737240793 w 242"/>
              <a:gd name="T5" fmla="*/ 253534317 h 438"/>
              <a:gd name="T6" fmla="*/ 668377874 w 242"/>
              <a:gd name="T7" fmla="*/ 359855094 h 438"/>
              <a:gd name="T8" fmla="*/ 668377874 w 242"/>
              <a:gd name="T9" fmla="*/ 617478282 h 438"/>
              <a:gd name="T10" fmla="*/ 980286743 w 242"/>
              <a:gd name="T11" fmla="*/ 617478282 h 438"/>
              <a:gd name="T12" fmla="*/ 980286743 w 242"/>
              <a:gd name="T13" fmla="*/ 911905361 h 438"/>
              <a:gd name="T14" fmla="*/ 664326404 w 242"/>
              <a:gd name="T15" fmla="*/ 911905361 h 438"/>
              <a:gd name="T16" fmla="*/ 664326404 w 242"/>
              <a:gd name="T17" fmla="*/ 1791095704 h 438"/>
              <a:gd name="T18" fmla="*/ 307859412 w 242"/>
              <a:gd name="T19" fmla="*/ 1791095704 h 438"/>
              <a:gd name="T20" fmla="*/ 307859412 w 242"/>
              <a:gd name="T21" fmla="*/ 911905361 h 438"/>
              <a:gd name="T22" fmla="*/ 0 w 242"/>
              <a:gd name="T23" fmla="*/ 911905361 h 438"/>
              <a:gd name="T24" fmla="*/ 0 w 242"/>
              <a:gd name="T25" fmla="*/ 621567154 h 438"/>
              <a:gd name="T26" fmla="*/ 303807941 w 242"/>
              <a:gd name="T27" fmla="*/ 621567154 h 438"/>
              <a:gd name="T28" fmla="*/ 303807941 w 242"/>
              <a:gd name="T29" fmla="*/ 368032838 h 438"/>
              <a:gd name="T30" fmla="*/ 567107218 w 242"/>
              <a:gd name="T31" fmla="*/ 0 h 438"/>
              <a:gd name="T32" fmla="*/ 980286743 w 242"/>
              <a:gd name="T33" fmla="*/ 0 h 43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42" h="438">
                <a:moveTo>
                  <a:pt x="242" y="0"/>
                </a:moveTo>
                <a:cubicBezTo>
                  <a:pt x="242" y="62"/>
                  <a:pt x="242" y="62"/>
                  <a:pt x="242" y="62"/>
                </a:cubicBezTo>
                <a:cubicBezTo>
                  <a:pt x="182" y="62"/>
                  <a:pt x="182" y="62"/>
                  <a:pt x="182" y="62"/>
                </a:cubicBezTo>
                <a:cubicBezTo>
                  <a:pt x="182" y="62"/>
                  <a:pt x="164" y="64"/>
                  <a:pt x="165" y="88"/>
                </a:cubicBezTo>
                <a:cubicBezTo>
                  <a:pt x="165" y="151"/>
                  <a:pt x="165" y="151"/>
                  <a:pt x="165" y="151"/>
                </a:cubicBezTo>
                <a:cubicBezTo>
                  <a:pt x="242" y="151"/>
                  <a:pt x="242" y="151"/>
                  <a:pt x="242" y="151"/>
                </a:cubicBezTo>
                <a:cubicBezTo>
                  <a:pt x="242" y="223"/>
                  <a:pt x="242" y="223"/>
                  <a:pt x="242" y="223"/>
                </a:cubicBezTo>
                <a:cubicBezTo>
                  <a:pt x="164" y="223"/>
                  <a:pt x="164" y="223"/>
                  <a:pt x="164" y="223"/>
                </a:cubicBezTo>
                <a:cubicBezTo>
                  <a:pt x="164" y="438"/>
                  <a:pt x="164" y="438"/>
                  <a:pt x="164" y="438"/>
                </a:cubicBezTo>
                <a:cubicBezTo>
                  <a:pt x="76" y="438"/>
                  <a:pt x="76" y="438"/>
                  <a:pt x="76" y="438"/>
                </a:cubicBezTo>
                <a:cubicBezTo>
                  <a:pt x="76" y="223"/>
                  <a:pt x="76" y="223"/>
                  <a:pt x="76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152"/>
                  <a:pt x="0" y="152"/>
                  <a:pt x="0" y="152"/>
                </a:cubicBezTo>
                <a:cubicBezTo>
                  <a:pt x="75" y="152"/>
                  <a:pt x="75" y="152"/>
                  <a:pt x="75" y="152"/>
                </a:cubicBezTo>
                <a:cubicBezTo>
                  <a:pt x="75" y="90"/>
                  <a:pt x="75" y="90"/>
                  <a:pt x="75" y="90"/>
                </a:cubicBezTo>
                <a:cubicBezTo>
                  <a:pt x="75" y="90"/>
                  <a:pt x="68" y="7"/>
                  <a:pt x="140" y="0"/>
                </a:cubicBezTo>
                <a:lnTo>
                  <a:pt x="24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ko-KR" altLang="en-US">
              <a:latin typeface="서울남산체 M" panose="02020603020101020101" pitchFamily="18" charset="-127"/>
              <a:ea typeface="서울남산체 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33995" y="1516985"/>
            <a:ext cx="289173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1</a:t>
            </a:r>
            <a:r>
              <a:rPr kumimoji="0" lang="ko-KR" altLang="en-US" sz="6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단계</a:t>
            </a:r>
            <a:endParaRPr kumimoji="0" lang="en-US" altLang="ko-KR" sz="6000" spc="-300" dirty="0">
              <a:ln>
                <a:prstDash val="solid"/>
              </a:ln>
              <a:latin typeface="타이포_쌍문동 B" panose="02020803020101020101" pitchFamily="18" charset="-127"/>
              <a:ea typeface="타이포_쌍문동 B" panose="02020803020101020101" pitchFamily="18" charset="-127"/>
              <a:cs typeface="Arial" panose="020B0604020202020204" pitchFamily="34" charset="0"/>
            </a:endParaRPr>
          </a:p>
        </p:txBody>
      </p:sp>
      <p:grpSp>
        <p:nvGrpSpPr>
          <p:cNvPr id="10" name="Group 7"/>
          <p:cNvGrpSpPr/>
          <p:nvPr/>
        </p:nvGrpSpPr>
        <p:grpSpPr>
          <a:xfrm>
            <a:off x="550801" y="3284984"/>
            <a:ext cx="1679576" cy="1679575"/>
            <a:chOff x="359999" y="2520000"/>
            <a:chExt cx="1679576" cy="1679575"/>
          </a:xfrm>
        </p:grpSpPr>
        <p:sp>
          <p:nvSpPr>
            <p:cNvPr id="11" name="타원 10"/>
            <p:cNvSpPr/>
            <p:nvPr/>
          </p:nvSpPr>
          <p:spPr bwMode="auto">
            <a:xfrm>
              <a:off x="360000" y="2520000"/>
              <a:ext cx="1679575" cy="16795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" name="제목 2"/>
            <p:cNvSpPr txBox="1">
              <a:spLocks/>
            </p:cNvSpPr>
            <p:nvPr/>
          </p:nvSpPr>
          <p:spPr bwMode="auto">
            <a:xfrm>
              <a:off x="359999" y="3166416"/>
              <a:ext cx="16795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sz="2000" dirty="0">
                  <a:solidFill>
                    <a:schemeClr val="bg1"/>
                  </a:solidFill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사진 업로드</a:t>
              </a:r>
              <a:endParaRPr lang="en-US" altLang="ko-KR" sz="2000" dirty="0">
                <a:solidFill>
                  <a:schemeClr val="bg1"/>
                </a:solidFill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8"/>
          <p:cNvGrpSpPr/>
          <p:nvPr/>
        </p:nvGrpSpPr>
        <p:grpSpPr>
          <a:xfrm>
            <a:off x="2710802" y="3284984"/>
            <a:ext cx="1679575" cy="1679575"/>
            <a:chOff x="2520000" y="2520000"/>
            <a:chExt cx="1679575" cy="1679575"/>
          </a:xfrm>
        </p:grpSpPr>
        <p:sp>
          <p:nvSpPr>
            <p:cNvPr id="14" name="타원 13"/>
            <p:cNvSpPr/>
            <p:nvPr/>
          </p:nvSpPr>
          <p:spPr bwMode="auto">
            <a:xfrm>
              <a:off x="2520000" y="2520000"/>
              <a:ext cx="1679575" cy="16795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" name="제목 2"/>
            <p:cNvSpPr txBox="1">
              <a:spLocks/>
            </p:cNvSpPr>
            <p:nvPr/>
          </p:nvSpPr>
          <p:spPr bwMode="auto">
            <a:xfrm>
              <a:off x="2520000" y="3009010"/>
              <a:ext cx="167957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sz="2000" dirty="0">
                  <a:solidFill>
                    <a:schemeClr val="bg1"/>
                  </a:solidFill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얼굴 인식을 통한 인증</a:t>
              </a:r>
              <a:endParaRPr lang="en-US" altLang="ko-KR" sz="2000" dirty="0">
                <a:solidFill>
                  <a:schemeClr val="bg1"/>
                </a:solidFill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1"/>
          <p:cNvGrpSpPr/>
          <p:nvPr/>
        </p:nvGrpSpPr>
        <p:grpSpPr>
          <a:xfrm>
            <a:off x="4870802" y="3284984"/>
            <a:ext cx="1679575" cy="1679575"/>
            <a:chOff x="4680000" y="2520000"/>
            <a:chExt cx="1679575" cy="1679575"/>
          </a:xfrm>
        </p:grpSpPr>
        <p:sp>
          <p:nvSpPr>
            <p:cNvPr id="18" name="타원 17"/>
            <p:cNvSpPr/>
            <p:nvPr/>
          </p:nvSpPr>
          <p:spPr bwMode="auto">
            <a:xfrm>
              <a:off x="4680000" y="2520000"/>
              <a:ext cx="1679575" cy="16795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9" name="제목 2"/>
            <p:cNvSpPr txBox="1">
              <a:spLocks/>
            </p:cNvSpPr>
            <p:nvPr/>
          </p:nvSpPr>
          <p:spPr bwMode="auto">
            <a:xfrm>
              <a:off x="4680000" y="3012498"/>
              <a:ext cx="167957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sz="2000" dirty="0">
                  <a:solidFill>
                    <a:schemeClr val="bg1"/>
                  </a:solidFill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인증 번호를 통한 인증 </a:t>
              </a:r>
              <a:endParaRPr lang="en-US" altLang="ko-KR" sz="2000" dirty="0">
                <a:solidFill>
                  <a:schemeClr val="bg1"/>
                </a:solidFill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20" name="Straight Arrow Connector 2"/>
          <p:cNvCxnSpPr>
            <a:stCxn id="12" idx="3"/>
            <a:endCxn id="14" idx="2"/>
          </p:cNvCxnSpPr>
          <p:nvPr/>
        </p:nvCxnSpPr>
        <p:spPr>
          <a:xfrm flipV="1">
            <a:off x="2230376" y="4124772"/>
            <a:ext cx="480426" cy="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6"/>
          <p:cNvCxnSpPr>
            <a:stCxn id="14" idx="6"/>
            <a:endCxn id="19" idx="1"/>
          </p:cNvCxnSpPr>
          <p:nvPr/>
        </p:nvCxnSpPr>
        <p:spPr>
          <a:xfrm>
            <a:off x="4390377" y="4124772"/>
            <a:ext cx="480425" cy="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19"/>
          <p:cNvCxnSpPr>
            <a:cxnSpLocks/>
            <a:stCxn id="18" idx="6"/>
            <a:endCxn id="26" idx="1"/>
          </p:cNvCxnSpPr>
          <p:nvPr/>
        </p:nvCxnSpPr>
        <p:spPr>
          <a:xfrm>
            <a:off x="6550377" y="4124772"/>
            <a:ext cx="423372" cy="6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39642" y="3316907"/>
            <a:ext cx="830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>웹서버</a:t>
            </a:r>
            <a:r>
              <a:rPr lang="en-US" altLang="ko-KR" sz="16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/>
            </a:r>
            <a:br>
              <a:rPr lang="en-US" altLang="ko-KR" sz="16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</a:br>
            <a:r>
              <a:rPr lang="ko-KR" altLang="en-US" sz="16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>전송</a:t>
            </a:r>
          </a:p>
        </p:txBody>
      </p:sp>
      <p:grpSp>
        <p:nvGrpSpPr>
          <p:cNvPr id="24" name="Group 13"/>
          <p:cNvGrpSpPr/>
          <p:nvPr/>
        </p:nvGrpSpPr>
        <p:grpSpPr>
          <a:xfrm>
            <a:off x="6973749" y="3284983"/>
            <a:ext cx="1679575" cy="1679575"/>
            <a:chOff x="2520000" y="4442650"/>
            <a:chExt cx="1679575" cy="1679575"/>
          </a:xfrm>
        </p:grpSpPr>
        <p:sp>
          <p:nvSpPr>
            <p:cNvPr id="25" name="타원 24"/>
            <p:cNvSpPr/>
            <p:nvPr/>
          </p:nvSpPr>
          <p:spPr bwMode="auto">
            <a:xfrm>
              <a:off x="2520000" y="4442650"/>
              <a:ext cx="1679575" cy="16795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6" name="제목 2"/>
            <p:cNvSpPr txBox="1">
              <a:spLocks/>
            </p:cNvSpPr>
            <p:nvPr/>
          </p:nvSpPr>
          <p:spPr bwMode="auto">
            <a:xfrm>
              <a:off x="2520000" y="5089066"/>
              <a:ext cx="16795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sz="2000" dirty="0">
                  <a:solidFill>
                    <a:schemeClr val="bg1"/>
                  </a:solidFill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인증 완료</a:t>
              </a:r>
              <a:endParaRPr lang="en-US" altLang="ko-KR" sz="2000" dirty="0">
                <a:solidFill>
                  <a:schemeClr val="bg1"/>
                </a:solidFill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4897470" y="5030371"/>
            <a:ext cx="1906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>메시지 전송으로 대체 구현</a:t>
            </a:r>
          </a:p>
        </p:txBody>
      </p:sp>
    </p:spTree>
    <p:extLst>
      <p:ext uri="{BB962C8B-B14F-4D97-AF65-F5344CB8AC3E}">
        <p14:creationId xmlns:p14="http://schemas.microsoft.com/office/powerpoint/2010/main" val="412293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0" y="76200"/>
            <a:ext cx="8915400" cy="609600"/>
          </a:xfrm>
        </p:spPr>
        <p:txBody>
          <a:bodyPr>
            <a:noAutofit/>
          </a:bodyPr>
          <a:lstStyle/>
          <a:p>
            <a:r>
              <a:rPr lang="en-US" altLang="ko-KR" sz="3200" dirty="0">
                <a:latin typeface="Arial Black" panose="020B0A04020102020204" pitchFamily="34" charset="0"/>
              </a:rPr>
              <a:t>System Organization</a:t>
            </a:r>
            <a:endParaRPr lang="ko-KR" altLang="en-US" sz="3200" dirty="0"/>
          </a:p>
        </p:txBody>
      </p:sp>
      <p:sp>
        <p:nvSpPr>
          <p:cNvPr id="2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397240" y="6492240"/>
            <a:ext cx="365760" cy="365125"/>
          </a:xfrm>
        </p:spPr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9" name="날짜 개체 틀 2"/>
          <p:cNvSpPr>
            <a:spLocks noGrp="1"/>
          </p:cNvSpPr>
          <p:nvPr>
            <p:ph type="dt" sz="half" idx="10"/>
          </p:nvPr>
        </p:nvSpPr>
        <p:spPr>
          <a:xfrm>
            <a:off x="6477000" y="6492240"/>
            <a:ext cx="1920240" cy="365760"/>
          </a:xfrm>
        </p:spPr>
        <p:txBody>
          <a:bodyPr/>
          <a:lstStyle/>
          <a:p>
            <a:r>
              <a:rPr lang="en-US" altLang="ko-KR" dirty="0"/>
              <a:t>March 3, 2017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52400" y="629801"/>
            <a:ext cx="9138814" cy="5923399"/>
            <a:chOff x="152400" y="629801"/>
            <a:chExt cx="9138814" cy="592339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630" y="1931915"/>
              <a:ext cx="1851170" cy="185117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8400" y="1600200"/>
              <a:ext cx="2514600" cy="25146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52400" y="4244876"/>
              <a:ext cx="2438400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dirty="0" err="1"/>
                <a:t>Andriod</a:t>
              </a:r>
              <a:r>
                <a:rPr lang="en-US" altLang="ko-KR" dirty="0"/>
                <a:t> / </a:t>
              </a:r>
              <a:r>
                <a:rPr lang="en-US" altLang="ko-KR" dirty="0" err="1"/>
                <a:t>Iphone</a:t>
              </a:r>
              <a:r>
                <a:rPr lang="en-US" altLang="ko-KR" dirty="0"/>
                <a:t> Hybrid App( With </a:t>
              </a:r>
              <a:r>
                <a:rPr lang="en-US" altLang="ko-KR" dirty="0" err="1"/>
                <a:t>Phonegap</a:t>
              </a:r>
              <a:r>
                <a:rPr lang="en-US" altLang="ko-KR" dirty="0"/>
                <a:t> or React native)</a:t>
              </a:r>
            </a:p>
            <a:p>
              <a:pPr marL="285750" indent="-285750">
                <a:buFontTx/>
                <a:buChar char="-"/>
              </a:pPr>
              <a:endParaRPr lang="ko-KR" alt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0" y="4244876"/>
              <a:ext cx="2438400" cy="23083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dirty="0"/>
                <a:t>Web Homepage ( With JSP, HTML, CSS)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DBMS( With </a:t>
              </a:r>
              <a:r>
                <a:rPr lang="en-US" altLang="ko-KR" dirty="0" err="1"/>
                <a:t>Mysql</a:t>
              </a:r>
              <a:r>
                <a:rPr lang="en-US" altLang="ko-KR" dirty="0"/>
                <a:t>)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Web Server( With Apache Tomcat, Window 10)</a:t>
              </a:r>
              <a:endParaRPr lang="ko-KR" alt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48400" y="4244876"/>
              <a:ext cx="2667000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dirty="0"/>
                <a:t>Face Recognition Program ( With Python)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File List Date ( With )</a:t>
              </a:r>
              <a:endParaRPr lang="ko-KR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56529" y="629801"/>
              <a:ext cx="2743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Language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JSP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SQL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48014" y="655616"/>
              <a:ext cx="27432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Module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Window10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APACHE TOMCAT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MYSQL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dirty="0"/>
                <a:t>Eclipse</a:t>
              </a:r>
              <a:endParaRPr lang="ko-KR" altLang="en-US" dirty="0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362525" y="1914960"/>
              <a:ext cx="2047440" cy="2047440"/>
              <a:chOff x="-92147" y="849479"/>
              <a:chExt cx="1851170" cy="1851170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-92147" y="849479"/>
                <a:ext cx="1851170" cy="1851170"/>
                <a:chOff x="-92147" y="849479"/>
                <a:chExt cx="1851170" cy="1851170"/>
              </a:xfrm>
            </p:grpSpPr>
            <p:grpSp>
              <p:nvGrpSpPr>
                <p:cNvPr id="17" name="Group 16"/>
                <p:cNvGrpSpPr/>
                <p:nvPr/>
              </p:nvGrpSpPr>
              <p:grpSpPr>
                <a:xfrm>
                  <a:off x="446088" y="1046567"/>
                  <a:ext cx="774700" cy="735473"/>
                  <a:chOff x="1365250" y="1295400"/>
                  <a:chExt cx="774700" cy="735473"/>
                </a:xfrm>
              </p:grpSpPr>
              <p:pic>
                <p:nvPicPr>
                  <p:cNvPr id="22" name="Picture 21"/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24000" y="1295400"/>
                    <a:ext cx="457200" cy="457200"/>
                  </a:xfrm>
                  <a:prstGeom prst="rect">
                    <a:avLst/>
                  </a:prstGeom>
                </p:spPr>
              </p:pic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1365250" y="1752600"/>
                    <a:ext cx="774700" cy="278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/>
                      <a:t>student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18" name="Group 17"/>
                <p:cNvGrpSpPr/>
                <p:nvPr/>
              </p:nvGrpSpPr>
              <p:grpSpPr>
                <a:xfrm>
                  <a:off x="334963" y="1793806"/>
                  <a:ext cx="996950" cy="729771"/>
                  <a:chOff x="4302125" y="1371601"/>
                  <a:chExt cx="996950" cy="729771"/>
                </a:xfrm>
              </p:grpSpPr>
              <p:pic>
                <p:nvPicPr>
                  <p:cNvPr id="20" name="Picture 19"/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72000" y="1371601"/>
                    <a:ext cx="457200" cy="457200"/>
                  </a:xfrm>
                  <a:prstGeom prst="rect">
                    <a:avLst/>
                  </a:prstGeom>
                </p:spPr>
              </p:pic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4302125" y="1823099"/>
                    <a:ext cx="996950" cy="278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/>
                      <a:t>supervisor</a:t>
                    </a:r>
                    <a:endParaRPr lang="ko-KR" altLang="en-US" sz="1400" dirty="0"/>
                  </a:p>
                </p:txBody>
              </p:sp>
            </p:grpSp>
            <p:pic>
              <p:nvPicPr>
                <p:cNvPr id="19" name="Picture 1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92147" y="849479"/>
                  <a:ext cx="1851170" cy="1851170"/>
                </a:xfrm>
                <a:prstGeom prst="rect">
                  <a:avLst/>
                </a:prstGeom>
              </p:spPr>
            </p:pic>
          </p:grpSp>
          <p:cxnSp>
            <p:nvCxnSpPr>
              <p:cNvPr id="16" name="Straight Connector 15"/>
              <p:cNvCxnSpPr/>
              <p:nvPr/>
            </p:nvCxnSpPr>
            <p:spPr>
              <a:xfrm>
                <a:off x="381000" y="1752600"/>
                <a:ext cx="9144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7035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2"/>
          <p:cNvGrpSpPr>
            <a:grpSpLocks/>
          </p:cNvGrpSpPr>
          <p:nvPr/>
        </p:nvGrpSpPr>
        <p:grpSpPr bwMode="auto">
          <a:xfrm>
            <a:off x="1995850" y="3117053"/>
            <a:ext cx="991973" cy="748752"/>
            <a:chOff x="4031581" y="3648898"/>
            <a:chExt cx="1080845" cy="814076"/>
          </a:xfrm>
        </p:grpSpPr>
        <p:sp>
          <p:nvSpPr>
            <p:cNvPr id="4" name="Freeform 8"/>
            <p:cNvSpPr>
              <a:spLocks noEditPoints="1"/>
            </p:cNvSpPr>
            <p:nvPr/>
          </p:nvSpPr>
          <p:spPr bwMode="auto">
            <a:xfrm>
              <a:off x="4031581" y="3648898"/>
              <a:ext cx="807256" cy="814076"/>
            </a:xfrm>
            <a:custGeom>
              <a:avLst/>
              <a:gdLst>
                <a:gd name="T0" fmla="*/ 870061541 w 374"/>
                <a:gd name="T1" fmla="*/ 0 h 374"/>
                <a:gd name="T2" fmla="*/ 0 w 374"/>
                <a:gd name="T3" fmla="*/ 879930774 h 374"/>
                <a:gd name="T4" fmla="*/ 870061541 w 374"/>
                <a:gd name="T5" fmla="*/ 1759861548 h 374"/>
                <a:gd name="T6" fmla="*/ 1740120924 w 374"/>
                <a:gd name="T7" fmla="*/ 879930774 h 374"/>
                <a:gd name="T8" fmla="*/ 870061541 w 374"/>
                <a:gd name="T9" fmla="*/ 0 h 374"/>
                <a:gd name="T10" fmla="*/ 870061541 w 374"/>
                <a:gd name="T11" fmla="*/ 1364599431 h 374"/>
                <a:gd name="T12" fmla="*/ 390830221 w 374"/>
                <a:gd name="T13" fmla="*/ 879930774 h 374"/>
                <a:gd name="T14" fmla="*/ 870061541 w 374"/>
                <a:gd name="T15" fmla="*/ 399969322 h 374"/>
                <a:gd name="T16" fmla="*/ 1344638014 w 374"/>
                <a:gd name="T17" fmla="*/ 879930774 h 374"/>
                <a:gd name="T18" fmla="*/ 870061541 w 374"/>
                <a:gd name="T19" fmla="*/ 1364599431 h 3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4" h="374">
                  <a:moveTo>
                    <a:pt x="187" y="0"/>
                  </a:moveTo>
                  <a:cubicBezTo>
                    <a:pt x="84" y="0"/>
                    <a:pt x="0" y="84"/>
                    <a:pt x="0" y="187"/>
                  </a:cubicBezTo>
                  <a:cubicBezTo>
                    <a:pt x="0" y="290"/>
                    <a:pt x="84" y="374"/>
                    <a:pt x="187" y="374"/>
                  </a:cubicBezTo>
                  <a:cubicBezTo>
                    <a:pt x="290" y="374"/>
                    <a:pt x="374" y="290"/>
                    <a:pt x="374" y="187"/>
                  </a:cubicBezTo>
                  <a:cubicBezTo>
                    <a:pt x="374" y="84"/>
                    <a:pt x="290" y="0"/>
                    <a:pt x="187" y="0"/>
                  </a:cubicBezTo>
                  <a:close/>
                  <a:moveTo>
                    <a:pt x="187" y="290"/>
                  </a:moveTo>
                  <a:cubicBezTo>
                    <a:pt x="130" y="290"/>
                    <a:pt x="84" y="244"/>
                    <a:pt x="84" y="187"/>
                  </a:cubicBezTo>
                  <a:cubicBezTo>
                    <a:pt x="84" y="131"/>
                    <a:pt x="130" y="85"/>
                    <a:pt x="187" y="85"/>
                  </a:cubicBezTo>
                  <a:cubicBezTo>
                    <a:pt x="244" y="85"/>
                    <a:pt x="289" y="131"/>
                    <a:pt x="289" y="187"/>
                  </a:cubicBezTo>
                  <a:cubicBezTo>
                    <a:pt x="289" y="244"/>
                    <a:pt x="244" y="290"/>
                    <a:pt x="187" y="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ko-KR" altLang="en-US" sz="1600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5" name="Oval 9"/>
            <p:cNvSpPr>
              <a:spLocks noChangeArrowheads="1"/>
            </p:cNvSpPr>
            <p:nvPr/>
          </p:nvSpPr>
          <p:spPr bwMode="auto">
            <a:xfrm>
              <a:off x="4936789" y="3817444"/>
              <a:ext cx="175637" cy="1752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ko-KR" altLang="en-US" sz="1600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6" name="Oval 10"/>
            <p:cNvSpPr>
              <a:spLocks noChangeArrowheads="1"/>
            </p:cNvSpPr>
            <p:nvPr/>
          </p:nvSpPr>
          <p:spPr bwMode="auto">
            <a:xfrm>
              <a:off x="4936789" y="4122512"/>
              <a:ext cx="175637" cy="1752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ko-KR" altLang="en-US" sz="1600"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7" name="Freeform 11"/>
          <p:cNvSpPr>
            <a:spLocks/>
          </p:cNvSpPr>
          <p:nvPr/>
        </p:nvSpPr>
        <p:spPr bwMode="auto">
          <a:xfrm>
            <a:off x="4690224" y="3056536"/>
            <a:ext cx="483587" cy="872769"/>
          </a:xfrm>
          <a:custGeom>
            <a:avLst/>
            <a:gdLst>
              <a:gd name="T0" fmla="*/ 980286743 w 242"/>
              <a:gd name="T1" fmla="*/ 0 h 438"/>
              <a:gd name="T2" fmla="*/ 980286743 w 242"/>
              <a:gd name="T3" fmla="*/ 253534317 h 438"/>
              <a:gd name="T4" fmla="*/ 737240793 w 242"/>
              <a:gd name="T5" fmla="*/ 253534317 h 438"/>
              <a:gd name="T6" fmla="*/ 668377874 w 242"/>
              <a:gd name="T7" fmla="*/ 359855094 h 438"/>
              <a:gd name="T8" fmla="*/ 668377874 w 242"/>
              <a:gd name="T9" fmla="*/ 617478282 h 438"/>
              <a:gd name="T10" fmla="*/ 980286743 w 242"/>
              <a:gd name="T11" fmla="*/ 617478282 h 438"/>
              <a:gd name="T12" fmla="*/ 980286743 w 242"/>
              <a:gd name="T13" fmla="*/ 911905361 h 438"/>
              <a:gd name="T14" fmla="*/ 664326404 w 242"/>
              <a:gd name="T15" fmla="*/ 911905361 h 438"/>
              <a:gd name="T16" fmla="*/ 664326404 w 242"/>
              <a:gd name="T17" fmla="*/ 1791095704 h 438"/>
              <a:gd name="T18" fmla="*/ 307859412 w 242"/>
              <a:gd name="T19" fmla="*/ 1791095704 h 438"/>
              <a:gd name="T20" fmla="*/ 307859412 w 242"/>
              <a:gd name="T21" fmla="*/ 911905361 h 438"/>
              <a:gd name="T22" fmla="*/ 0 w 242"/>
              <a:gd name="T23" fmla="*/ 911905361 h 438"/>
              <a:gd name="T24" fmla="*/ 0 w 242"/>
              <a:gd name="T25" fmla="*/ 621567154 h 438"/>
              <a:gd name="T26" fmla="*/ 303807941 w 242"/>
              <a:gd name="T27" fmla="*/ 621567154 h 438"/>
              <a:gd name="T28" fmla="*/ 303807941 w 242"/>
              <a:gd name="T29" fmla="*/ 368032838 h 438"/>
              <a:gd name="T30" fmla="*/ 567107218 w 242"/>
              <a:gd name="T31" fmla="*/ 0 h 438"/>
              <a:gd name="T32" fmla="*/ 980286743 w 242"/>
              <a:gd name="T33" fmla="*/ 0 h 43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42" h="438">
                <a:moveTo>
                  <a:pt x="242" y="0"/>
                </a:moveTo>
                <a:cubicBezTo>
                  <a:pt x="242" y="62"/>
                  <a:pt x="242" y="62"/>
                  <a:pt x="242" y="62"/>
                </a:cubicBezTo>
                <a:cubicBezTo>
                  <a:pt x="182" y="62"/>
                  <a:pt x="182" y="62"/>
                  <a:pt x="182" y="62"/>
                </a:cubicBezTo>
                <a:cubicBezTo>
                  <a:pt x="182" y="62"/>
                  <a:pt x="164" y="64"/>
                  <a:pt x="165" y="88"/>
                </a:cubicBezTo>
                <a:cubicBezTo>
                  <a:pt x="165" y="151"/>
                  <a:pt x="165" y="151"/>
                  <a:pt x="165" y="151"/>
                </a:cubicBezTo>
                <a:cubicBezTo>
                  <a:pt x="242" y="151"/>
                  <a:pt x="242" y="151"/>
                  <a:pt x="242" y="151"/>
                </a:cubicBezTo>
                <a:cubicBezTo>
                  <a:pt x="242" y="223"/>
                  <a:pt x="242" y="223"/>
                  <a:pt x="242" y="223"/>
                </a:cubicBezTo>
                <a:cubicBezTo>
                  <a:pt x="164" y="223"/>
                  <a:pt x="164" y="223"/>
                  <a:pt x="164" y="223"/>
                </a:cubicBezTo>
                <a:cubicBezTo>
                  <a:pt x="164" y="438"/>
                  <a:pt x="164" y="438"/>
                  <a:pt x="164" y="438"/>
                </a:cubicBezTo>
                <a:cubicBezTo>
                  <a:pt x="76" y="438"/>
                  <a:pt x="76" y="438"/>
                  <a:pt x="76" y="438"/>
                </a:cubicBezTo>
                <a:cubicBezTo>
                  <a:pt x="76" y="223"/>
                  <a:pt x="76" y="223"/>
                  <a:pt x="76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152"/>
                  <a:pt x="0" y="152"/>
                  <a:pt x="0" y="152"/>
                </a:cubicBezTo>
                <a:cubicBezTo>
                  <a:pt x="75" y="152"/>
                  <a:pt x="75" y="152"/>
                  <a:pt x="75" y="152"/>
                </a:cubicBezTo>
                <a:cubicBezTo>
                  <a:pt x="75" y="90"/>
                  <a:pt x="75" y="90"/>
                  <a:pt x="75" y="90"/>
                </a:cubicBezTo>
                <a:cubicBezTo>
                  <a:pt x="75" y="90"/>
                  <a:pt x="68" y="7"/>
                  <a:pt x="140" y="0"/>
                </a:cubicBezTo>
                <a:lnTo>
                  <a:pt x="24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ko-KR" altLang="en-US" sz="1600">
              <a:latin typeface="서울남산체 M" panose="02020603020101020101" pitchFamily="18" charset="-127"/>
              <a:ea typeface="서울남산체 M" panose="02020603020101020101" pitchFamily="18" charset="-127"/>
              <a:cs typeface="Arial" panose="020B06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67544" y="2708920"/>
            <a:ext cx="1639855" cy="1640122"/>
            <a:chOff x="2520000" y="2520000"/>
            <a:chExt cx="1679575" cy="1679575"/>
          </a:xfrm>
        </p:grpSpPr>
        <p:sp>
          <p:nvSpPr>
            <p:cNvPr id="10" name="타원 9"/>
            <p:cNvSpPr/>
            <p:nvPr/>
          </p:nvSpPr>
          <p:spPr bwMode="auto">
            <a:xfrm>
              <a:off x="2520000" y="2520000"/>
              <a:ext cx="1679575" cy="16795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" name="제목 2"/>
            <p:cNvSpPr txBox="1">
              <a:spLocks/>
            </p:cNvSpPr>
            <p:nvPr/>
          </p:nvSpPr>
          <p:spPr bwMode="auto">
            <a:xfrm>
              <a:off x="2520000" y="3009010"/>
              <a:ext cx="1679575" cy="661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얼굴 인식을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  <a:p>
              <a:pPr algn="ctr" latinLnBrk="1"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통한 인증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27544" y="2708920"/>
            <a:ext cx="1639855" cy="1640122"/>
            <a:chOff x="4680000" y="2520000"/>
            <a:chExt cx="1679575" cy="1679575"/>
          </a:xfrm>
        </p:grpSpPr>
        <p:sp>
          <p:nvSpPr>
            <p:cNvPr id="13" name="타원 12"/>
            <p:cNvSpPr/>
            <p:nvPr/>
          </p:nvSpPr>
          <p:spPr bwMode="auto">
            <a:xfrm>
              <a:off x="4680000" y="2520000"/>
              <a:ext cx="1679575" cy="16795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4" name="제목 2"/>
            <p:cNvSpPr txBox="1">
              <a:spLocks/>
            </p:cNvSpPr>
            <p:nvPr/>
          </p:nvSpPr>
          <p:spPr bwMode="auto">
            <a:xfrm>
              <a:off x="4680000" y="3012498"/>
              <a:ext cx="1679575" cy="661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인증 번호를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  <a:p>
              <a:pPr algn="ctr" latinLnBrk="1"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통한 인증 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5" name="Straight Arrow Connector 6"/>
          <p:cNvCxnSpPr>
            <a:stCxn id="10" idx="6"/>
            <a:endCxn id="14" idx="1"/>
          </p:cNvCxnSpPr>
          <p:nvPr/>
        </p:nvCxnSpPr>
        <p:spPr>
          <a:xfrm flipV="1">
            <a:off x="2107399" y="3513015"/>
            <a:ext cx="520145" cy="15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9"/>
          <p:cNvCxnSpPr>
            <a:cxnSpLocks/>
            <a:stCxn id="13" idx="6"/>
            <a:endCxn id="33" idx="1"/>
          </p:cNvCxnSpPr>
          <p:nvPr/>
        </p:nvCxnSpPr>
        <p:spPr>
          <a:xfrm flipV="1">
            <a:off x="4267399" y="3524818"/>
            <a:ext cx="508634" cy="4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7"/>
          <p:cNvGrpSpPr/>
          <p:nvPr/>
        </p:nvGrpSpPr>
        <p:grpSpPr>
          <a:xfrm>
            <a:off x="6467392" y="1102178"/>
            <a:ext cx="1651095" cy="1640122"/>
            <a:chOff x="360000" y="2520000"/>
            <a:chExt cx="1691087" cy="1679575"/>
          </a:xfrm>
        </p:grpSpPr>
        <p:sp>
          <p:nvSpPr>
            <p:cNvPr id="18" name="타원 17"/>
            <p:cNvSpPr/>
            <p:nvPr/>
          </p:nvSpPr>
          <p:spPr bwMode="auto">
            <a:xfrm>
              <a:off x="360000" y="2520000"/>
              <a:ext cx="1679575" cy="167957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9" name="제목 2"/>
            <p:cNvSpPr txBox="1">
              <a:spLocks/>
            </p:cNvSpPr>
            <p:nvPr/>
          </p:nvSpPr>
          <p:spPr bwMode="auto">
            <a:xfrm>
              <a:off x="371512" y="2959239"/>
              <a:ext cx="1679575" cy="780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lnSpc>
                  <a:spcPct val="150000"/>
                </a:lnSpc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감독관 모드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  <a:p>
              <a:pPr algn="ctr" latinLnBrk="1">
                <a:lnSpc>
                  <a:spcPct val="150000"/>
                </a:lnSpc>
                <a:defRPr/>
              </a:pPr>
              <a:r>
                <a:rPr lang="en-US" altLang="ko-KR" sz="11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&lt; </a:t>
              </a:r>
              <a:r>
                <a:rPr lang="ko-KR" altLang="en-US" sz="11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출석 위치 확인 </a:t>
              </a:r>
              <a:r>
                <a:rPr lang="en-US" altLang="ko-KR" sz="11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&gt;</a:t>
              </a:r>
            </a:p>
          </p:txBody>
        </p:sp>
      </p:grpSp>
      <p:cxnSp>
        <p:nvCxnSpPr>
          <p:cNvPr id="20" name="Straight Arrow Connector 19"/>
          <p:cNvCxnSpPr>
            <a:cxnSpLocks/>
            <a:stCxn id="32" idx="7"/>
            <a:endCxn id="18" idx="3"/>
          </p:cNvCxnSpPr>
          <p:nvPr/>
        </p:nvCxnSpPr>
        <p:spPr>
          <a:xfrm flipV="1">
            <a:off x="6175737" y="2502110"/>
            <a:ext cx="531806" cy="44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7"/>
          <p:cNvGrpSpPr/>
          <p:nvPr/>
        </p:nvGrpSpPr>
        <p:grpSpPr>
          <a:xfrm>
            <a:off x="6112924" y="4388494"/>
            <a:ext cx="2348243" cy="1640122"/>
            <a:chOff x="-2774" y="2520000"/>
            <a:chExt cx="2405121" cy="1679575"/>
          </a:xfrm>
          <a:solidFill>
            <a:srgbClr val="C00000"/>
          </a:solidFill>
        </p:grpSpPr>
        <p:sp>
          <p:nvSpPr>
            <p:cNvPr id="22" name="타원 21"/>
            <p:cNvSpPr/>
            <p:nvPr/>
          </p:nvSpPr>
          <p:spPr bwMode="auto">
            <a:xfrm>
              <a:off x="360000" y="2520000"/>
              <a:ext cx="1679575" cy="16795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" name="제목 2"/>
            <p:cNvSpPr txBox="1">
              <a:spLocks/>
            </p:cNvSpPr>
            <p:nvPr/>
          </p:nvSpPr>
          <p:spPr bwMode="auto">
            <a:xfrm>
              <a:off x="-2774" y="2905908"/>
              <a:ext cx="2405121" cy="78007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lnSpc>
                  <a:spcPct val="150000"/>
                </a:lnSpc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학생 모드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  <a:p>
              <a:pPr algn="ctr" latinLnBrk="1">
                <a:lnSpc>
                  <a:spcPct val="150000"/>
                </a:lnSpc>
                <a:defRPr/>
              </a:pPr>
              <a:r>
                <a:rPr lang="en-US" altLang="ko-KR" sz="11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&lt;</a:t>
              </a:r>
              <a:r>
                <a:rPr lang="ko-KR" altLang="en-US" sz="11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수험기록 및 사진 저장</a:t>
              </a:r>
              <a:r>
                <a:rPr lang="en-US" altLang="ko-KR" sz="11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&gt;</a:t>
              </a:r>
            </a:p>
          </p:txBody>
        </p:sp>
      </p:grpSp>
      <p:cxnSp>
        <p:nvCxnSpPr>
          <p:cNvPr id="24" name="Straight Arrow Connector 19"/>
          <p:cNvCxnSpPr>
            <a:cxnSpLocks/>
            <a:stCxn id="32" idx="5"/>
            <a:endCxn id="22" idx="1"/>
          </p:cNvCxnSpPr>
          <p:nvPr/>
        </p:nvCxnSpPr>
        <p:spPr>
          <a:xfrm>
            <a:off x="6175737" y="4108852"/>
            <a:ext cx="531533" cy="519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7"/>
          <p:cNvGrpSpPr/>
          <p:nvPr/>
        </p:nvGrpSpPr>
        <p:grpSpPr>
          <a:xfrm>
            <a:off x="1553299" y="4634462"/>
            <a:ext cx="1639855" cy="1640122"/>
            <a:chOff x="360000" y="2520000"/>
            <a:chExt cx="1679575" cy="1679575"/>
          </a:xfrm>
          <a:solidFill>
            <a:srgbClr val="C00000"/>
          </a:solidFill>
        </p:grpSpPr>
        <p:sp>
          <p:nvSpPr>
            <p:cNvPr id="26" name="타원 25"/>
            <p:cNvSpPr/>
            <p:nvPr/>
          </p:nvSpPr>
          <p:spPr bwMode="auto">
            <a:xfrm>
              <a:off x="360000" y="2520000"/>
              <a:ext cx="1679575" cy="16795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7" name="제목 2"/>
            <p:cNvSpPr txBox="1">
              <a:spLocks/>
            </p:cNvSpPr>
            <p:nvPr/>
          </p:nvSpPr>
          <p:spPr bwMode="auto">
            <a:xfrm>
              <a:off x="485713" y="3005844"/>
              <a:ext cx="1416637" cy="66187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얼굴 인식</a:t>
              </a:r>
              <a:r>
                <a:rPr lang="en-US" altLang="ko-KR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/>
              </a:r>
              <a:br>
                <a:rPr lang="en-US" altLang="ko-KR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</a:b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성능 향상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28" name="Straight Arrow Connector 19"/>
          <p:cNvCxnSpPr>
            <a:cxnSpLocks/>
            <a:stCxn id="10" idx="4"/>
            <a:endCxn id="26" idx="1"/>
          </p:cNvCxnSpPr>
          <p:nvPr/>
        </p:nvCxnSpPr>
        <p:spPr>
          <a:xfrm>
            <a:off x="1287472" y="4349042"/>
            <a:ext cx="505978" cy="525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99256" y="6100878"/>
            <a:ext cx="191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>수험표</a:t>
            </a:r>
            <a:r>
              <a:rPr lang="en-US" altLang="ko-KR" sz="14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> </a:t>
            </a:r>
            <a:r>
              <a:rPr lang="ko-KR" altLang="en-US" sz="14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>대체 기능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2765" y="6285520"/>
            <a:ext cx="2285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latin typeface="서울남산체 M" panose="02020603020101020101" pitchFamily="18" charset="-127"/>
                <a:ea typeface="서울남산체 M" panose="02020603020101020101" pitchFamily="18" charset="-127"/>
              </a:rPr>
              <a:t>보다 뛰어난 얼굴 인식율을 위한 최적화</a:t>
            </a:r>
          </a:p>
        </p:txBody>
      </p:sp>
      <p:grpSp>
        <p:nvGrpSpPr>
          <p:cNvPr id="31" name="Group 13"/>
          <p:cNvGrpSpPr/>
          <p:nvPr/>
        </p:nvGrpSpPr>
        <p:grpSpPr>
          <a:xfrm>
            <a:off x="4776033" y="2708920"/>
            <a:ext cx="1639855" cy="1640122"/>
            <a:chOff x="2520000" y="4442650"/>
            <a:chExt cx="1679575" cy="1679575"/>
          </a:xfrm>
        </p:grpSpPr>
        <p:sp>
          <p:nvSpPr>
            <p:cNvPr id="32" name="타원 31"/>
            <p:cNvSpPr/>
            <p:nvPr/>
          </p:nvSpPr>
          <p:spPr bwMode="auto">
            <a:xfrm>
              <a:off x="2520000" y="4442650"/>
              <a:ext cx="1679575" cy="16795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3" name="제목 2"/>
            <p:cNvSpPr txBox="1">
              <a:spLocks/>
            </p:cNvSpPr>
            <p:nvPr/>
          </p:nvSpPr>
          <p:spPr bwMode="auto">
            <a:xfrm>
              <a:off x="2520000" y="5089066"/>
              <a:ext cx="1679575" cy="378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defRPr/>
              </a:pPr>
              <a:r>
                <a:rPr lang="ko-KR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서울남산체 M" panose="02020603020101020101" pitchFamily="18" charset="-127"/>
                  <a:ea typeface="서울남산체 M" panose="02020603020101020101" pitchFamily="18" charset="-127"/>
                  <a:cs typeface="Arial" panose="020B0604020202020204" pitchFamily="34" charset="0"/>
                </a:rPr>
                <a:t>인증 완료</a:t>
              </a:r>
              <a:endPara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M" panose="02020603020101020101" pitchFamily="18" charset="-127"/>
                <a:ea typeface="서울남산체 M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2415928" cy="481295"/>
          </a:xfrm>
        </p:spPr>
        <p:txBody>
          <a:bodyPr/>
          <a:lstStyle/>
          <a:p>
            <a:pPr>
              <a:defRPr/>
            </a:pPr>
            <a:r>
              <a:rPr lang="ko-KR" altLang="en-US" sz="360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내용구성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333995" y="1516985"/>
            <a:ext cx="289173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2</a:t>
            </a:r>
            <a:r>
              <a:rPr kumimoji="0" lang="ko-KR" altLang="en-US" sz="6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단계</a:t>
            </a:r>
            <a:endParaRPr kumimoji="0" lang="en-US" altLang="ko-KR" sz="6000" spc="-300" dirty="0">
              <a:ln>
                <a:prstDash val="solid"/>
              </a:ln>
              <a:latin typeface="타이포_쌍문동 B" panose="02020803020101020101" pitchFamily="18" charset="-127"/>
              <a:ea typeface="타이포_쌍문동 B" panose="020208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484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0" y="2926800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오류처리방안</a:t>
            </a:r>
          </a:p>
        </p:txBody>
      </p:sp>
    </p:spTree>
    <p:extLst>
      <p:ext uri="{BB962C8B-B14F-4D97-AF65-F5344CB8AC3E}">
        <p14:creationId xmlns:p14="http://schemas.microsoft.com/office/powerpoint/2010/main" val="2666125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2847976" cy="553303"/>
          </a:xfrm>
        </p:spPr>
        <p:txBody>
          <a:bodyPr/>
          <a:lstStyle/>
          <a:p>
            <a:pPr>
              <a:defRPr/>
            </a:pPr>
            <a:r>
              <a:rPr lang="ko-KR" altLang="en-US" sz="360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오류처리방안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366481" y="1700808"/>
            <a:ext cx="8411038" cy="3816424"/>
          </a:xfrm>
        </p:spPr>
        <p:txBody>
          <a:bodyPr>
            <a:noAutofit/>
          </a:bodyPr>
          <a:lstStyle>
            <a:lvl1pPr marL="228600" indent="-228600" algn="l" rtl="0" eaLnBrk="0" fontAlgn="base" latinLnBrk="1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latinLnBrk="1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1.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인증 문제 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-&gt;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인증 후 휴대폰문자로 알림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2.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얼굴인식 실시간 문제 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-&gt;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사진을 통해 인식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3.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얼굴크기에 따른 성능 문제 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-&gt;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사진을 찍을 때 </a:t>
            </a:r>
            <a:r>
              <a:rPr kumimoji="0" lang="ko-KR" altLang="en-US" sz="1600" dirty="0" err="1">
                <a:latin typeface="제주고딕" panose="02000300000000000000" pitchFamily="2" charset="-127"/>
                <a:ea typeface="제주고딕" panose="02000300000000000000" pitchFamily="2" charset="-127"/>
              </a:rPr>
              <a:t>네모칸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 안에 찍게 하여 일정한 얼굴 사이즈 유지</a:t>
            </a:r>
            <a:endParaRPr kumimoji="0" lang="en-US" altLang="ko-KR" sz="1600" dirty="0">
              <a:latin typeface="제주고딕" panose="02000300000000000000" pitchFamily="2" charset="-127"/>
              <a:ea typeface="제주고딕" panose="02000300000000000000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4.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다양한 얼굴 각도에 따른 성능 저하 문제 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-&gt;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눈동자와 코를 기준으로 얼굴 정렬</a:t>
            </a:r>
            <a:endParaRPr kumimoji="0" lang="en-US" altLang="ko-KR" sz="1600" dirty="0">
              <a:latin typeface="제주고딕" panose="02000300000000000000" pitchFamily="2" charset="-127"/>
              <a:ea typeface="제주고딕" panose="02000300000000000000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5.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조명에 따른 얼굴 성능 문제 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-&gt; OpenCV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의 </a:t>
            </a:r>
            <a:r>
              <a:rPr kumimoji="0" lang="en-US" altLang="ko-KR" sz="1600" dirty="0" err="1">
                <a:latin typeface="제주고딕" panose="02000300000000000000" pitchFamily="2" charset="-127"/>
                <a:ea typeface="제주고딕" panose="02000300000000000000" pitchFamily="2" charset="-127"/>
              </a:rPr>
              <a:t>FaceRecognizer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함수 중 </a:t>
            </a:r>
            <a:r>
              <a:rPr kumimoji="0" lang="en-US" altLang="ko-KR" sz="1600" dirty="0" err="1">
                <a:latin typeface="제주고딕" panose="02000300000000000000" pitchFamily="2" charset="-127"/>
                <a:ea typeface="제주고딕" panose="02000300000000000000" pitchFamily="2" charset="-127"/>
              </a:rPr>
              <a:t>LBPFacerecognizer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를 이용하여 조명에 따른 성능 저하를 최소화 할 수 있을 것으로 기대</a:t>
            </a:r>
            <a:endParaRPr kumimoji="0" lang="en-US" altLang="ko-KR" sz="1600" dirty="0">
              <a:latin typeface="제주고딕" panose="02000300000000000000" pitchFamily="2" charset="-127"/>
              <a:ea typeface="제주고딕" panose="02000300000000000000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6.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머리카락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,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얼굴 주위의 제거되지 않은 배경과 같은 성능을 </a:t>
            </a:r>
            <a:r>
              <a:rPr kumimoji="0" lang="ko-KR" altLang="en-US" sz="1600" dirty="0" err="1">
                <a:latin typeface="제주고딕" panose="02000300000000000000" pitchFamily="2" charset="-127"/>
                <a:ea typeface="제주고딕" panose="02000300000000000000" pitchFamily="2" charset="-127"/>
              </a:rPr>
              <a:t>저해시키는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 요소</a:t>
            </a: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/>
            </a:r>
            <a:b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</a:br>
            <a:r>
              <a:rPr kumimoji="0" lang="en-US" altLang="ko-KR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-&gt; </a:t>
            </a:r>
            <a:r>
              <a:rPr kumimoji="0" lang="ko-KR" altLang="en-US" sz="1600" dirty="0">
                <a:latin typeface="제주고딕" panose="02000300000000000000" pitchFamily="2" charset="-127"/>
                <a:ea typeface="제주고딕" panose="02000300000000000000" pitchFamily="2" charset="-127"/>
              </a:rPr>
              <a:t>얼굴 마스크 적용을 이용해 배경 제거 및 인식 성능 개선 기대</a:t>
            </a:r>
          </a:p>
        </p:txBody>
      </p:sp>
    </p:spTree>
    <p:extLst>
      <p:ext uri="{BB962C8B-B14F-4D97-AF65-F5344CB8AC3E}">
        <p14:creationId xmlns:p14="http://schemas.microsoft.com/office/powerpoint/2010/main" val="1200231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0000" y="2926800"/>
            <a:ext cx="441659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프로젝트의</a:t>
            </a:r>
            <a:endParaRPr lang="en-US" altLang="ko-KR" sz="66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r>
              <a:rPr lang="ko-KR" altLang="en-US" sz="66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차별성</a:t>
            </a:r>
          </a:p>
        </p:txBody>
      </p:sp>
    </p:spTree>
    <p:extLst>
      <p:ext uri="{BB962C8B-B14F-4D97-AF65-F5344CB8AC3E}">
        <p14:creationId xmlns:p14="http://schemas.microsoft.com/office/powerpoint/2010/main" val="1397052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71896" y="355418"/>
            <a:ext cx="4000104" cy="709810"/>
          </a:xfrm>
        </p:spPr>
        <p:txBody>
          <a:bodyPr/>
          <a:lstStyle/>
          <a:p>
            <a:pPr>
              <a:defRPr/>
            </a:pPr>
            <a:r>
              <a:rPr lang="ko-KR" altLang="en-US" sz="360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프로젝트의 차별성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5797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0" y="2926800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활용가능성</a:t>
            </a:r>
          </a:p>
        </p:txBody>
      </p:sp>
    </p:spTree>
    <p:extLst>
      <p:ext uri="{BB962C8B-B14F-4D97-AF65-F5344CB8AC3E}">
        <p14:creationId xmlns:p14="http://schemas.microsoft.com/office/powerpoint/2010/main" val="1155132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 bwMode="auto">
          <a:xfrm>
            <a:off x="3240088" y="1419225"/>
            <a:ext cx="2663825" cy="2282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210 썬플라워 L" panose="02020603020101020101" pitchFamily="18" charset="-127"/>
              <a:ea typeface="210 썬플라워 L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571500" y="3702050"/>
            <a:ext cx="2663825" cy="22844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5908675" y="3702050"/>
            <a:ext cx="2663825" cy="22844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3" name="제목 2"/>
          <p:cNvSpPr txBox="1">
            <a:spLocks/>
          </p:cNvSpPr>
          <p:nvPr/>
        </p:nvSpPr>
        <p:spPr bwMode="auto">
          <a:xfrm>
            <a:off x="3235325" y="2061756"/>
            <a:ext cx="26638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algn="ctr" latinLnBrk="1">
              <a:defRPr/>
            </a:pPr>
            <a:r>
              <a:rPr lang="ko-KR" altLang="en-US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수험표를 이용한 </a:t>
            </a:r>
            <a:r>
              <a:rPr lang="ko-KR" altLang="en-US" sz="2000" b="1" dirty="0" err="1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수험자</a:t>
            </a:r>
            <a:r>
              <a:rPr lang="ko-KR" altLang="en-US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 혜택 시 확인 절차로 </a:t>
            </a:r>
            <a:endParaRPr lang="en-US" altLang="ko-KR" sz="20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marL="0" indent="0" algn="ctr" latinLnBrk="1">
              <a:defRPr/>
            </a:pPr>
            <a:r>
              <a:rPr lang="ko-KR" altLang="en-US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활용 가능</a:t>
            </a:r>
            <a:endParaRPr lang="en-US" altLang="ko-KR" sz="20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7419" name="제목 2"/>
          <p:cNvSpPr txBox="1">
            <a:spLocks/>
          </p:cNvSpPr>
          <p:nvPr/>
        </p:nvSpPr>
        <p:spPr bwMode="auto">
          <a:xfrm>
            <a:off x="571500" y="4293096"/>
            <a:ext cx="26638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1"/>
            <a:r>
              <a:rPr lang="ko-KR" altLang="en-US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신분증</a:t>
            </a:r>
            <a:r>
              <a:rPr lang="en-US" altLang="ko-KR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수험표 검사가 필요한 모든 시험에</a:t>
            </a:r>
            <a:endParaRPr lang="en-US" altLang="ko-KR" sz="20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  <a:p>
            <a:pPr algn="ctr" latinLnBrk="1"/>
            <a:r>
              <a:rPr lang="ko-KR" altLang="en-US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활용 가능</a:t>
            </a:r>
            <a:endParaRPr lang="en-US" altLang="ko-KR" sz="20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7420" name="제목 2"/>
          <p:cNvSpPr txBox="1">
            <a:spLocks/>
          </p:cNvSpPr>
          <p:nvPr/>
        </p:nvSpPr>
        <p:spPr bwMode="auto">
          <a:xfrm>
            <a:off x="5908675" y="4325094"/>
            <a:ext cx="26638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1"/>
            <a:r>
              <a:rPr lang="ko-KR" altLang="en-US" sz="2000" b="1" dirty="0">
                <a:latin typeface="제주고딕" panose="02000300000000000000" pitchFamily="2" charset="-127"/>
                <a:ea typeface="제주고딕" panose="02000300000000000000" pitchFamily="2" charset="-127"/>
                <a:cs typeface="Arial" panose="020B0604020202020204" pitchFamily="34" charset="0"/>
              </a:rPr>
              <a:t>기존 시험 시스템 보다 더 정확히 위조 신분을 찾기가 가능</a:t>
            </a:r>
            <a:endParaRPr lang="en-US" altLang="ko-KR" sz="2000" b="1" dirty="0">
              <a:latin typeface="제주고딕" panose="02000300000000000000" pitchFamily="2" charset="-127"/>
              <a:ea typeface="제주고딕" panose="02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2559944" cy="553303"/>
          </a:xfrm>
        </p:spPr>
        <p:txBody>
          <a:bodyPr/>
          <a:lstStyle/>
          <a:p>
            <a:pPr>
              <a:defRPr/>
            </a:pPr>
            <a:r>
              <a:rPr lang="ko-KR" altLang="en-US" sz="360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활용가능성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pic>
        <p:nvPicPr>
          <p:cNvPr id="13" name="Picture 2" descr="Modern communication technology mobile phone high tech, wide web connection concept. Business man holding smartphone connected browsing internet worldwide world map background. 4g data plan provider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15" y="1418400"/>
            <a:ext cx="26676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Large and diverse group of people seen from above gathered together in the shape of a magnifying glass searching people&#10;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110" y="3719950"/>
            <a:ext cx="2606040" cy="2287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Businessman showing green check mark. Concept of correct decision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000" y="1418400"/>
            <a:ext cx="26676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362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0000" y="2926800"/>
            <a:ext cx="49039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개발  일정</a:t>
            </a:r>
          </a:p>
        </p:txBody>
      </p:sp>
    </p:spTree>
    <p:extLst>
      <p:ext uri="{BB962C8B-B14F-4D97-AF65-F5344CB8AC3E}">
        <p14:creationId xmlns:p14="http://schemas.microsoft.com/office/powerpoint/2010/main" val="1402392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1983880" cy="553303"/>
          </a:xfrm>
        </p:spPr>
        <p:txBody>
          <a:bodyPr/>
          <a:lstStyle/>
          <a:p>
            <a:pPr>
              <a:defRPr/>
            </a:pPr>
            <a:r>
              <a:rPr lang="ko-KR" altLang="en-US" sz="360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개발일정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792551"/>
              </p:ext>
            </p:extLst>
          </p:nvPr>
        </p:nvGraphicFramePr>
        <p:xfrm>
          <a:off x="571894" y="1484784"/>
          <a:ext cx="8114910" cy="4752529"/>
        </p:xfrm>
        <a:graphic>
          <a:graphicData uri="http://schemas.openxmlformats.org/drawingml/2006/table">
            <a:tbl>
              <a:tblPr/>
              <a:tblGrid>
                <a:gridCol w="30640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20909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671752"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chemeClr val="bg1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3</a:t>
                      </a:r>
                      <a:r>
                        <a:rPr lang="ko-KR" altLang="en-US" sz="1600" b="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월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4</a:t>
                      </a:r>
                      <a:r>
                        <a:rPr lang="ko-KR" altLang="en-US" sz="1600" b="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월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5</a:t>
                      </a:r>
                      <a:r>
                        <a:rPr lang="ko-KR" altLang="en-US" sz="1600" b="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월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78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1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2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3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4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1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2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3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4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1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2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3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4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27047217"/>
                  </a:ext>
                </a:extLst>
              </a:tr>
              <a:tr h="8857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프로젝트 아이디어 기획 및 사전조사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  <a:cs typeface="+mn-cs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857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APP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 UI 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설계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857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서버 및 데이터베이스 구축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,</a:t>
                      </a: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DBMS/APP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연동</a:t>
                      </a: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  <a:cs typeface="+mn-cs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8572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OpenCV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 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제주고딕" panose="02000300000000000000" pitchFamily="2" charset="-127"/>
                          <a:ea typeface="제주고딕" panose="02000300000000000000" pitchFamily="2" charset="-127"/>
                        </a:rPr>
                        <a:t>이용 얼굴인식 기능 구현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5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제주고딕" panose="02000300000000000000" pitchFamily="2" charset="-127"/>
                        <a:ea typeface="제주고딕" panose="02000300000000000000" pitchFamily="2" charset="-127"/>
                      </a:endParaRPr>
                    </a:p>
                  </a:txBody>
                  <a:tcPr marL="43152" marR="43152" marT="11930" marB="119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482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제목 4"/>
          <p:cNvSpPr txBox="1">
            <a:spLocks/>
          </p:cNvSpPr>
          <p:nvPr/>
        </p:nvSpPr>
        <p:spPr>
          <a:xfrm>
            <a:off x="208881" y="455627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Server , DB Plan 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(</a:t>
            </a:r>
            <a:r>
              <a:rPr kumimoji="0" lang="ko-KR" altLang="en-US" sz="2800" dirty="0" smtClean="0">
                <a:latin typeface="Arial Black" panose="020B0A04020102020204" pitchFamily="34" charset="0"/>
              </a:rPr>
              <a:t>홍길동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)</a:t>
            </a:r>
            <a:endParaRPr kumimoji="0" lang="ko-KR" altLang="en-US" sz="3200" dirty="0"/>
          </a:p>
        </p:txBody>
      </p:sp>
      <p:graphicFrame>
        <p:nvGraphicFramePr>
          <p:cNvPr id="6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96457"/>
              </p:ext>
            </p:extLst>
          </p:nvPr>
        </p:nvGraphicFramePr>
        <p:xfrm>
          <a:off x="515889" y="1171143"/>
          <a:ext cx="8112222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445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31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81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개발환경 구축</a:t>
                      </a:r>
                      <a:r>
                        <a:rPr lang="en-US" altLang="ko-KR" sz="1400" dirty="0"/>
                        <a:t>( </a:t>
                      </a:r>
                      <a:r>
                        <a:rPr lang="en-US" altLang="ko-KR" sz="1400" dirty="0" err="1"/>
                        <a:t>Mysql</a:t>
                      </a:r>
                      <a:r>
                        <a:rPr lang="en-US" altLang="ko-KR" sz="1400" dirty="0"/>
                        <a:t> DBMS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설치</a:t>
                      </a:r>
                      <a:r>
                        <a:rPr lang="en-US" altLang="ko-KR" sz="1400" baseline="0" dirty="0"/>
                        <a:t>, Apache tomcat </a:t>
                      </a:r>
                      <a:r>
                        <a:rPr lang="ko-KR" altLang="en-US" sz="1400" baseline="0" dirty="0"/>
                        <a:t>설치</a:t>
                      </a:r>
                      <a:r>
                        <a:rPr lang="en-US" altLang="ko-KR" sz="1400" baseline="0" dirty="0"/>
                        <a:t>, JSP </a:t>
                      </a:r>
                      <a:r>
                        <a:rPr lang="ko-KR" altLang="en-US" sz="1400" baseline="0" dirty="0"/>
                        <a:t>프로그램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DB </a:t>
                      </a:r>
                      <a:r>
                        <a:rPr lang="ko-KR" altLang="en-US" sz="1400" dirty="0"/>
                        <a:t>구축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sql</a:t>
                      </a:r>
                      <a:r>
                        <a:rPr lang="ko-KR" altLang="en-US" sz="1400" dirty="0"/>
                        <a:t>로</a:t>
                      </a:r>
                      <a:r>
                        <a:rPr lang="ko-KR" altLang="en-US" sz="1400" baseline="0" dirty="0"/>
                        <a:t> </a:t>
                      </a:r>
                      <a:r>
                        <a:rPr lang="en-US" altLang="ko-KR" sz="1400" baseline="0" dirty="0"/>
                        <a:t>DB </a:t>
                      </a:r>
                      <a:r>
                        <a:rPr lang="ko-KR" altLang="en-US" sz="1400" baseline="0" dirty="0"/>
                        <a:t>쿼리 작업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서버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웹 홈페이지 </a:t>
                      </a:r>
                      <a:r>
                        <a:rPr lang="en-US" altLang="ko-KR" sz="1400" dirty="0"/>
                        <a:t>JSP</a:t>
                      </a:r>
                      <a:r>
                        <a:rPr lang="ko-KR" altLang="en-US" sz="1400" dirty="0"/>
                        <a:t>로 기틀 만들기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CSS</a:t>
                      </a:r>
                      <a:r>
                        <a:rPr lang="ko-KR" altLang="en-US" sz="1400" dirty="0"/>
                        <a:t>로 홈페이지 생김새 바꿔주기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홈페이지와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서버 </a:t>
                      </a:r>
                      <a:r>
                        <a:rPr lang="en-US" altLang="ko-KR" sz="1400" dirty="0"/>
                        <a:t>test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과 </a:t>
                      </a:r>
                      <a:r>
                        <a:rPr lang="en-US" altLang="ko-KR" sz="1400" baseline="0" dirty="0"/>
                        <a:t>Server</a:t>
                      </a:r>
                      <a:r>
                        <a:rPr lang="ko-KR" altLang="en-US" sz="1400" baseline="0" dirty="0"/>
                        <a:t>의 연동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웹과 프로그램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2017-05-09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오류 처리</a:t>
                      </a:r>
                      <a:r>
                        <a:rPr lang="en-US" altLang="ko-KR" sz="1400" dirty="0"/>
                        <a:t>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테스트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017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49932" y="486537"/>
            <a:ext cx="9121874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Face Recognition System Plan 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(</a:t>
            </a:r>
            <a:r>
              <a:rPr kumimoji="0" lang="ko-KR" altLang="en-US" sz="2800" dirty="0" smtClean="0">
                <a:latin typeface="Arial Black" panose="020B0A04020102020204" pitchFamily="34" charset="0"/>
              </a:rPr>
              <a:t>이길동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)</a:t>
            </a:r>
            <a:endParaRPr kumimoji="0" lang="ko-KR" altLang="en-US" sz="3200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320348"/>
              </p:ext>
            </p:extLst>
          </p:nvPr>
        </p:nvGraphicFramePr>
        <p:xfrm>
          <a:off x="515889" y="1556792"/>
          <a:ext cx="8112222" cy="30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445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08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8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 데이터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70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얼굴영역 </a:t>
                      </a:r>
                      <a:r>
                        <a:rPr lang="en-US" altLang="ko-KR" sz="1400" dirty="0"/>
                        <a:t/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검출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70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얼굴영역 정렬 및 얼굴 마스크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700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Opencv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기반</a:t>
                      </a:r>
                      <a:r>
                        <a:rPr lang="en-US" altLang="ko-KR" sz="1400" dirty="0"/>
                        <a:t/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얼굴 인식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70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 인식 시스템 테스트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156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222945" y="448437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Augmented Reality Plan 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(</a:t>
            </a:r>
            <a:r>
              <a:rPr kumimoji="0" lang="ko-KR" altLang="en-US" sz="2800" dirty="0" smtClean="0">
                <a:latin typeface="Arial Black" panose="020B0A04020102020204" pitchFamily="34" charset="0"/>
              </a:rPr>
              <a:t>박길동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)</a:t>
            </a:r>
            <a:endParaRPr kumimoji="0" lang="ko-KR" altLang="en-US" sz="3200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42666"/>
              </p:ext>
            </p:extLst>
          </p:nvPr>
        </p:nvGraphicFramePr>
        <p:xfrm>
          <a:off x="401589" y="1412776"/>
          <a:ext cx="8112222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445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5203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ARToolkit</a:t>
                      </a:r>
                      <a:r>
                        <a:rPr lang="en-US" altLang="ko-KR" sz="1400" baseline="0" dirty="0"/>
                        <a:t/>
                      </a:r>
                      <a:br>
                        <a:rPr lang="en-US" altLang="ko-KR" sz="1400" baseline="0" dirty="0"/>
                      </a:br>
                      <a:r>
                        <a:rPr lang="ko-KR" altLang="en-US" sz="1400" baseline="0" dirty="0"/>
                        <a:t>환경</a:t>
                      </a:r>
                      <a:r>
                        <a:rPr lang="ko-KR" altLang="en-US" sz="1400" dirty="0"/>
                        <a:t>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Unity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환경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강의실 </a:t>
                      </a:r>
                      <a:r>
                        <a:rPr lang="en-US" altLang="ko-KR" sz="1400" dirty="0"/>
                        <a:t/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좌석 영역 검출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2017-04-21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Unity</a:t>
                      </a:r>
                      <a:r>
                        <a:rPr lang="ko-KR" altLang="en-US" sz="1400" dirty="0"/>
                        <a:t>를 이용하여 </a:t>
                      </a:r>
                      <a:r>
                        <a:rPr lang="en-US" altLang="ko-KR" sz="1400" dirty="0"/>
                        <a:t>3D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그래픽 작업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2017-04-21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이미지에</a:t>
                      </a:r>
                      <a:r>
                        <a:rPr lang="en-US" altLang="ko-KR" sz="1400" dirty="0"/>
                        <a:t/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좌석 위치 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시스템</a:t>
                      </a:r>
                      <a:r>
                        <a:rPr lang="en-US" altLang="ko-KR" sz="1400" dirty="0"/>
                        <a:t/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적용 및 테스트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2017-05-01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807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445865" y="409152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APP Plan 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(</a:t>
            </a:r>
            <a:r>
              <a:rPr kumimoji="0" lang="ko-KR" altLang="en-US" sz="2800" dirty="0" smtClean="0">
                <a:latin typeface="Arial Black" panose="020B0A04020102020204" pitchFamily="34" charset="0"/>
              </a:rPr>
              <a:t>홍길동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, </a:t>
            </a:r>
            <a:r>
              <a:rPr kumimoji="0" lang="ko-KR" altLang="en-US" sz="2800" dirty="0" smtClean="0">
                <a:latin typeface="Arial Black" panose="020B0A04020102020204" pitchFamily="34" charset="0"/>
              </a:rPr>
              <a:t>박길동</a:t>
            </a:r>
            <a:r>
              <a:rPr kumimoji="0" lang="en-US" altLang="ko-KR" sz="2800" dirty="0" smtClean="0">
                <a:latin typeface="Arial Black" panose="020B0A04020102020204" pitchFamily="34" charset="0"/>
              </a:rPr>
              <a:t>)</a:t>
            </a:r>
            <a:endParaRPr kumimoji="0" lang="ko-KR" altLang="en-US" sz="3200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75674"/>
              </p:ext>
            </p:extLst>
          </p:nvPr>
        </p:nvGraphicFramePr>
        <p:xfrm>
          <a:off x="533400" y="1412776"/>
          <a:ext cx="8077200" cy="4680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2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81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073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632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32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웹앱</a:t>
                      </a:r>
                      <a:r>
                        <a:rPr lang="ko-KR" altLang="en-US" sz="1400" dirty="0"/>
                        <a:t> 개발환경 구축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드림위버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327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 인터페이스 설계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32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로그인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회원가입 기능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32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 개인정보 출력기능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840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사진촬영 데이터를 서버로 전송하는 기능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32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전체적인 디자인 작업</a:t>
                      </a:r>
                      <a:r>
                        <a:rPr lang="en-US" altLang="ko-KR" sz="1400" dirty="0"/>
                        <a:t>(CSS3)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687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228600" y="455627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Plan of </a:t>
            </a:r>
            <a:r>
              <a:rPr kumimoji="0" lang="ko-KR" altLang="en-US" sz="3200" dirty="0" smtClean="0">
                <a:latin typeface="Arial Black" panose="020B0A04020102020204" pitchFamily="34" charset="0"/>
              </a:rPr>
              <a:t>홍길동</a:t>
            </a:r>
            <a:endParaRPr kumimoji="0" lang="ko-KR" altLang="en-US" sz="3200" dirty="0"/>
          </a:p>
        </p:txBody>
      </p:sp>
      <p:graphicFrame>
        <p:nvGraphicFramePr>
          <p:cNvPr id="5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548742"/>
              </p:ext>
            </p:extLst>
          </p:nvPr>
        </p:nvGraphicFramePr>
        <p:xfrm>
          <a:off x="381000" y="1412776"/>
          <a:ext cx="8382000" cy="4896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993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8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Unity, AR </a:t>
                      </a:r>
                      <a:r>
                        <a:rPr lang="en-US" altLang="ko-KR" sz="1400" dirty="0" err="1"/>
                        <a:t>ToolKit</a:t>
                      </a:r>
                      <a:r>
                        <a:rPr lang="en-US" altLang="ko-KR" sz="1400" dirty="0"/>
                        <a:t>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en-US" altLang="ko-KR" sz="1400" dirty="0"/>
                        <a:t>Web Server,</a:t>
                      </a:r>
                      <a:r>
                        <a:rPr lang="en-US" altLang="ko-KR" sz="1400" baseline="0" dirty="0"/>
                        <a:t> DB</a:t>
                      </a:r>
                      <a:r>
                        <a:rPr lang="ko-KR" altLang="en-US" sz="1400" dirty="0"/>
                        <a:t>개발환경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9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DB </a:t>
                      </a:r>
                      <a:r>
                        <a:rPr lang="ko-KR" altLang="en-US" sz="1400" dirty="0"/>
                        <a:t>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8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서버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93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웹 홈페이지 </a:t>
                      </a:r>
                      <a:r>
                        <a:rPr lang="en-US" altLang="ko-KR" sz="1400" dirty="0"/>
                        <a:t>JSP</a:t>
                      </a:r>
                      <a:r>
                        <a:rPr lang="ko-KR" altLang="en-US" sz="1400" dirty="0"/>
                        <a:t>로 기틀 만들기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9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CSS</a:t>
                      </a:r>
                      <a:r>
                        <a:rPr lang="ko-KR" altLang="en-US" sz="1400" dirty="0"/>
                        <a:t>로 홈페이지 생김새 바꿔주기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993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홈페이지와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서버 </a:t>
                      </a:r>
                      <a:r>
                        <a:rPr lang="en-US" altLang="ko-KR" sz="1400" dirty="0"/>
                        <a:t>test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93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과 </a:t>
                      </a:r>
                      <a:r>
                        <a:rPr lang="en-US" altLang="ko-KR" sz="1400" baseline="0" dirty="0"/>
                        <a:t>Server</a:t>
                      </a:r>
                      <a:r>
                        <a:rPr lang="ko-KR" altLang="en-US" sz="1400" baseline="0" dirty="0"/>
                        <a:t>의 연동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993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웹과 프로그램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2017-05-09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82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Unity</a:t>
                      </a:r>
                      <a:r>
                        <a:rPr lang="ko-KR" altLang="en-US" sz="1400" baseline="0" dirty="0"/>
                        <a:t>로 </a:t>
                      </a:r>
                      <a:r>
                        <a:rPr lang="en-US" altLang="ko-KR" sz="1400" baseline="0" dirty="0"/>
                        <a:t>3D </a:t>
                      </a:r>
                      <a:r>
                        <a:rPr lang="ko-KR" altLang="en-US" sz="1400" baseline="0" dirty="0"/>
                        <a:t>그래픽 작업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2017-05-21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28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이미지에 좌석 위치 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282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오류 처리</a:t>
                      </a:r>
                      <a:r>
                        <a:rPr lang="en-US" altLang="ko-KR" sz="1400" dirty="0"/>
                        <a:t>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테스트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2017-06-18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76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5149" y="92759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0" y="76200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Plan of </a:t>
            </a:r>
            <a:r>
              <a:rPr kumimoji="0" lang="ko-KR" altLang="en-US" sz="3200" dirty="0">
                <a:latin typeface="Arial Black" panose="020B0A04020102020204" pitchFamily="34" charset="0"/>
              </a:rPr>
              <a:t>김</a:t>
            </a:r>
            <a:r>
              <a:rPr kumimoji="0" lang="ko-KR" altLang="en-US" sz="3200" dirty="0" smtClean="0">
                <a:latin typeface="Arial Black" panose="020B0A04020102020204" pitchFamily="34" charset="0"/>
              </a:rPr>
              <a:t>길동</a:t>
            </a:r>
            <a:endParaRPr kumimoji="0" lang="ko-KR" altLang="en-US" sz="32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438750"/>
              </p:ext>
            </p:extLst>
          </p:nvPr>
        </p:nvGraphicFramePr>
        <p:xfrm>
          <a:off x="395536" y="1412776"/>
          <a:ext cx="8382000" cy="4968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31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48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App,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en-US" altLang="ko-KR" sz="1400" dirty="0"/>
                        <a:t>Web Server,</a:t>
                      </a:r>
                      <a:r>
                        <a:rPr lang="en-US" altLang="ko-KR" sz="1400" baseline="0" dirty="0"/>
                        <a:t> DB </a:t>
                      </a:r>
                      <a:r>
                        <a:rPr lang="ko-KR" altLang="en-US" sz="1400" dirty="0"/>
                        <a:t>개발환경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48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App </a:t>
                      </a:r>
                      <a:r>
                        <a:rPr lang="ko-KR" altLang="en-US" sz="1400" dirty="0"/>
                        <a:t>인터페이스 설계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248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기능 구현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24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사진 촬영 기능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24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홈페이지와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서버 </a:t>
                      </a:r>
                      <a:r>
                        <a:rPr lang="en-US" altLang="ko-KR" sz="1400" dirty="0"/>
                        <a:t>test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248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과 </a:t>
                      </a:r>
                      <a:r>
                        <a:rPr lang="en-US" altLang="ko-KR" sz="1400" baseline="0" dirty="0"/>
                        <a:t>Server</a:t>
                      </a:r>
                      <a:r>
                        <a:rPr lang="ko-KR" altLang="en-US" sz="1400" baseline="0" dirty="0"/>
                        <a:t>의 연동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248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웹과 프로그램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2017-05-09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14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전체적인 </a:t>
                      </a:r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dirty="0"/>
                        <a:t>디자인 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314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오류 처리</a:t>
                      </a:r>
                      <a:r>
                        <a:rPr lang="en-US" altLang="ko-KR" sz="1400" dirty="0"/>
                        <a:t>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테스트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2017-06-18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988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196652" y="395548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Plan of </a:t>
            </a:r>
            <a:r>
              <a:rPr kumimoji="0" lang="ko-KR" altLang="en-US" sz="3200" dirty="0" smtClean="0">
                <a:latin typeface="Arial Black" panose="020B0A04020102020204" pitchFamily="34" charset="0"/>
              </a:rPr>
              <a:t>이길동</a:t>
            </a:r>
            <a:endParaRPr kumimoji="0" lang="ko-KR" altLang="en-US" sz="32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572959"/>
              </p:ext>
            </p:extLst>
          </p:nvPr>
        </p:nvGraphicFramePr>
        <p:xfrm>
          <a:off x="463352" y="1293724"/>
          <a:ext cx="8382000" cy="4655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 데이터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얼굴영역 검출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얼굴영역 정렬 및 얼굴 마스크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Opencv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기반 얼굴 인식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ARToolkit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baseline="0" dirty="0"/>
                        <a:t>환경</a:t>
                      </a:r>
                      <a:r>
                        <a:rPr lang="ko-KR" altLang="en-US" sz="1400" dirty="0"/>
                        <a:t>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Unity </a:t>
                      </a:r>
                      <a:r>
                        <a:rPr lang="ko-KR" altLang="en-US" sz="1400" dirty="0"/>
                        <a:t>환경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강의실 좌석 영역 검출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2017-04-08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2017-04-21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73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시스템 적용 및 테스트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2017-05-01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895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오류 처리</a:t>
                      </a:r>
                      <a:r>
                        <a:rPr lang="en-US" altLang="ko-KR" sz="1400" dirty="0"/>
                        <a:t>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테스트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2017-06-01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2017-06-18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826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>
          <a:xfrm>
            <a:off x="205061" y="438047"/>
            <a:ext cx="8915400" cy="609600"/>
          </a:xfrm>
          <a:prstGeom prst="rect">
            <a:avLst/>
          </a:prstGeom>
        </p:spPr>
        <p:txBody>
          <a:bodyPr wrap="square">
            <a:noAutofit/>
          </a:bodyPr>
          <a:lstStyle>
            <a:lvl1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3200" dirty="0">
                <a:latin typeface="Arial Black" panose="020B0A04020102020204" pitchFamily="34" charset="0"/>
              </a:rPr>
              <a:t>Plan of </a:t>
            </a:r>
            <a:r>
              <a:rPr kumimoji="0" lang="ko-KR" altLang="en-US" sz="3200" dirty="0" smtClean="0">
                <a:latin typeface="Arial Black" panose="020B0A04020102020204" pitchFamily="34" charset="0"/>
              </a:rPr>
              <a:t>박길동</a:t>
            </a:r>
            <a:endParaRPr kumimoji="0" lang="ko-KR" altLang="en-US" sz="32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96831"/>
              </p:ext>
            </p:extLst>
          </p:nvPr>
        </p:nvGraphicFramePr>
        <p:xfrm>
          <a:off x="467544" y="1261390"/>
          <a:ext cx="8382000" cy="4831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81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1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 인식을 위한 자료조사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1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dirty="0"/>
                        <a:t>개발환경 구축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얼굴데이터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23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UI </a:t>
                      </a:r>
                      <a:r>
                        <a:rPr lang="ko-KR" altLang="en-US" sz="1400" baseline="0" dirty="0"/>
                        <a:t>설계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12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로그인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회원가입 기능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2017-03-28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2017-03-31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1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 개인정보 출력기능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81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 인식 시스템 테스트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2017-04-09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812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사진 촬영 데이터를 서버로 전송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955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전체적인 </a:t>
                      </a:r>
                      <a:r>
                        <a:rPr lang="en-US" altLang="ko-KR" sz="1400" dirty="0"/>
                        <a:t>App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dirty="0"/>
                        <a:t>디자인 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2017-04-12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955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오류 처리</a:t>
                      </a:r>
                      <a:r>
                        <a:rPr lang="en-US" altLang="ko-KR" sz="1400" dirty="0"/>
                        <a:t>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테스트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2017-05-31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2017-06-18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658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0" y="0"/>
            <a:ext cx="4829175" cy="6858000"/>
          </a:xfrm>
          <a:custGeom>
            <a:avLst/>
            <a:gdLst>
              <a:gd name="connsiteX0" fmla="*/ 0 w 4829175"/>
              <a:gd name="connsiteY0" fmla="*/ 0 h 6858000"/>
              <a:gd name="connsiteX1" fmla="*/ 591579 w 4829175"/>
              <a:gd name="connsiteY1" fmla="*/ 0 h 6858000"/>
              <a:gd name="connsiteX2" fmla="*/ 1852835 w 4829175"/>
              <a:gd name="connsiteY2" fmla="*/ 0 h 6858000"/>
              <a:gd name="connsiteX3" fmla="*/ 4829175 w 4829175"/>
              <a:gd name="connsiteY3" fmla="*/ 0 h 6858000"/>
              <a:gd name="connsiteX4" fmla="*/ 3323567 w 4829175"/>
              <a:gd name="connsiteY4" fmla="*/ 2800350 h 6858000"/>
              <a:gd name="connsiteX5" fmla="*/ 3679268 w 4829175"/>
              <a:gd name="connsiteY5" fmla="*/ 2800350 h 6858000"/>
              <a:gd name="connsiteX6" fmla="*/ 1497673 w 4829175"/>
              <a:gd name="connsiteY6" fmla="*/ 6857999 h 6858000"/>
              <a:gd name="connsiteX7" fmla="*/ 1141972 w 4829175"/>
              <a:gd name="connsiteY7" fmla="*/ 6857999 h 6858000"/>
              <a:gd name="connsiteX8" fmla="*/ 1141971 w 4829175"/>
              <a:gd name="connsiteY8" fmla="*/ 6858000 h 6858000"/>
              <a:gd name="connsiteX9" fmla="*/ 0 w 48291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29175" h="6858000">
                <a:moveTo>
                  <a:pt x="0" y="0"/>
                </a:moveTo>
                <a:lnTo>
                  <a:pt x="591579" y="0"/>
                </a:lnTo>
                <a:lnTo>
                  <a:pt x="1852835" y="0"/>
                </a:lnTo>
                <a:lnTo>
                  <a:pt x="4829175" y="0"/>
                </a:lnTo>
                <a:lnTo>
                  <a:pt x="3323567" y="2800350"/>
                </a:lnTo>
                <a:lnTo>
                  <a:pt x="3679268" y="2800350"/>
                </a:lnTo>
                <a:lnTo>
                  <a:pt x="1497673" y="6857999"/>
                </a:lnTo>
                <a:lnTo>
                  <a:pt x="1141972" y="6857999"/>
                </a:lnTo>
                <a:lnTo>
                  <a:pt x="1141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3528" y="1859339"/>
            <a:ext cx="289173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0" spc="-300" dirty="0">
                <a:ln>
                  <a:prstDash val="solid"/>
                </a:ln>
                <a:latin typeface="타이포_쌍문동 B" panose="02020803020101020101" pitchFamily="18" charset="-127"/>
                <a:ea typeface="타이포_쌍문동 B" panose="02020803020101020101" pitchFamily="18" charset="-127"/>
                <a:cs typeface="Arial" panose="020B0604020202020204" pitchFamily="34" charset="0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0000" y="2926800"/>
            <a:ext cx="49039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요청  사항</a:t>
            </a:r>
          </a:p>
        </p:txBody>
      </p:sp>
    </p:spTree>
    <p:extLst>
      <p:ext uri="{BB962C8B-B14F-4D97-AF65-F5344CB8AC3E}">
        <p14:creationId xmlns:p14="http://schemas.microsoft.com/office/powerpoint/2010/main" val="2730956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051"/>
            <a:ext cx="9144000" cy="898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71896" y="355417"/>
            <a:ext cx="3064000" cy="409287"/>
          </a:xfrm>
        </p:spPr>
        <p:txBody>
          <a:bodyPr/>
          <a:lstStyle/>
          <a:p>
            <a:pPr>
              <a:defRPr/>
            </a:pPr>
            <a:r>
              <a:rPr lang="ko-KR" altLang="en-US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견적서</a:t>
            </a:r>
            <a:r>
              <a:rPr lang="en-US" altLang="ko-KR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(</a:t>
            </a:r>
            <a:r>
              <a:rPr lang="ko-KR" altLang="en-US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비용</a:t>
            </a:r>
            <a:r>
              <a:rPr lang="en-US" altLang="ko-KR" sz="3600" dirty="0">
                <a:solidFill>
                  <a:schemeClr val="bg1"/>
                </a:solidFill>
                <a:latin typeface="210 썬플라워 B" panose="02020603020101020101" pitchFamily="18" charset="-127"/>
                <a:ea typeface="210 썬플라워 B" panose="02020603020101020101" pitchFamily="18" charset="-127"/>
              </a:rPr>
              <a:t>)</a:t>
            </a:r>
            <a:endParaRPr lang="ko-KR" altLang="ko-KR" sz="3600" dirty="0">
              <a:solidFill>
                <a:schemeClr val="bg1"/>
              </a:solidFill>
              <a:latin typeface="210 썬플라워 B" panose="02020603020101020101" pitchFamily="18" charset="-127"/>
              <a:ea typeface="210 썬플라워 B" panose="02020603020101020101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85564"/>
              </p:ext>
            </p:extLst>
          </p:nvPr>
        </p:nvGraphicFramePr>
        <p:xfrm>
          <a:off x="491602" y="1412777"/>
          <a:ext cx="8160796" cy="3888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19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="" xmlns:a16="http://schemas.microsoft.com/office/drawing/2014/main" val="1803678739"/>
                    </a:ext>
                  </a:extLst>
                </a:gridCol>
                <a:gridCol w="1688528">
                  <a:extLst>
                    <a:ext uri="{9D8B030D-6E8A-4147-A177-3AD203B41FA5}">
                      <a16:colId xmlns="" xmlns:a16="http://schemas.microsoft.com/office/drawing/2014/main" val="3356264032"/>
                    </a:ext>
                  </a:extLst>
                </a:gridCol>
              </a:tblGrid>
              <a:tr h="638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타이포_쌍문동 B" panose="02020803020101020101" pitchFamily="18" charset="-127"/>
                          <a:ea typeface="타이포_쌍문동 B" panose="02020803020101020101" pitchFamily="18" charset="-127"/>
                          <a:cs typeface="Arial" panose="020B0604020202020204" pitchFamily="34" charset="0"/>
                        </a:rPr>
                        <a:t>제목</a:t>
                      </a:r>
                    </a:p>
                  </a:txBody>
                  <a:tcPr marL="91432" marR="91432" marT="45713" marB="4571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타이포_쌍문동 B" panose="02020803020101020101" pitchFamily="18" charset="-127"/>
                          <a:ea typeface="타이포_쌍문동 B" panose="02020803020101020101" pitchFamily="18" charset="-127"/>
                          <a:cs typeface="Arial" panose="020B0604020202020204" pitchFamily="34" charset="0"/>
                        </a:rPr>
                        <a:t>가격</a:t>
                      </a: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타이포_쌍문동 B" panose="02020803020101020101" pitchFamily="18" charset="-127"/>
                          <a:ea typeface="타이포_쌍문동 B" panose="02020803020101020101" pitchFamily="18" charset="-127"/>
                          <a:cs typeface="Arial" panose="020B0604020202020204" pitchFamily="34" charset="0"/>
                        </a:rPr>
                        <a:t>출판일자</a:t>
                      </a: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타이포_쌍문동 B" panose="02020803020101020101" pitchFamily="18" charset="-127"/>
                          <a:ea typeface="타이포_쌍문동 B" panose="02020803020101020101" pitchFamily="18" charset="-127"/>
                          <a:cs typeface="Arial" panose="020B0604020202020204" pitchFamily="34" charset="0"/>
                        </a:rPr>
                        <a:t>출판사</a:t>
                      </a:r>
                    </a:p>
                  </a:txBody>
                  <a:tcPr marL="91432" marR="91432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00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Do it! </a:t>
                      </a:r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쉽게 배우는 </a:t>
                      </a:r>
                      <a:r>
                        <a:rPr lang="ko-KR" altLang="en-US" sz="1600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웹앱</a:t>
                      </a:r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&amp; </a:t>
                      </a:r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하이브리드</a:t>
                      </a:r>
                    </a:p>
                  </a:txBody>
                  <a:tcPr marL="91432" marR="91432" marT="45713" marB="4571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28,800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2015.12.31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이지스퍼블리싱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00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이것이 </a:t>
                      </a:r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MySQL</a:t>
                      </a:r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이다</a:t>
                      </a:r>
                    </a:p>
                  </a:txBody>
                  <a:tcPr marL="91432" marR="91432" marT="45713" marB="4571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27,000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2016.06.10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한빛미디어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00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최범균의</a:t>
                      </a:r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JSP 2.3 </a:t>
                      </a:r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웹 프로그래밍</a:t>
                      </a:r>
                      <a:endParaRPr lang="en-US" altLang="ko-KR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기초부터 중급까지</a:t>
                      </a:r>
                    </a:p>
                  </a:txBody>
                  <a:tcPr marL="91432" marR="91432" marT="45713" marB="4571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24,300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2015.11.16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가메</a:t>
                      </a:r>
                      <a:endParaRPr lang="ko-KR" altLang="en-US" sz="1600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500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u="none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C++ API OpenCV </a:t>
                      </a:r>
                      <a:r>
                        <a:rPr lang="ko-KR" altLang="en-US" sz="1600" u="none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프로그래밍</a:t>
                      </a:r>
                      <a:endParaRPr lang="en-US" altLang="ko-KR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u="none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27,000</a:t>
                      </a:r>
                      <a:endParaRPr lang="ko-KR" altLang="en-US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u="none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2015.05.11</a:t>
                      </a:r>
                      <a:endParaRPr lang="ko-KR" altLang="en-US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u="none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가메</a:t>
                      </a:r>
                      <a:endParaRPr lang="ko-KR" altLang="en-US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500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u="none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ARToolKit</a:t>
                      </a:r>
                      <a:r>
                        <a:rPr lang="en-US" altLang="ko-KR" sz="1600" u="none" baseline="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600" u="none" baseline="0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증강현실 프로그래밍 입문</a:t>
                      </a:r>
                      <a:endParaRPr lang="ko-KR" altLang="en-US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u="none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25,000</a:t>
                      </a:r>
                      <a:endParaRPr lang="ko-KR" altLang="en-US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u="none" dirty="0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2012.11.12</a:t>
                      </a:r>
                      <a:endParaRPr lang="ko-KR" altLang="en-US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u="none" dirty="0" err="1">
                          <a:latin typeface="제주고딕" panose="02000300000000000000" pitchFamily="2" charset="-127"/>
                          <a:ea typeface="제주고딕" panose="02000300000000000000" pitchFamily="2" charset="-127"/>
                          <a:cs typeface="Arial" panose="020B0604020202020204" pitchFamily="34" charset="0"/>
                        </a:rPr>
                        <a:t>한티미디어</a:t>
                      </a:r>
                      <a:endParaRPr lang="ko-KR" altLang="en-US" sz="1600" u="none" dirty="0">
                        <a:latin typeface="제주고딕" panose="02000300000000000000" pitchFamily="2" charset="-127"/>
                        <a:ea typeface="제주고딕" panose="02000300000000000000" pitchFamily="2" charset="-127"/>
                        <a:cs typeface="Arial" panose="020B0604020202020204" pitchFamily="34" charset="0"/>
                      </a:endParaRPr>
                    </a:p>
                  </a:txBody>
                  <a:tcPr marL="91432" marR="91432" marT="45713" marB="4571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0745137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4208" y="5619078"/>
            <a:ext cx="283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총 </a:t>
            </a:r>
            <a:r>
              <a:rPr lang="en-US" altLang="ko-KR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132100</a:t>
            </a:r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원</a:t>
            </a:r>
            <a:endParaRPr lang="en-US" altLang="ko-KR" sz="2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0052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827584" y="1196752"/>
            <a:ext cx="277764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80000"/>
              </a:lnSpc>
            </a:pPr>
            <a:r>
              <a:rPr kumimoji="0" lang="en-US" altLang="ko-KR" sz="6000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THANK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916620" y="1857152"/>
            <a:ext cx="2688605" cy="1101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80000"/>
              </a:lnSpc>
            </a:pPr>
            <a:r>
              <a:rPr kumimoji="0" lang="en-US" altLang="ko-KR" sz="8000" dirty="0">
                <a:solidFill>
                  <a:schemeClr val="bg1"/>
                </a:solidFill>
                <a:latin typeface="Arial Black" panose="020B0A040201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5">
      <a:majorFont>
        <a:latin typeface="맑은 고딕"/>
        <a:ea typeface="나눔바른고딕"/>
        <a:cs typeface=""/>
      </a:majorFont>
      <a:minorFont>
        <a:latin typeface="맑은 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사용자 지정 23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00000"/>
      </a:accent1>
      <a:accent2>
        <a:srgbClr val="808080"/>
      </a:accent2>
      <a:accent3>
        <a:srgbClr val="B2B2B2"/>
      </a:accent3>
      <a:accent4>
        <a:srgbClr val="DDDDDD"/>
      </a:accent4>
      <a:accent5>
        <a:srgbClr val="FFFFFF"/>
      </a:accent5>
      <a:accent6>
        <a:srgbClr val="DDDDDD"/>
      </a:accent6>
      <a:hlink>
        <a:srgbClr val="5F5F5F"/>
      </a:hlink>
      <a:folHlink>
        <a:srgbClr val="91919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5857</TotalTime>
  <Words>1717</Words>
  <Application>Microsoft Office PowerPoint</Application>
  <PresentationFormat>화면 슬라이드 쇼(4:3)</PresentationFormat>
  <Paragraphs>698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35</vt:i4>
      </vt:variant>
    </vt:vector>
  </HeadingPairs>
  <TitlesOfParts>
    <vt:vector size="51" baseType="lpstr">
      <vt:lpstr>제주고딕</vt:lpstr>
      <vt:lpstr>타이포_쌍문동 B</vt:lpstr>
      <vt:lpstr>Arial</vt:lpstr>
      <vt:lpstr>한컴 윤고딕 250</vt:lpstr>
      <vt:lpstr>210 썬플라워 L</vt:lpstr>
      <vt:lpstr>Lucida Sans Unicode</vt:lpstr>
      <vt:lpstr>Stencil BT</vt:lpstr>
      <vt:lpstr>나눔바른고딕</vt:lpstr>
      <vt:lpstr>Wingdings</vt:lpstr>
      <vt:lpstr>굴림</vt:lpstr>
      <vt:lpstr>서울남산체 M</vt:lpstr>
      <vt:lpstr>210 썬플라워 B</vt:lpstr>
      <vt:lpstr>맑은 고딕</vt:lpstr>
      <vt:lpstr>Arial Black</vt:lpstr>
      <vt:lpstr>5_Office 테마</vt:lpstr>
      <vt:lpstr>디자인 사용자 지정</vt:lpstr>
      <vt:lpstr>PowerPoint 프레젠테이션</vt:lpstr>
      <vt:lpstr>PowerPoint 프레젠테이션</vt:lpstr>
      <vt:lpstr>PowerPoint 프레젠테이션</vt:lpstr>
      <vt:lpstr>동기</vt:lpstr>
      <vt:lpstr>PowerPoint 프레젠테이션</vt:lpstr>
      <vt:lpstr>목적</vt:lpstr>
      <vt:lpstr>PowerPoint 프레젠테이션</vt:lpstr>
      <vt:lpstr>시스템개요도</vt:lpstr>
      <vt:lpstr>PowerPoint 프레젠테이션</vt:lpstr>
      <vt:lpstr>PowerPoint 프레젠테이션</vt:lpstr>
      <vt:lpstr>PowerPoint 프레젠테이션</vt:lpstr>
      <vt:lpstr>PowerPoint 프레젠테이션</vt:lpstr>
      <vt:lpstr>개발환경</vt:lpstr>
      <vt:lpstr>내용구성</vt:lpstr>
      <vt:lpstr>System Organization</vt:lpstr>
      <vt:lpstr>내용구성</vt:lpstr>
      <vt:lpstr>PowerPoint 프레젠테이션</vt:lpstr>
      <vt:lpstr>오류처리방안</vt:lpstr>
      <vt:lpstr>PowerPoint 프레젠테이션</vt:lpstr>
      <vt:lpstr>프로젝트의 차별성</vt:lpstr>
      <vt:lpstr>PowerPoint 프레젠테이션</vt:lpstr>
      <vt:lpstr>활용가능성</vt:lpstr>
      <vt:lpstr>PowerPoint 프레젠테이션</vt:lpstr>
      <vt:lpstr>개발일정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견적서(비용)</vt:lpstr>
      <vt:lpstr>PowerPoint 프레젠테이션</vt:lpstr>
    </vt:vector>
  </TitlesOfParts>
  <Company>디브리드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디브리드</dc:title>
  <dc:subject>교육</dc:subject>
  <dc:creator>디브리드 www.dbreed.co.kr</dc:creator>
  <dc:description>Copyright (c) D'breed All rights reserved
본 Template은 개인용도에 한해 배포한 것입니다. 상업적인 용도로 사용 할 수 없습니다.</dc:description>
  <cp:lastModifiedBy>Windows 사용자</cp:lastModifiedBy>
  <cp:revision>455</cp:revision>
  <dcterms:created xsi:type="dcterms:W3CDTF">2011-06-13T04:09:39Z</dcterms:created>
  <dcterms:modified xsi:type="dcterms:W3CDTF">2020-03-21T07:47:54Z</dcterms:modified>
</cp:coreProperties>
</file>