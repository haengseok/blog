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2" r:id="rId4"/>
    <p:sldId id="272" r:id="rId5"/>
    <p:sldId id="263" r:id="rId6"/>
    <p:sldId id="264" r:id="rId7"/>
    <p:sldId id="276" r:id="rId8"/>
    <p:sldId id="265" r:id="rId9"/>
    <p:sldId id="268" r:id="rId10"/>
    <p:sldId id="269" r:id="rId11"/>
    <p:sldId id="266" r:id="rId12"/>
    <p:sldId id="277" r:id="rId13"/>
    <p:sldId id="274" r:id="rId14"/>
    <p:sldId id="278" r:id="rId15"/>
    <p:sldId id="279" r:id="rId16"/>
    <p:sldId id="280" r:id="rId17"/>
    <p:sldId id="282" r:id="rId18"/>
    <p:sldId id="28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C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5386" autoAdjust="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11C66-1182-4EAD-B3D1-1A2528331C8B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A452D-1E22-45EF-9E1E-171E412A6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7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스마트폰과</a:t>
            </a:r>
            <a:r>
              <a:rPr lang="ko-KR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태블릿이</a:t>
            </a:r>
            <a:r>
              <a:rPr lang="ko-KR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등장한 이후로 이를 이용한 스마트러닝 사업이 급증하고 있다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많은 교육 프로그램들 중에서도 단연 가장 관심이 높은 분야는 영어 교육이다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이러한 상황 때문에 사교육이 증가하면서 아이들의 자기주도적 </a:t>
            </a:r>
            <a:r>
              <a:rPr lang="ko-KR" altLang="en-US" sz="12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합습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능력이 떨어졌다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우리는 이러한 기존의 문제점을 개선하고자 한다</a:t>
            </a:r>
            <a:r>
              <a:rPr lang="en-US" altLang="ko-KR" sz="12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607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전체 목적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우리는 광학 문자 인식과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이용하여 학부모와 어린이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성인까지도 영어 책이나 문서의 이미지 만으로 영어 듣기가 실생활에서 가능해질 수 있도록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접근성이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높고 사용하기 쉬운 교육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모바일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어플리케이션을 제공하고자 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baseline="0" dirty="0"/>
              <a:t>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95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 기능적 목적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아이들을 대상으로 하기 때문에 사용하기 쉬운 </a:t>
            </a:r>
            <a:r>
              <a:rPr lang="en-US" altLang="ko-KR" dirty="0"/>
              <a:t>UI,UX</a:t>
            </a:r>
            <a:r>
              <a:rPr lang="ko-KR" altLang="en-US" dirty="0"/>
              <a:t>를 구성한다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1. </a:t>
            </a:r>
            <a:r>
              <a:rPr lang="ko-KR" altLang="en-US" dirty="0"/>
              <a:t>버튼이나 텍스트 창과 같은 레이아웃을 전체적으로 크게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2. </a:t>
            </a:r>
            <a:r>
              <a:rPr lang="ko-KR" altLang="en-US" dirty="0"/>
              <a:t>한번의 클릭으로 사용할 수 있도록 한다</a:t>
            </a:r>
            <a:r>
              <a:rPr lang="en-US" altLang="ko-KR" dirty="0"/>
              <a:t>.(</a:t>
            </a:r>
            <a:r>
              <a:rPr lang="ko-KR" altLang="en-US" dirty="0"/>
              <a:t>간단한 </a:t>
            </a:r>
            <a:r>
              <a:rPr lang="en-US" altLang="ko-KR" dirty="0"/>
              <a:t>UX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-OCR</a:t>
            </a:r>
            <a:r>
              <a:rPr lang="ko-KR" altLang="en-US" dirty="0"/>
              <a:t>의 인식률을 높인다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1.</a:t>
            </a:r>
            <a:r>
              <a:rPr lang="en-US" altLang="ko-KR" baseline="0" dirty="0"/>
              <a:t> </a:t>
            </a:r>
            <a:r>
              <a:rPr lang="ko-KR" altLang="en-US" baseline="0" dirty="0"/>
              <a:t>일반적으로 동화책에 쓰이는 서체를 분석한다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 2. </a:t>
            </a:r>
            <a:r>
              <a:rPr lang="ko-KR" altLang="en-US" baseline="0" dirty="0"/>
              <a:t>분석한 서체를 기반으로 학습데이터를 만든다</a:t>
            </a:r>
            <a:r>
              <a:rPr lang="en-US" altLang="ko-KR" baseline="0" dirty="0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282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 : Android, Java, JavaScript, Node.JS,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 : TESSERACT(OCR Engine)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 : Android Studio, Eclipse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425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 : Android, Java, JavaScript, Node.JS,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 : TESSERACT(OCR Engine)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 : Android Studio, Eclipse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641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532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56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영어가 필수가 된 현대 사회에서 남녀노소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 등 성별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나이 등에 관계없이 누구나 다 쉽고 간편하게 이용이 가능하다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어린 자녀를 키우고 있는 학부모들은 자녀에게 쉽게 영어듣기 혹은 발음교정을 해줄 수 있으며 영어 공부가 필요한 학생들은 언제 어디서든 궁금한 문장을 듣거나 정확하게 읽을 수 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이렇듯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활용성이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쉽고 높아서 본 어플리케이션은 인지도적인 측면에서도 쉽게 증가할 수 있을 것이다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959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영어가 필수가 된 현대 사회에서 남녀노소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 등 성별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나이 등에 관계없이 누구나 다 쉽고 간편하게 이용이 가능하다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어린 자녀를 키우고 있는 학부모들은 자녀에게 쉽게 영어듣기 혹은 발음교정을 해줄 수 있으며 영어 공부가 필요한 학생들은 언제 어디서든 궁금한 문장을 듣거나 정확하게 읽을 수 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이렇듯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활용성이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쉽고 높아서 본 어플리케이션은 인지도적인 측면에서도 쉽게 증가할 수 있을 것이다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452D-1E22-45EF-9E1E-171E412A6DC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510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67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6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57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54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2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78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6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07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16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05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4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2602-DF05-4530-BFBF-EAF249EC2833}" type="datetimeFigureOut">
              <a:rPr lang="ko-KR" altLang="en-US" smtClean="0"/>
              <a:t>2021-09-09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4EDD7-D08E-48E6-BF2D-6D7F659E8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5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9933" y="945505"/>
            <a:ext cx="5917743" cy="769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과제 제안서 </a:t>
            </a:r>
          </a:p>
        </p:txBody>
      </p:sp>
      <p:sp>
        <p:nvSpPr>
          <p:cNvPr id="10" name="직사각형 4"/>
          <p:cNvSpPr/>
          <p:nvPr/>
        </p:nvSpPr>
        <p:spPr>
          <a:xfrm>
            <a:off x="0" y="5167878"/>
            <a:ext cx="1997612" cy="1690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48" y="5280381"/>
            <a:ext cx="1465116" cy="14651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9934" y="2067339"/>
            <a:ext cx="5917743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주제 </a:t>
            </a:r>
            <a:r>
              <a:rPr lang="en-US" altLang="ko-KR" sz="3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English education </a:t>
            </a:r>
            <a:r>
              <a:rPr lang="ko-KR" altLang="en-US" sz="3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</a:t>
            </a:r>
            <a:r>
              <a:rPr lang="en-US" altLang="ko-KR" sz="3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(Android application)</a:t>
            </a:r>
            <a:endParaRPr lang="ko-KR" altLang="en-US" sz="3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54030" y="5985110"/>
            <a:ext cx="1873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2030. 03. 00</a:t>
            </a:r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911716"/>
              </p:ext>
            </p:extLst>
          </p:nvPr>
        </p:nvGraphicFramePr>
        <p:xfrm>
          <a:off x="6991814" y="3791622"/>
          <a:ext cx="43465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지도교수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김길동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박길동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포인트가 7개인 별 6"/>
          <p:cNvSpPr/>
          <p:nvPr/>
        </p:nvSpPr>
        <p:spPr>
          <a:xfrm>
            <a:off x="7543800" y="751819"/>
            <a:ext cx="2763981" cy="2278647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b="1" dirty="0">
                <a:solidFill>
                  <a:srgbClr val="FF0000"/>
                </a:solidFill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2705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6717" y="591809"/>
            <a:ext cx="8432608" cy="6001643"/>
          </a:xfrm>
          <a:prstGeom prst="rect">
            <a:avLst/>
          </a:prstGeom>
          <a:solidFill>
            <a:srgbClr val="3B7CFF"/>
          </a:solidFill>
        </p:spPr>
        <p:txBody>
          <a:bodyPr wrap="square" rtlCol="0" anchor="ctr">
            <a:spAutoFit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동기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목적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 구성도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FontTx/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내용 구성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FontTx/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환경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FontTx/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활용가능성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FontTx/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프로젝트의 차별성</a:t>
            </a:r>
            <a:r>
              <a:rPr lang="en-US" altLang="ko-KR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오류처리 방안 포함</a:t>
            </a:r>
            <a:endParaRPr lang="en-US" altLang="ko-KR" sz="32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 일정</a:t>
            </a:r>
            <a:r>
              <a:rPr lang="en-US" altLang="ko-KR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팀원 역할 포함</a:t>
            </a:r>
            <a:r>
              <a:rPr lang="en-US" altLang="ko-KR" sz="32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73136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동기</a:t>
            </a:r>
          </a:p>
        </p:txBody>
      </p:sp>
      <p:sp>
        <p:nvSpPr>
          <p:cNvPr id="21" name="직사각형 24"/>
          <p:cNvSpPr/>
          <p:nvPr/>
        </p:nvSpPr>
        <p:spPr>
          <a:xfrm>
            <a:off x="2703956" y="430678"/>
            <a:ext cx="613524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어린이 영어학습의 기존 프로세스</a:t>
            </a:r>
          </a:p>
        </p:txBody>
      </p:sp>
      <p:sp>
        <p:nvSpPr>
          <p:cNvPr id="32" name="타원 1"/>
          <p:cNvSpPr/>
          <p:nvPr/>
        </p:nvSpPr>
        <p:spPr>
          <a:xfrm>
            <a:off x="3422893" y="1352889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타원 33"/>
          <p:cNvSpPr/>
          <p:nvPr/>
        </p:nvSpPr>
        <p:spPr>
          <a:xfrm>
            <a:off x="3422892" y="3220772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타원 34"/>
          <p:cNvSpPr/>
          <p:nvPr/>
        </p:nvSpPr>
        <p:spPr>
          <a:xfrm>
            <a:off x="3422892" y="5088656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직사각형 32"/>
          <p:cNvSpPr/>
          <p:nvPr/>
        </p:nvSpPr>
        <p:spPr>
          <a:xfrm>
            <a:off x="5680483" y="1791286"/>
            <a:ext cx="65821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어린이는 영어 책이나 문서를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읽다가 </a:t>
            </a:r>
            <a:endParaRPr lang="en-US" altLang="ko-KR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모르는 단어나 문장을 발견한다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직사각형 32"/>
          <p:cNvSpPr/>
          <p:nvPr/>
        </p:nvSpPr>
        <p:spPr>
          <a:xfrm>
            <a:off x="5680483" y="3797669"/>
            <a:ext cx="37632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담당 영어 교사에게 질문을 한다</a:t>
            </a:r>
          </a:p>
        </p:txBody>
      </p:sp>
      <p:sp>
        <p:nvSpPr>
          <p:cNvPr id="40" name="직사각형 32"/>
          <p:cNvSpPr/>
          <p:nvPr/>
        </p:nvSpPr>
        <p:spPr>
          <a:xfrm>
            <a:off x="5680483" y="5665553"/>
            <a:ext cx="5994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새롭게 알게 된 단어나 문장에 대해 다시 학습한다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4" name="Straight Arrow Connector 3"/>
          <p:cNvCxnSpPr>
            <a:stCxn id="32" idx="4"/>
            <a:endCxn id="33" idx="0"/>
          </p:cNvCxnSpPr>
          <p:nvPr/>
        </p:nvCxnSpPr>
        <p:spPr>
          <a:xfrm flipH="1">
            <a:off x="4184456" y="2876016"/>
            <a:ext cx="1" cy="34475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4184455" y="4754458"/>
            <a:ext cx="2" cy="30031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136" y="1660011"/>
            <a:ext cx="976638" cy="976638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818" y="3565528"/>
            <a:ext cx="805274" cy="805274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136" y="5399534"/>
            <a:ext cx="929270" cy="92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0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3429" y="4100722"/>
            <a:ext cx="83681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스마트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폰과</a:t>
            </a: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ko-KR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태블릿이</a:t>
            </a: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등장한 이후로 이를 이용한 스마트러닝 사업이 급증하고 있다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많은 교육 프로그램들 중에서도 단연 가장 관심이 높은 분야는 영어 교육이다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이러한 상황 때문에 사교육이 증가하면서 아이들의 자기주도적 학습 능력이 떨어지고 있다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defRPr/>
            </a:pP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defRPr/>
            </a:pP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우리는 이러한 기존의 문제점을 개선하고자 한다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동기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893429" y="722220"/>
            <a:ext cx="4683028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자기주도 영어학습</a:t>
            </a:r>
          </a:p>
        </p:txBody>
      </p:sp>
      <p:sp>
        <p:nvSpPr>
          <p:cNvPr id="8" name="타원 1"/>
          <p:cNvSpPr/>
          <p:nvPr/>
        </p:nvSpPr>
        <p:spPr>
          <a:xfrm>
            <a:off x="3157168" y="2065579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411" y="2372701"/>
            <a:ext cx="976638" cy="97663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999797" y="2858335"/>
            <a:ext cx="765736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057" y="2217543"/>
            <a:ext cx="1219200" cy="12192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7818395" y="2836767"/>
            <a:ext cx="765736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869114" y="2599410"/>
            <a:ext cx="25175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영어 학습</a:t>
            </a:r>
          </a:p>
        </p:txBody>
      </p:sp>
    </p:spTree>
    <p:extLst>
      <p:ext uri="{BB962C8B-B14F-4D97-AF65-F5344CB8AC3E}">
        <p14:creationId xmlns:p14="http://schemas.microsoft.com/office/powerpoint/2010/main" val="107517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목적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93429" y="4705763"/>
            <a:ext cx="780929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광학 문자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인식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(OCR)</a:t>
            </a:r>
            <a:r>
              <a:rPr lang="ko-KR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TTS</a:t>
            </a:r>
            <a:r>
              <a:rPr lang="ko-KR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이용하여 학부모와 어린이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성인까지도 영어 책이나 문서의 이미지 만으로 영어 듣기가 실생활에서 가능해질 수 있도록 </a:t>
            </a:r>
            <a:r>
              <a:rPr lang="ko-KR" altLang="ko-KR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접근성이</a:t>
            </a:r>
            <a:r>
              <a:rPr lang="ko-KR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높고 사용하기 쉬운 교육 </a:t>
            </a:r>
            <a:r>
              <a:rPr lang="ko-KR" altLang="ko-KR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모바일</a:t>
            </a:r>
            <a:r>
              <a:rPr lang="ko-KR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어플리케이션을 제공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하는 것을 목표로 한다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24"/>
          <p:cNvSpPr/>
          <p:nvPr/>
        </p:nvSpPr>
        <p:spPr>
          <a:xfrm>
            <a:off x="2893429" y="722220"/>
            <a:ext cx="252559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방향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429" y="2146874"/>
            <a:ext cx="1984896" cy="1905872"/>
          </a:xfrm>
          <a:prstGeom prst="rect">
            <a:avLst/>
          </a:prstGeom>
        </p:spPr>
      </p:pic>
      <p:sp>
        <p:nvSpPr>
          <p:cNvPr id="14" name="Plus 13"/>
          <p:cNvSpPr/>
          <p:nvPr/>
        </p:nvSpPr>
        <p:spPr>
          <a:xfrm>
            <a:off x="5165087" y="2925478"/>
            <a:ext cx="462482" cy="462482"/>
          </a:xfrm>
          <a:prstGeom prst="mathPlu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331" y="2343601"/>
            <a:ext cx="1510187" cy="151018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70" y="2292632"/>
            <a:ext cx="1561156" cy="1561156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7810374" y="3156719"/>
            <a:ext cx="765736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8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085" y="568332"/>
            <a:ext cx="1284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목적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44047" y="4029005"/>
            <a:ext cx="693727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OCR</a:t>
            </a:r>
            <a:r>
              <a:rPr lang="ko-KR" altLang="en-US" sz="20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인식률을 높인다</a:t>
            </a:r>
            <a:endParaRPr lang="en-US" altLang="ko-KR" sz="20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일반적으로 동화책에 쓰이는 서체를 분석한다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분석한 서체를 기반으로 학습데이터를 만든다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어린이 영어 동화책에 최적화하여 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OCR 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엔진에 서체를 학습시킨다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44047" y="1681120"/>
            <a:ext cx="6937274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아이들을 대상으로 하기 때문에 사용하기 쉬운 </a:t>
            </a:r>
            <a:r>
              <a:rPr lang="en-US" altLang="ko-KR" sz="20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UI, UX</a:t>
            </a:r>
            <a:r>
              <a:rPr lang="ko-KR" altLang="en-US" sz="20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구현한다</a:t>
            </a:r>
            <a:endParaRPr lang="en-US" altLang="ko-KR" sz="20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버튼이나 텍스트 창과 같은 레이아웃을 전체적으로 크게 한다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UX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고려하여 한 번의 클릭으로 사용할 수 있도록 한다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24"/>
          <p:cNvSpPr/>
          <p:nvPr/>
        </p:nvSpPr>
        <p:spPr>
          <a:xfrm>
            <a:off x="2816426" y="722220"/>
            <a:ext cx="2939840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280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주요기능 </a:t>
            </a: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목표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540" y="4325211"/>
            <a:ext cx="1690900" cy="1623581"/>
          </a:xfrm>
          <a:prstGeom prst="rect">
            <a:avLst/>
          </a:prstGeom>
        </p:spPr>
      </p:pic>
      <p:sp>
        <p:nvSpPr>
          <p:cNvPr id="9" name="타원 1"/>
          <p:cNvSpPr/>
          <p:nvPr/>
        </p:nvSpPr>
        <p:spPr>
          <a:xfrm>
            <a:off x="2816426" y="1905873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669" y="2212995"/>
            <a:ext cx="976638" cy="97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4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216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</a:t>
            </a:r>
          </a:p>
        </p:txBody>
      </p:sp>
      <p:sp>
        <p:nvSpPr>
          <p:cNvPr id="2" name="Rectangle 1"/>
          <p:cNvSpPr/>
          <p:nvPr/>
        </p:nvSpPr>
        <p:spPr>
          <a:xfrm>
            <a:off x="3079115" y="2303643"/>
            <a:ext cx="1392625" cy="2362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Android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Java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JavaScript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Node.js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758750" y="2303643"/>
            <a:ext cx="2725426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Tesseract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(OCR Engine)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Cluster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분산처리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NPM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 저장소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Forever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Nodejs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인스턴스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관리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9331638" y="2303643"/>
            <a:ext cx="1917833" cy="1900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Android Studio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IntelliJ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Eclipse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Vim</a:t>
            </a:r>
            <a:endParaRPr lang="ko-KR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02770" y="1225558"/>
            <a:ext cx="234531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Language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190" y="1225557"/>
            <a:ext cx="2356545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Library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94839" y="1225557"/>
            <a:ext cx="1954632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Tool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5622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216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9444" y="749308"/>
            <a:ext cx="3750405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Communication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54348" y="1633292"/>
            <a:ext cx="61039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Agile </a:t>
            </a:r>
            <a:r>
              <a:rPr lang="ko-KR" altLang="en-US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보드 </a:t>
            </a:r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Trello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커뮤니케이션 툴 </a:t>
            </a:r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Slack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9444" y="3659966"/>
            <a:ext cx="470290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Code revision control</a:t>
            </a:r>
            <a:endParaRPr lang="ko-KR" altLang="en-US" sz="2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03" y="4498943"/>
            <a:ext cx="5066824" cy="168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3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0" t="14746" r="10351" b="14939"/>
          <a:stretch/>
        </p:blipFill>
        <p:spPr>
          <a:xfrm>
            <a:off x="9968756" y="2105187"/>
            <a:ext cx="1270536" cy="230338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791" y="1821382"/>
            <a:ext cx="1725023" cy="296689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6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구성</a:t>
            </a:r>
          </a:p>
        </p:txBody>
      </p:sp>
      <p:pic>
        <p:nvPicPr>
          <p:cNvPr id="8" name="그림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9" t="14231" r="10528" b="14352"/>
          <a:stretch/>
        </p:blipFill>
        <p:spPr>
          <a:xfrm>
            <a:off x="2791326" y="2050182"/>
            <a:ext cx="1318662" cy="238706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6" t="14460" r="10526" b="14986"/>
          <a:stretch/>
        </p:blipFill>
        <p:spPr>
          <a:xfrm>
            <a:off x="6323798" y="3503596"/>
            <a:ext cx="1309036" cy="235819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469568" y="2399447"/>
            <a:ext cx="31582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이미지 선택 </a:t>
            </a:r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사진 찍기 또는</a:t>
            </a:r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갤러리</a:t>
            </a:r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496023" y="6263197"/>
            <a:ext cx="915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설정화면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156484" y="4982007"/>
            <a:ext cx="915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실행화면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969595" y="4982007"/>
            <a:ext cx="9621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메인 화면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487754" y="4131889"/>
            <a:ext cx="13276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설정버튼 클릭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857310" y="4098694"/>
            <a:ext cx="18469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목소리</a:t>
            </a:r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속도 설정 후</a:t>
            </a:r>
            <a:endParaRPr lang="ko-KR" alt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24"/>
          <p:cNvSpPr/>
          <p:nvPr/>
        </p:nvSpPr>
        <p:spPr>
          <a:xfrm>
            <a:off x="2627911" y="569726"/>
            <a:ext cx="2607613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UI  Prototype</a:t>
            </a:r>
            <a:endParaRPr lang="ko-KR" altLang="en-US" sz="28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712" y="1769829"/>
            <a:ext cx="1761870" cy="30184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22" y="3223803"/>
            <a:ext cx="1761870" cy="3018442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4950917" y="2223808"/>
            <a:ext cx="419553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550387" y="3836156"/>
            <a:ext cx="1241461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160069" y="3836156"/>
            <a:ext cx="1241461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03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6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구성</a:t>
            </a:r>
          </a:p>
        </p:txBody>
      </p:sp>
      <p:sp>
        <p:nvSpPr>
          <p:cNvPr id="8" name="직사각형 24"/>
          <p:cNvSpPr/>
          <p:nvPr/>
        </p:nvSpPr>
        <p:spPr>
          <a:xfrm>
            <a:off x="2319152" y="463016"/>
            <a:ext cx="3724088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Server architecture</a:t>
            </a:r>
            <a:endParaRPr lang="ko-KR" altLang="en-US" sz="28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33613" y="1758879"/>
            <a:ext cx="6296643" cy="4641922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896593" y="1224738"/>
            <a:ext cx="3356741" cy="48138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spc="300" dirty="0">
                <a:solidFill>
                  <a:schemeClr val="bg1"/>
                </a:solidFill>
                <a:latin typeface="Yoon 윤고딕 550_TT" panose="02090603020101020101" pitchFamily="18" charset="-127"/>
                <a:ea typeface="Yoon 윤고딕 550_TT" panose="02090603020101020101" pitchFamily="18" charset="-127"/>
              </a:rPr>
              <a:t>AWS EC2 Instance</a:t>
            </a:r>
            <a:endParaRPr lang="ko-KR" altLang="en-US" sz="1800" spc="300" dirty="0">
              <a:solidFill>
                <a:schemeClr val="bg1"/>
              </a:soli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pic>
        <p:nvPicPr>
          <p:cNvPr id="1028" name="Picture 4" descr="http://wildpup.cafe24.com/wp-content/uploads/2014/12/ec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13" y="1758879"/>
            <a:ext cx="1165208" cy="124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448706" y="3187258"/>
            <a:ext cx="2351894" cy="3070667"/>
          </a:xfrm>
          <a:prstGeom prst="rect">
            <a:avLst/>
          </a:prstGeom>
          <a:noFill/>
          <a:ln w="254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37710" y="3182866"/>
            <a:ext cx="100700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OCR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9969" y="5168381"/>
            <a:ext cx="16555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Tesseract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(C++)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0066" y="3187259"/>
            <a:ext cx="2660984" cy="3042850"/>
          </a:xfrm>
          <a:prstGeom prst="rect">
            <a:avLst/>
          </a:prstGeom>
          <a:noFill/>
          <a:ln w="254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3685430" y="1942542"/>
            <a:ext cx="4715620" cy="669713"/>
          </a:xfrm>
          <a:prstGeom prst="rect">
            <a:avLst/>
          </a:prstGeom>
          <a:noFill/>
          <a:ln w="254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9"/>
          <p:cNvSpPr/>
          <p:nvPr/>
        </p:nvSpPr>
        <p:spPr>
          <a:xfrm>
            <a:off x="2796882" y="4093392"/>
            <a:ext cx="165554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영어 서체</a:t>
            </a:r>
            <a:endParaRPr lang="en-US" altLang="ko-KR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학습 데이터</a:t>
            </a:r>
            <a:endParaRPr lang="en-US" altLang="ko-KR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030" name="Picture 6" descr="File:Node.js logo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49" y="3551436"/>
            <a:ext cx="1889400" cy="51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6043816" y="4543516"/>
            <a:ext cx="1655541" cy="4732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필요한 모듈</a:t>
            </a:r>
            <a:endParaRPr lang="en-US" altLang="ko-KR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74479" y="4660550"/>
            <a:ext cx="1655541" cy="50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필요한 모듈</a:t>
            </a:r>
            <a:endParaRPr lang="en-US" altLang="ko-KR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26879" y="4812950"/>
            <a:ext cx="1655541" cy="50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필요한 모듈</a:t>
            </a:r>
            <a:endParaRPr lang="en-US" altLang="ko-KR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79279" y="4965350"/>
            <a:ext cx="1655541" cy="50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필요한 모듈</a:t>
            </a:r>
            <a:endParaRPr lang="en-US" altLang="ko-KR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65305" y="2008641"/>
            <a:ext cx="45632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Forever (Instance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관리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Cluster (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분산처리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142784" y="2692394"/>
            <a:ext cx="0" cy="45672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897958" y="4536098"/>
            <a:ext cx="710752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4897959" y="4812950"/>
            <a:ext cx="710751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801763" y="3781877"/>
            <a:ext cx="123758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8801765" y="4058729"/>
            <a:ext cx="124711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641252" y="4143535"/>
            <a:ext cx="16555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RestFul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API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(JSON)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384" y="2516037"/>
            <a:ext cx="1725023" cy="296689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221" y="3435493"/>
            <a:ext cx="975347" cy="975347"/>
          </a:xfrm>
          <a:prstGeom prst="rect">
            <a:avLst/>
          </a:prstGeom>
        </p:spPr>
      </p:pic>
      <p:cxnSp>
        <p:nvCxnSpPr>
          <p:cNvPr id="56" name="Straight Arrow Connector 55"/>
          <p:cNvCxnSpPr/>
          <p:nvPr/>
        </p:nvCxnSpPr>
        <p:spPr>
          <a:xfrm flipV="1">
            <a:off x="6789922" y="2673344"/>
            <a:ext cx="0" cy="48094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22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00" y="568332"/>
            <a:ext cx="18341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가능성</a:t>
            </a:r>
          </a:p>
        </p:txBody>
      </p:sp>
      <p:sp>
        <p:nvSpPr>
          <p:cNvPr id="4" name="직사각형 1"/>
          <p:cNvSpPr/>
          <p:nvPr/>
        </p:nvSpPr>
        <p:spPr>
          <a:xfrm>
            <a:off x="2768265" y="2257134"/>
            <a:ext cx="825215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영어가 필수가 된 현대 사회에서 남녀노소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노인 등 성별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 등에 관계없이 누구나 다 쉽고 간편하게 이용이 가능하다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b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어린 자녀를 키우고 있는 학부모들은 자녀에게 쉽게 영어듣기 혹은 발음교정을 해줄 수 있으며 영어 공부가 필요한 학생들은 언제 어디서든 궁금한 문장을 듣거나 정확하게 읽을 수 있다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8" name="직사각형 24"/>
          <p:cNvSpPr/>
          <p:nvPr/>
        </p:nvSpPr>
        <p:spPr>
          <a:xfrm>
            <a:off x="2768265" y="943587"/>
            <a:ext cx="233694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 이점</a:t>
            </a:r>
          </a:p>
        </p:txBody>
      </p:sp>
    </p:spTree>
    <p:extLst>
      <p:ext uri="{BB962C8B-B14F-4D97-AF65-F5344CB8AC3E}">
        <p14:creationId xmlns:p14="http://schemas.microsoft.com/office/powerpoint/2010/main" val="376499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00" y="568332"/>
            <a:ext cx="18341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가능성</a:t>
            </a:r>
          </a:p>
        </p:txBody>
      </p:sp>
      <p:sp>
        <p:nvSpPr>
          <p:cNvPr id="8" name="직사각형 24"/>
          <p:cNvSpPr/>
          <p:nvPr/>
        </p:nvSpPr>
        <p:spPr>
          <a:xfrm>
            <a:off x="2216003" y="388124"/>
            <a:ext cx="3724088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시장성 및 활용방안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2263" y="150901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해외 여행시 해당 국가의 언어로 작성된 매체를 촬영만 하면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발음이나 뜻을 알 수 있기 때문에 편리하다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62263" y="338272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시각장애인에게 적합한 형태로</a:t>
            </a:r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어플리케이션을 변경하여 사용할 수 있도록 하면 글자를 대신 읽어주어 도움을 줄 수 있다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62263" y="525644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노인이나 영어를 배우고 있는 직장인 등 남녀노소 누구나</a:t>
            </a:r>
            <a:endParaRPr lang="en-US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쉽고 간편하게 이용이 가능하다</a:t>
            </a:r>
            <a:endParaRPr lang="ko-KR" altLang="ko-KR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타원 1"/>
          <p:cNvSpPr/>
          <p:nvPr/>
        </p:nvSpPr>
        <p:spPr>
          <a:xfrm>
            <a:off x="2768375" y="1304763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타원 33"/>
          <p:cNvSpPr/>
          <p:nvPr/>
        </p:nvSpPr>
        <p:spPr>
          <a:xfrm>
            <a:off x="2768374" y="3172646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타원 34"/>
          <p:cNvSpPr/>
          <p:nvPr/>
        </p:nvSpPr>
        <p:spPr>
          <a:xfrm>
            <a:off x="2768374" y="5040530"/>
            <a:ext cx="1523127" cy="1523127"/>
          </a:xfrm>
          <a:prstGeom prst="ellipse">
            <a:avLst/>
          </a:prstGeom>
          <a:solidFill>
            <a:schemeClr val="bg1"/>
          </a:solidFill>
          <a:ln w="793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587" y="1621973"/>
            <a:ext cx="1023013" cy="102301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820" y="3509936"/>
            <a:ext cx="848546" cy="84854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789" y="5356532"/>
            <a:ext cx="930607" cy="93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1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768266" y="1385805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 통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266" y="2742147"/>
            <a:ext cx="74295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18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768266" y="1385805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홍 길 동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266" y="3158891"/>
            <a:ext cx="7429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8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42215" y="568332"/>
            <a:ext cx="1284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개발</a:t>
            </a:r>
            <a:endParaRPr lang="en-US" altLang="ko-KR" sz="48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일정</a:t>
            </a:r>
          </a:p>
        </p:txBody>
      </p:sp>
      <p:sp>
        <p:nvSpPr>
          <p:cNvPr id="7" name="직사각형 24"/>
          <p:cNvSpPr/>
          <p:nvPr/>
        </p:nvSpPr>
        <p:spPr>
          <a:xfrm>
            <a:off x="2768266" y="1385805"/>
            <a:ext cx="1601604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 길 동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266" y="2889032"/>
            <a:ext cx="74295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92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42214" y="568332"/>
            <a:ext cx="12843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540481"/>
            <a:ext cx="19976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</a:rPr>
              <a:t>Total 196180 </a:t>
            </a:r>
            <a:r>
              <a:rPr lang="ko-KR" altLang="en-US" sz="2800" dirty="0">
                <a:solidFill>
                  <a:schemeClr val="bg1"/>
                </a:solidFill>
              </a:rPr>
              <a:t>원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386820" y="531753"/>
            <a:ext cx="5792105" cy="1238088"/>
            <a:chOff x="2386820" y="105033"/>
            <a:chExt cx="5792105" cy="1238088"/>
          </a:xfrm>
        </p:grpSpPr>
        <p:grpSp>
          <p:nvGrpSpPr>
            <p:cNvPr id="7" name="그룹 6"/>
            <p:cNvGrpSpPr/>
            <p:nvPr/>
          </p:nvGrpSpPr>
          <p:grpSpPr>
            <a:xfrm>
              <a:off x="2386820" y="105033"/>
              <a:ext cx="3294011" cy="1237619"/>
              <a:chOff x="2386820" y="371144"/>
              <a:chExt cx="3294011" cy="1130266"/>
            </a:xfrm>
          </p:grpSpPr>
          <p:pic>
            <p:nvPicPr>
              <p:cNvPr id="9" name="그림 8"/>
              <p:cNvPicPr preferRelativeResize="0">
                <a:picLocks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564" t="12393" r="19641" b="15402"/>
              <a:stretch/>
            </p:blipFill>
            <p:spPr>
              <a:xfrm>
                <a:off x="2386820" y="383581"/>
                <a:ext cx="1474745" cy="1117829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3996726" y="371144"/>
                <a:ext cx="1601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라즈베리파이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984533" y="64198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수량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1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984533" y="910714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단가 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43,800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원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997588" y="973789"/>
              <a:ext cx="4181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http://www.icbanq.com/P005716580/B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371780" y="2102748"/>
            <a:ext cx="5855913" cy="1234788"/>
            <a:chOff x="2371780" y="1439790"/>
            <a:chExt cx="5855913" cy="1234788"/>
          </a:xfrm>
        </p:grpSpPr>
        <p:grpSp>
          <p:nvGrpSpPr>
            <p:cNvPr id="14" name="그룹 13"/>
            <p:cNvGrpSpPr/>
            <p:nvPr/>
          </p:nvGrpSpPr>
          <p:grpSpPr>
            <a:xfrm>
              <a:off x="2371780" y="1439790"/>
              <a:ext cx="3309827" cy="1234788"/>
              <a:chOff x="2414016" y="1586364"/>
              <a:chExt cx="3309827" cy="1234788"/>
            </a:xfrm>
          </p:grpSpPr>
          <p:pic>
            <p:nvPicPr>
              <p:cNvPr id="16" name="그림 15"/>
              <p:cNvPicPr preferRelativeResize="0">
                <a:picLocks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819" t="22445" r="13847" b="17999"/>
              <a:stretch/>
            </p:blipFill>
            <p:spPr>
              <a:xfrm>
                <a:off x="2414016" y="1597152"/>
                <a:ext cx="1476000" cy="12240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4051590" y="1586364"/>
                <a:ext cx="1672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사운드센서 모듈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051589" y="1880533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수량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1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051589" y="2162509"/>
                <a:ext cx="15616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단가 </a:t>
                </a:r>
                <a:r>
                  <a:rPr lang="en-US" altLang="ko-KR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6,380 </a:t>
                </a:r>
                <a:r>
                  <a:rPr lang="ko-KR" altLang="en-US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원</a:t>
                </a:r>
                <a:endPara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4021453" y="2295240"/>
              <a:ext cx="4206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http://www.icbanq.com/P005688417/S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2426208" y="3670443"/>
            <a:ext cx="5703949" cy="1224000"/>
            <a:chOff x="2426208" y="4134492"/>
            <a:chExt cx="5703949" cy="1224000"/>
          </a:xfrm>
        </p:grpSpPr>
        <p:pic>
          <p:nvPicPr>
            <p:cNvPr id="21" name="그림 20"/>
            <p:cNvPicPr preferRelativeResize="0">
              <a:picLocks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74" t="11555" r="4792" b="6503"/>
            <a:stretch/>
          </p:blipFill>
          <p:spPr>
            <a:xfrm>
              <a:off x="2426208" y="4134492"/>
              <a:ext cx="1476000" cy="1224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2" name="TextBox 21"/>
            <p:cNvSpPr txBox="1"/>
            <p:nvPr/>
          </p:nvSpPr>
          <p:spPr>
            <a:xfrm>
              <a:off x="4160374" y="4139185"/>
              <a:ext cx="146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인체 감지센서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160373" y="4421162"/>
              <a:ext cx="1088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수량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1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60373" y="4690946"/>
              <a:ext cx="15616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단가 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3,000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74843" y="4985114"/>
              <a:ext cx="3955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</a:rPr>
                <a:t>http://www.icbanq.com/P000235067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2444881" y="5227350"/>
            <a:ext cx="8007514" cy="1350177"/>
            <a:chOff x="2444880" y="5483382"/>
            <a:chExt cx="22461777" cy="1350177"/>
          </a:xfrm>
        </p:grpSpPr>
        <p:pic>
          <p:nvPicPr>
            <p:cNvPr id="28" name="그림 27"/>
            <p:cNvPicPr preferRelativeResize="0">
              <a:picLocks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0" t="-149" r="8149" b="12540"/>
            <a:stretch/>
          </p:blipFill>
          <p:spPr>
            <a:xfrm>
              <a:off x="2444880" y="5483382"/>
              <a:ext cx="4087930" cy="1224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9" name="TextBox 28"/>
            <p:cNvSpPr txBox="1"/>
            <p:nvPr/>
          </p:nvSpPr>
          <p:spPr>
            <a:xfrm>
              <a:off x="7354992" y="5534395"/>
              <a:ext cx="1005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잠금모듈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43058" y="5897071"/>
              <a:ext cx="10887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수량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1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03516" y="6183977"/>
              <a:ext cx="1830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단가 </a:t>
              </a:r>
              <a:r>
                <a:rPr lang="en-US" altLang="ko-KR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143,000 </a:t>
              </a:r>
              <a:r>
                <a:rPr lang="ko-KR" altLang="en-US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</a:t>
              </a:r>
              <a:endPara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97575" y="6495005"/>
              <a:ext cx="17609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</a:rPr>
                <a:t>http://</a:t>
              </a:r>
              <a:r>
                <a:rPr lang="en-US" altLang="ko-KR" sz="1600" dirty="0">
                  <a:solidFill>
                    <a:schemeClr val="bg1"/>
                  </a:solidFill>
                </a:rPr>
                <a:t>www.motormall.co.kr/shop/goods/goods_view.php?goodsno=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8664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997612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-14477" y="515066"/>
            <a:ext cx="20120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팀</a:t>
            </a:r>
            <a:r>
              <a:rPr lang="en-US" altLang="ko-KR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</a:t>
            </a:r>
            <a:r>
              <a:rPr lang="ko-KR" altLang="en-US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</a:t>
            </a:r>
            <a:endParaRPr lang="en-US" altLang="ko-KR" sz="4000" dirty="0">
              <a:solidFill>
                <a:schemeClr val="bg1">
                  <a:lumMod val="9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4000" dirty="0">
                <a:solidFill>
                  <a:schemeClr val="bg1">
                    <a:lumMod val="9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목표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231666"/>
              </p:ext>
            </p:extLst>
          </p:nvPr>
        </p:nvGraphicFramePr>
        <p:xfrm>
          <a:off x="2928646" y="1292733"/>
          <a:ext cx="8128000" cy="3820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06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Capstone </a:t>
                      </a:r>
                      <a:r>
                        <a:rPr lang="ko-KR" altLang="en-US" dirty="0"/>
                        <a:t>수업의 목표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저희가 만든</a:t>
                      </a:r>
                      <a:r>
                        <a:rPr lang="ko-KR" altLang="en-US" baseline="0" dirty="0"/>
                        <a:t> </a:t>
                      </a:r>
                      <a:r>
                        <a:rPr lang="en-US" altLang="ko-KR" baseline="0" dirty="0" err="1"/>
                        <a:t>IoT</a:t>
                      </a:r>
                      <a:r>
                        <a:rPr lang="ko-KR" altLang="en-US" baseline="0" dirty="0"/>
                        <a:t>제품으로 </a:t>
                      </a:r>
                      <a:r>
                        <a:rPr lang="en-US" altLang="ko-KR" dirty="0"/>
                        <a:t>2016</a:t>
                      </a:r>
                      <a:r>
                        <a:rPr lang="ko-KR" altLang="en-US" dirty="0"/>
                        <a:t>년 하반기 인천에서 열리는 </a:t>
                      </a:r>
                      <a:r>
                        <a:rPr lang="en-US" altLang="ko-KR" dirty="0"/>
                        <a:t>SW</a:t>
                      </a:r>
                      <a:r>
                        <a:rPr lang="ko-KR" altLang="en-US" dirty="0"/>
                        <a:t>융합 </a:t>
                      </a:r>
                      <a:r>
                        <a:rPr lang="ko-KR" altLang="en-US" dirty="0" err="1"/>
                        <a:t>해카톤</a:t>
                      </a:r>
                      <a:r>
                        <a:rPr lang="ko-KR" altLang="en-US" dirty="0"/>
                        <a:t> 대회 참가하고 싶습니다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Capstone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ko-KR" altLang="en-US" baseline="0" dirty="0"/>
                        <a:t>프로젝트를 통해 회사에서는 어떻게 직무수행을 하는지 실무와 직결된 프로젝트 경험을 하고 싶습니다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김길동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실무에서 사용하는 여러 기술과 정보 등이 무엇이 있는지 알고 배우고 싶습니다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이길동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최근 </a:t>
                      </a:r>
                      <a:r>
                        <a:rPr lang="en-US" altLang="ko-KR" dirty="0" err="1"/>
                        <a:t>IoT</a:t>
                      </a:r>
                      <a:r>
                        <a:rPr lang="ko-KR" altLang="en-US" dirty="0"/>
                        <a:t>제품이 각광받고 있음에 따라</a:t>
                      </a:r>
                      <a:r>
                        <a:rPr lang="ko-KR" altLang="en-US" baseline="0" dirty="0"/>
                        <a:t> </a:t>
                      </a:r>
                      <a:r>
                        <a:rPr lang="ko-KR" altLang="en-US" dirty="0"/>
                        <a:t>처음부터 끝까지 스스로 계획하고 설계하는 </a:t>
                      </a:r>
                      <a:r>
                        <a:rPr lang="en-US" altLang="ko-KR" dirty="0" err="1"/>
                        <a:t>IoT</a:t>
                      </a:r>
                      <a:r>
                        <a:rPr lang="ko-KR" altLang="en-US" baseline="0" dirty="0"/>
                        <a:t>를 제품을 개발해보고 싶습니다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7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/>
                        <a:t>박길동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수업시간에서</a:t>
                      </a:r>
                      <a:r>
                        <a:rPr lang="ko-KR" altLang="en-US" baseline="0" dirty="0"/>
                        <a:t> 배울 수 없는 프로그래밍 기술과 실무적으로 어떤 단계를 거쳐 프로그래밍을 하는지 배우고 싶습니다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478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054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944</Words>
  <Application>Microsoft Office PowerPoint</Application>
  <PresentationFormat>와이드스크린</PresentationFormat>
  <Paragraphs>180</Paragraphs>
  <Slides>18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Yoon 윤고딕 550_TT</vt:lpstr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khkwon</cp:lastModifiedBy>
  <cp:revision>190</cp:revision>
  <dcterms:created xsi:type="dcterms:W3CDTF">2015-04-04T02:27:52Z</dcterms:created>
  <dcterms:modified xsi:type="dcterms:W3CDTF">2021-09-09T02:07:19Z</dcterms:modified>
</cp:coreProperties>
</file>