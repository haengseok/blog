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2" r:id="rId4"/>
    <p:sldId id="263" r:id="rId5"/>
    <p:sldId id="264" r:id="rId6"/>
    <p:sldId id="276" r:id="rId7"/>
    <p:sldId id="268" r:id="rId8"/>
    <p:sldId id="282" r:id="rId9"/>
    <p:sldId id="266" r:id="rId10"/>
    <p:sldId id="286" r:id="rId11"/>
    <p:sldId id="274" r:id="rId12"/>
    <p:sldId id="278" r:id="rId13"/>
    <p:sldId id="283" r:id="rId14"/>
    <p:sldId id="279" r:id="rId15"/>
    <p:sldId id="284" r:id="rId16"/>
    <p:sldId id="288" r:id="rId17"/>
    <p:sldId id="28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7C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7921" autoAdjust="0"/>
  </p:normalViewPr>
  <p:slideViewPr>
    <p:cSldViewPr snapToGrid="0">
      <p:cViewPr varScale="1">
        <p:scale>
          <a:sx n="110" d="100"/>
          <a:sy n="110" d="100"/>
        </p:scale>
        <p:origin x="61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11C66-1182-4EAD-B3D1-1A2528331C8B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A452D-1E22-45EF-9E1E-171E412A6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47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스마트폰과</a:t>
            </a:r>
            <a:r>
              <a:rPr lang="ko-KR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태블릿이</a:t>
            </a:r>
            <a:r>
              <a:rPr lang="ko-KR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등장한 이후로 이를 이용한 스마트러닝 사업이 급증하고 있다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많은 교육 프로그램들 중에서도 단연 가장 관심이 높은 분야는 영어 교육이다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 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이러한 상황 때문에 사교육이 증가하면서 아이들의 자기주도적 </a:t>
            </a:r>
            <a:r>
              <a:rPr lang="ko-KR" altLang="en-US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합습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능력이 떨어졌다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우리는 이러한 기존의 문제점을 개선하고자 한다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607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전체 목적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우리는 광학 문자 인식과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이용하여 학부모와 어린이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성인까지도 영어 책이나 문서의 이미지 만으로 영어 듣기가 실생활에서 가능해질 수 있도록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접근성이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높고 사용하기 쉬운 교육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모바일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어플리케이션을 제공하고자 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baseline="0" dirty="0"/>
              <a:t> 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295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프로젝트 기능적 목적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아이들을 대상으로 하기 때문에 사용하기 쉬운 </a:t>
            </a:r>
            <a:r>
              <a:rPr lang="en-US" altLang="ko-KR" dirty="0"/>
              <a:t>UI,UX</a:t>
            </a:r>
            <a:r>
              <a:rPr lang="ko-KR" altLang="en-US" dirty="0"/>
              <a:t>를 구성한다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1. </a:t>
            </a:r>
            <a:r>
              <a:rPr lang="ko-KR" altLang="en-US" dirty="0"/>
              <a:t>버튼이나 텍스트 창과 같은 레이아웃을 전체적으로 크게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2. </a:t>
            </a:r>
            <a:r>
              <a:rPr lang="ko-KR" altLang="en-US" dirty="0"/>
              <a:t>한번의 클릭으로 사용할 수 있도록 한다</a:t>
            </a:r>
            <a:r>
              <a:rPr lang="en-US" altLang="ko-KR" dirty="0"/>
              <a:t>.(</a:t>
            </a:r>
            <a:r>
              <a:rPr lang="ko-KR" altLang="en-US" dirty="0"/>
              <a:t>간단한 </a:t>
            </a:r>
            <a:r>
              <a:rPr lang="en-US" altLang="ko-KR" dirty="0"/>
              <a:t>UX</a:t>
            </a:r>
            <a:r>
              <a:rPr lang="ko-KR" altLang="en-US" dirty="0"/>
              <a:t>구현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-OCR</a:t>
            </a:r>
            <a:r>
              <a:rPr lang="ko-KR" altLang="en-US" dirty="0"/>
              <a:t>의 인식률을 높인다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1.</a:t>
            </a:r>
            <a:r>
              <a:rPr lang="en-US" altLang="ko-KR" baseline="0" dirty="0"/>
              <a:t> </a:t>
            </a:r>
            <a:r>
              <a:rPr lang="ko-KR" altLang="en-US" baseline="0" dirty="0"/>
              <a:t>일반적으로 동화책에 쓰이는 서체를 분석한다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 2. </a:t>
            </a:r>
            <a:r>
              <a:rPr lang="ko-KR" altLang="en-US" baseline="0" dirty="0"/>
              <a:t>분석한 서체를 기반으로 학습데이터를 만든다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282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 : Android, Java, JavaScript, Node.JS,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 : TESSERACT(OCR Engine)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 : Android Studio, Eclipse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425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532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56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959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959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67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6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57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54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2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78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6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07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16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05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04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75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21405" y="2211974"/>
            <a:ext cx="5917743" cy="769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Android application</a:t>
            </a:r>
            <a:endParaRPr lang="ko-KR" altLang="en-US" sz="44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직사각형 4"/>
          <p:cNvSpPr/>
          <p:nvPr/>
        </p:nvSpPr>
        <p:spPr>
          <a:xfrm>
            <a:off x="0" y="5167878"/>
            <a:ext cx="1997612" cy="1690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48" y="5280381"/>
            <a:ext cx="1465116" cy="14651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21404" y="1147229"/>
            <a:ext cx="5917743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Smart Doorbell</a:t>
            </a:r>
            <a:endParaRPr lang="ko-KR" altLang="en-US" sz="4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54030" y="5985110"/>
            <a:ext cx="1873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2030. 03. 00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653996"/>
              </p:ext>
            </p:extLst>
          </p:nvPr>
        </p:nvGraphicFramePr>
        <p:xfrm>
          <a:off x="6991814" y="3791622"/>
          <a:ext cx="43465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지도교수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박길동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5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32430" y="316601"/>
            <a:ext cx="8432608" cy="6001643"/>
          </a:xfrm>
          <a:prstGeom prst="rect">
            <a:avLst/>
          </a:prstGeom>
          <a:solidFill>
            <a:srgbClr val="3B7CFF"/>
          </a:solidFill>
        </p:spPr>
        <p:txBody>
          <a:bodyPr wrap="square" rtlCol="0" anchor="ctr">
            <a:spAutoFit/>
          </a:bodyPr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동기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목적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 환경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내용 구성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활용가능성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 일정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기자재 신청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팀 </a:t>
            </a:r>
            <a:r>
              <a:rPr lang="en-US" altLang="ko-KR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 </a:t>
            </a: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 목표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73136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동기</a:t>
            </a:r>
          </a:p>
        </p:txBody>
      </p:sp>
      <p:sp>
        <p:nvSpPr>
          <p:cNvPr id="21" name="직사각형 24"/>
          <p:cNvSpPr/>
          <p:nvPr/>
        </p:nvSpPr>
        <p:spPr>
          <a:xfrm>
            <a:off x="2589972" y="707706"/>
            <a:ext cx="6544547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지나치게 바쁜 현대인</a:t>
            </a:r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집이 항상 부재중이다</a:t>
            </a:r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!</a:t>
            </a:r>
            <a:endParaRPr lang="ko-KR" altLang="en-US" sz="28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3643556" y="1879948"/>
            <a:ext cx="6540803" cy="2555032"/>
            <a:chOff x="3643556" y="1531612"/>
            <a:chExt cx="6540803" cy="2555032"/>
          </a:xfrm>
        </p:grpSpPr>
        <p:grpSp>
          <p:nvGrpSpPr>
            <p:cNvPr id="3" name="그룹 2"/>
            <p:cNvGrpSpPr/>
            <p:nvPr/>
          </p:nvGrpSpPr>
          <p:grpSpPr>
            <a:xfrm>
              <a:off x="3643556" y="1531612"/>
              <a:ext cx="2555032" cy="2555032"/>
              <a:chOff x="3643556" y="1531612"/>
              <a:chExt cx="2555032" cy="2555032"/>
            </a:xfrm>
          </p:grpSpPr>
          <p:pic>
            <p:nvPicPr>
              <p:cNvPr id="11" name="그림 1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43556" y="1531612"/>
                <a:ext cx="2555032" cy="2555032"/>
              </a:xfrm>
              <a:prstGeom prst="rect">
                <a:avLst/>
              </a:prstGeom>
            </p:spPr>
          </p:pic>
          <p:pic>
            <p:nvPicPr>
              <p:cNvPr id="20" name="그림 1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37874" y="2516878"/>
                <a:ext cx="1166396" cy="1166396"/>
              </a:xfrm>
              <a:prstGeom prst="rect">
                <a:avLst/>
              </a:prstGeom>
            </p:spPr>
          </p:pic>
        </p:grpSp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511" t="8819"/>
            <a:stretch/>
          </p:blipFill>
          <p:spPr>
            <a:xfrm>
              <a:off x="7591685" y="2213502"/>
              <a:ext cx="960549" cy="1668644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835648" y="2685681"/>
              <a:ext cx="1348711" cy="1348711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2530929" y="4991097"/>
            <a:ext cx="8752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시간이 지남에 따라 현대인들은 더욱 바빠지고 있습니다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특히 낮에는 학교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직장 및 맞벌이 부부와 같은 이유로 인해 집이 항상 비어있는 경우가 대다수입니다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이럴 때 누군가 집에 찾아왔다면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응답이 없는 초인종만 누르고 돌아가기 일수입니다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급한 일이 있거나 반드시 전해 받아야 할 것이 있다면 전해들을 수 있는 수단이 필요하다고 생각합니다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588079" y="4713039"/>
            <a:ext cx="8637814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40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86" y="2505069"/>
            <a:ext cx="2631636" cy="263163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목적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24"/>
          <p:cNvSpPr/>
          <p:nvPr/>
        </p:nvSpPr>
        <p:spPr>
          <a:xfrm>
            <a:off x="2893429" y="722220"/>
            <a:ext cx="252559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방향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49" r="-5094" b="34426"/>
          <a:stretch/>
        </p:blipFill>
        <p:spPr>
          <a:xfrm>
            <a:off x="3734826" y="3249433"/>
            <a:ext cx="1084216" cy="120001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66" y="3213842"/>
            <a:ext cx="1616558" cy="1616558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3" r="7084"/>
          <a:stretch/>
        </p:blipFill>
        <p:spPr>
          <a:xfrm rot="18587060">
            <a:off x="9070876" y="2963359"/>
            <a:ext cx="2520382" cy="231101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774" y="3249433"/>
            <a:ext cx="1655758" cy="165575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887665" y="5534434"/>
            <a:ext cx="2954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</a:rPr>
              <a:t>집주인 </a:t>
            </a:r>
            <a:r>
              <a:rPr lang="ko-KR" altLang="en-US" sz="2800" dirty="0" err="1">
                <a:solidFill>
                  <a:schemeClr val="bg1"/>
                </a:solidFill>
              </a:rPr>
              <a:t>스마트폰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542110" y="5418961"/>
            <a:ext cx="109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</a:rPr>
              <a:t>손님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2933" y="2820156"/>
            <a:ext cx="1313842" cy="4616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</a:rPr>
              <a:t>택배</a:t>
            </a:r>
          </a:p>
        </p:txBody>
      </p:sp>
    </p:spTree>
    <p:extLst>
      <p:ext uri="{BB962C8B-B14F-4D97-AF65-F5344CB8AC3E}">
        <p14:creationId xmlns:p14="http://schemas.microsoft.com/office/powerpoint/2010/main" val="128438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목적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68064" y="1161631"/>
            <a:ext cx="6937274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ko-KR" altLang="en-US" sz="2000" dirty="0">
              <a:solidFill>
                <a:schemeClr val="bg1"/>
              </a:solidFill>
            </a:endParaRPr>
          </a:p>
          <a:p>
            <a:pPr fontAlgn="base"/>
            <a:r>
              <a:rPr lang="ko-KR" altLang="en-US" sz="2000" b="1" dirty="0">
                <a:solidFill>
                  <a:schemeClr val="bg1"/>
                </a:solidFill>
              </a:rPr>
              <a:t>◦ 인터폰의 기능을 </a:t>
            </a:r>
            <a:r>
              <a:rPr lang="ko-KR" altLang="en-US" sz="2000" b="1" dirty="0" err="1">
                <a:solidFill>
                  <a:schemeClr val="bg1"/>
                </a:solidFill>
              </a:rPr>
              <a:t>스마트폰에</a:t>
            </a:r>
            <a:r>
              <a:rPr lang="ko-KR" altLang="en-US" sz="2000" b="1" dirty="0">
                <a:solidFill>
                  <a:schemeClr val="bg1"/>
                </a:solidFill>
              </a:rPr>
              <a:t> 구현</a:t>
            </a:r>
          </a:p>
          <a:p>
            <a:pPr fontAlgn="base"/>
            <a:r>
              <a:rPr lang="ko-KR" altLang="en-US" sz="2000" dirty="0">
                <a:solidFill>
                  <a:schemeClr val="bg1"/>
                </a:solidFill>
              </a:rPr>
              <a:t>실제 집에서 초인종과 연결되어있는 인터폰의 기능을 언제 어디서 사용할 수 있는 </a:t>
            </a:r>
            <a:r>
              <a:rPr lang="ko-KR" altLang="en-US" sz="2000" dirty="0" err="1">
                <a:solidFill>
                  <a:schemeClr val="bg1"/>
                </a:solidFill>
              </a:rPr>
              <a:t>스마트폰에</a:t>
            </a:r>
            <a:r>
              <a:rPr lang="ko-KR" altLang="en-US" sz="2000" dirty="0">
                <a:solidFill>
                  <a:schemeClr val="bg1"/>
                </a:solidFill>
              </a:rPr>
              <a:t> 구현하는 것을 목표로 합니다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fontAlgn="base"/>
            <a:endParaRPr lang="ko-KR" altLang="en-US" sz="2000" dirty="0">
              <a:solidFill>
                <a:schemeClr val="bg1"/>
              </a:solidFill>
            </a:endParaRPr>
          </a:p>
          <a:p>
            <a:pPr fontAlgn="base"/>
            <a:r>
              <a:rPr lang="ko-KR" altLang="en-US" sz="2000" b="1" dirty="0">
                <a:solidFill>
                  <a:schemeClr val="bg1"/>
                </a:solidFill>
              </a:rPr>
              <a:t>◦ 양방향 대화를 위한 </a:t>
            </a:r>
            <a:r>
              <a:rPr lang="ko-KR" altLang="en-US" sz="2000" b="1" dirty="0" err="1">
                <a:solidFill>
                  <a:schemeClr val="bg1"/>
                </a:solidFill>
              </a:rPr>
              <a:t>스트리밍의</a:t>
            </a:r>
            <a:r>
              <a:rPr lang="ko-KR" altLang="en-US" sz="2000" b="1" dirty="0">
                <a:solidFill>
                  <a:schemeClr val="bg1"/>
                </a:solidFill>
              </a:rPr>
              <a:t> 최적화</a:t>
            </a:r>
          </a:p>
          <a:p>
            <a:pPr fontAlgn="base"/>
            <a:r>
              <a:rPr lang="ko-KR" altLang="en-US" sz="2000" dirty="0" err="1">
                <a:solidFill>
                  <a:schemeClr val="bg1"/>
                </a:solidFill>
              </a:rPr>
              <a:t>스트리밍에</a:t>
            </a:r>
            <a:r>
              <a:rPr lang="ko-KR" altLang="en-US" sz="2000" dirty="0">
                <a:solidFill>
                  <a:schemeClr val="bg1"/>
                </a:solidFill>
              </a:rPr>
              <a:t> 있어 지연시간이나 </a:t>
            </a:r>
            <a:r>
              <a:rPr lang="en-US" altLang="ko-KR" sz="2000" dirty="0">
                <a:solidFill>
                  <a:schemeClr val="bg1"/>
                </a:solidFill>
              </a:rPr>
              <a:t>fps</a:t>
            </a:r>
            <a:r>
              <a:rPr lang="ko-KR" altLang="en-US" sz="2000" dirty="0">
                <a:solidFill>
                  <a:schemeClr val="bg1"/>
                </a:solidFill>
              </a:rPr>
              <a:t>면에서 있어 만족할만한 성능을 가진 </a:t>
            </a:r>
            <a:r>
              <a:rPr lang="ko-KR" altLang="en-US" sz="2000" dirty="0" err="1">
                <a:solidFill>
                  <a:schemeClr val="bg1"/>
                </a:solidFill>
              </a:rPr>
              <a:t>스트리밍</a:t>
            </a:r>
            <a:r>
              <a:rPr lang="ko-KR" altLang="en-US" sz="2000" dirty="0">
                <a:solidFill>
                  <a:schemeClr val="bg1"/>
                </a:solidFill>
              </a:rPr>
              <a:t> 프로토콜을 직접 구현합니다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fontAlgn="base"/>
            <a:endParaRPr lang="en-US" altLang="ko-KR" sz="2000" dirty="0">
              <a:solidFill>
                <a:schemeClr val="bg1"/>
              </a:solidFill>
            </a:endParaRPr>
          </a:p>
          <a:p>
            <a:pPr fontAlgn="base"/>
            <a:r>
              <a:rPr lang="ko-KR" altLang="en-US" sz="2000" b="1" dirty="0">
                <a:solidFill>
                  <a:schemeClr val="bg1"/>
                </a:solidFill>
              </a:rPr>
              <a:t>◦ 얼굴인식을 통한 데이터베이스 구축</a:t>
            </a:r>
          </a:p>
          <a:p>
            <a:pPr fontAlgn="base"/>
            <a:r>
              <a:rPr lang="ko-KR" altLang="en-US" sz="2000" dirty="0">
                <a:solidFill>
                  <a:schemeClr val="bg1"/>
                </a:solidFill>
              </a:rPr>
              <a:t>집을 방문하는 사람들의 얼굴을 인식하여 데이터베이스를 구축합니다</a:t>
            </a:r>
            <a:r>
              <a:rPr lang="en-US" altLang="ko-KR" sz="2000" dirty="0">
                <a:solidFill>
                  <a:schemeClr val="bg1"/>
                </a:solidFill>
              </a:rPr>
              <a:t>. </a:t>
            </a:r>
          </a:p>
          <a:p>
            <a:pPr fontAlgn="base"/>
            <a:endParaRPr lang="ko-KR" altLang="en-US" sz="2000" dirty="0">
              <a:solidFill>
                <a:schemeClr val="bg1"/>
              </a:solidFill>
            </a:endParaRPr>
          </a:p>
          <a:p>
            <a:pPr fontAlgn="base"/>
            <a:r>
              <a:rPr lang="ko-KR" altLang="en-US" sz="2000" b="1" dirty="0">
                <a:solidFill>
                  <a:schemeClr val="bg1"/>
                </a:solidFill>
              </a:rPr>
              <a:t>◦ 데이터전송간의 보안문제 고려</a:t>
            </a:r>
          </a:p>
          <a:p>
            <a:pPr fontAlgn="base"/>
            <a:r>
              <a:rPr lang="ko-KR" altLang="en-US" sz="2000" dirty="0">
                <a:solidFill>
                  <a:schemeClr val="bg1"/>
                </a:solidFill>
              </a:rPr>
              <a:t>회원가입을 통한 비밀번호입력이나 문을 열어주기 위한 비밀번호 입력에 있어 보안이 매우 중요한 요소이기 때문에 이를 고려하여 암호화 기법을 활용합니다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fontAlgn="base"/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직사각형 24"/>
          <p:cNvSpPr/>
          <p:nvPr/>
        </p:nvSpPr>
        <p:spPr>
          <a:xfrm>
            <a:off x="2816426" y="722220"/>
            <a:ext cx="2939840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80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주요기능 </a:t>
            </a: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목표</a:t>
            </a:r>
          </a:p>
        </p:txBody>
      </p:sp>
      <p:sp>
        <p:nvSpPr>
          <p:cNvPr id="9" name="타원 1"/>
          <p:cNvSpPr/>
          <p:nvPr/>
        </p:nvSpPr>
        <p:spPr>
          <a:xfrm>
            <a:off x="2816426" y="1905873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타원 1"/>
          <p:cNvSpPr/>
          <p:nvPr/>
        </p:nvSpPr>
        <p:spPr>
          <a:xfrm>
            <a:off x="2816426" y="4375437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3018609" y="2153982"/>
            <a:ext cx="1118760" cy="1026907"/>
            <a:chOff x="8562266" y="2858673"/>
            <a:chExt cx="2924306" cy="2520382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2266" y="3213842"/>
              <a:ext cx="1616558" cy="1616558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03" r="7084"/>
            <a:stretch/>
          </p:blipFill>
          <p:spPr>
            <a:xfrm rot="18587060">
              <a:off x="9070876" y="2963359"/>
              <a:ext cx="2520382" cy="2311010"/>
            </a:xfrm>
            <a:prstGeom prst="rect">
              <a:avLst/>
            </a:prstGeom>
          </p:spPr>
        </p:pic>
      </p:grpSp>
      <p:pic>
        <p:nvPicPr>
          <p:cNvPr id="14" name="그림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836" y="4698847"/>
            <a:ext cx="908963" cy="90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4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216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2602770" y="1920461"/>
            <a:ext cx="8646701" cy="3017078"/>
            <a:chOff x="2602770" y="1225557"/>
            <a:chExt cx="8646701" cy="3017078"/>
          </a:xfrm>
        </p:grpSpPr>
        <p:sp>
          <p:nvSpPr>
            <p:cNvPr id="2" name="Rectangle 1"/>
            <p:cNvSpPr/>
            <p:nvPr/>
          </p:nvSpPr>
          <p:spPr>
            <a:xfrm>
              <a:off x="3223674" y="2303643"/>
              <a:ext cx="1103507" cy="14773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Android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Java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331638" y="2303643"/>
              <a:ext cx="1917833" cy="19389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Android Studio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Eclipse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Raspberry Pi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Arduino</a:t>
              </a:r>
              <a:endPara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02770" y="1225558"/>
              <a:ext cx="2345317" cy="5232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bg1">
                      <a:lumMod val="9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Language</a:t>
              </a:r>
              <a:endParaRPr lang="ko-KR" altLang="en-US" sz="2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43190" y="1225557"/>
              <a:ext cx="2356545" cy="5232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bg1">
                      <a:lumMod val="9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Library</a:t>
              </a:r>
              <a:endParaRPr lang="ko-KR" altLang="en-US" sz="2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294839" y="1225557"/>
              <a:ext cx="1954632" cy="5232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bg1">
                      <a:lumMod val="9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Tool</a:t>
              </a:r>
              <a:endParaRPr lang="ko-KR" altLang="en-US" sz="2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0" name="Rectangle 1"/>
            <p:cNvSpPr/>
            <p:nvPr/>
          </p:nvSpPr>
          <p:spPr>
            <a:xfrm>
              <a:off x="6414602" y="2303643"/>
              <a:ext cx="1413720" cy="19389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 err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Gstreamer</a:t>
              </a:r>
              <a:endPara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2000" dirty="0" err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WiringPI</a:t>
              </a:r>
              <a:endPara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GCM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JNI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5622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6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내용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구성</a:t>
            </a:r>
          </a:p>
        </p:txBody>
      </p:sp>
      <p:sp>
        <p:nvSpPr>
          <p:cNvPr id="20" name="직사각형 24"/>
          <p:cNvSpPr/>
          <p:nvPr/>
        </p:nvSpPr>
        <p:spPr>
          <a:xfrm>
            <a:off x="2627911" y="569726"/>
            <a:ext cx="2607613" cy="9541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SW/HW  </a:t>
            </a:r>
          </a:p>
          <a:p>
            <a:pPr algn="ctr">
              <a:defRPr/>
            </a:pPr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Proto type </a:t>
            </a:r>
            <a:endParaRPr lang="ko-KR" altLang="en-US" sz="28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622177" y="1964706"/>
            <a:ext cx="3042632" cy="4517738"/>
            <a:chOff x="3220525" y="1899391"/>
            <a:chExt cx="3042632" cy="451773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0525" y="1899391"/>
              <a:ext cx="3042632" cy="451773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직사각형 3"/>
            <p:cNvSpPr/>
            <p:nvPr/>
          </p:nvSpPr>
          <p:spPr>
            <a:xfrm>
              <a:off x="3592286" y="2318657"/>
              <a:ext cx="2253343" cy="34779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849" r="-5094" b="34426"/>
            <a:stretch/>
          </p:blipFill>
          <p:spPr>
            <a:xfrm>
              <a:off x="4199733" y="3313319"/>
              <a:ext cx="1084216" cy="120001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6" name="직사각형 25"/>
            <p:cNvSpPr/>
            <p:nvPr/>
          </p:nvSpPr>
          <p:spPr>
            <a:xfrm>
              <a:off x="4167075" y="2988895"/>
              <a:ext cx="120502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낯선사람</a:t>
              </a:r>
              <a:endPara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931717" y="2726871"/>
              <a:ext cx="1571012" cy="20410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4" name="_x223462232" descr="EMB00002ccc2e1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8368" b="64590" l="15963" r="25845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4" t="49129" r="72691" b="35515"/>
          <a:stretch/>
        </p:blipFill>
        <p:spPr bwMode="auto">
          <a:xfrm>
            <a:off x="7905980" y="1810137"/>
            <a:ext cx="2307993" cy="24881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0004301_main-door-lock-jemmy-proof-j310-ab-europa-locks.png (518×340)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82" b="94706" l="579" r="96139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672" y="4593907"/>
            <a:ext cx="2802610" cy="1839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ume\Downloads\telephone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262" y="5072798"/>
            <a:ext cx="551203" cy="55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ume\Downloads\circle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306783" y="5040140"/>
            <a:ext cx="587844" cy="58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03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6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내용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구성</a:t>
            </a:r>
          </a:p>
        </p:txBody>
      </p:sp>
      <p:sp>
        <p:nvSpPr>
          <p:cNvPr id="8" name="직사각형 24"/>
          <p:cNvSpPr/>
          <p:nvPr/>
        </p:nvSpPr>
        <p:spPr>
          <a:xfrm>
            <a:off x="2319152" y="463016"/>
            <a:ext cx="3724088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흐름도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5" name="_x223461512" descr="EMB00002ccc2e1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372" y="1478280"/>
            <a:ext cx="6566096" cy="48273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13844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8744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300" y="568332"/>
            <a:ext cx="18341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가능성</a:t>
            </a:r>
          </a:p>
        </p:txBody>
      </p:sp>
      <p:sp>
        <p:nvSpPr>
          <p:cNvPr id="10" name="직사각형 24"/>
          <p:cNvSpPr/>
          <p:nvPr/>
        </p:nvSpPr>
        <p:spPr>
          <a:xfrm>
            <a:off x="2458862" y="701157"/>
            <a:ext cx="6733897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몸이 불편한 장애인이나 노약자를 위한 솔루션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335051" y="1784245"/>
            <a:ext cx="7232662" cy="2300507"/>
            <a:chOff x="3102827" y="1784245"/>
            <a:chExt cx="7232662" cy="2300507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7330" y="1784856"/>
              <a:ext cx="2298159" cy="2298159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3587" y="1784245"/>
              <a:ext cx="2298159" cy="229815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2827" y="1786593"/>
              <a:ext cx="2298159" cy="2298159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136" y="2399095"/>
              <a:ext cx="1265239" cy="1265239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938" y="2368682"/>
              <a:ext cx="1452153" cy="1343298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1517" y="2454752"/>
              <a:ext cx="1183456" cy="1183456"/>
            </a:xfrm>
            <a:prstGeom prst="rect">
              <a:avLst/>
            </a:prstGeom>
          </p:spPr>
        </p:pic>
      </p:grpSp>
      <p:cxnSp>
        <p:nvCxnSpPr>
          <p:cNvPr id="15" name="직선 연결선 14"/>
          <p:cNvCxnSpPr/>
          <p:nvPr/>
        </p:nvCxnSpPr>
        <p:spPr>
          <a:xfrm>
            <a:off x="2746824" y="4336544"/>
            <a:ext cx="8637814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63153" y="4588336"/>
            <a:ext cx="87521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〮 집 내부에서 자유롭게 움직이기 힘든 사람들을 위한 솔루션이 되어지기도 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〮 누군가가 집에 방문하였을 때 항상 현관문까지 이동하여 문을 열어주거나 대화를 해야 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이 때에 몸이 불편한 장애인이나 노약자들은 본 프로젝트를 통해서 </a:t>
            </a:r>
            <a:r>
              <a:rPr lang="ko-KR" altLang="en-US" dirty="0" err="1">
                <a:solidFill>
                  <a:schemeClr val="bg1"/>
                </a:solidFill>
              </a:rPr>
              <a:t>스마트폰만</a:t>
            </a:r>
            <a:r>
              <a:rPr lang="ko-KR" altLang="en-US" dirty="0">
                <a:solidFill>
                  <a:schemeClr val="bg1"/>
                </a:solidFill>
              </a:rPr>
              <a:t> 소지하고 있으면 언제 어디서든 인터폰 역할 및 출입이 가능하게 할 수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99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300" y="568332"/>
            <a:ext cx="18341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가능성</a:t>
            </a:r>
          </a:p>
        </p:txBody>
      </p:sp>
      <p:sp>
        <p:nvSpPr>
          <p:cNvPr id="10" name="직사각형 24"/>
          <p:cNvSpPr/>
          <p:nvPr/>
        </p:nvSpPr>
        <p:spPr>
          <a:xfrm>
            <a:off x="2514600" y="693942"/>
            <a:ext cx="6733897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혼자 집에 있는 유아들을 위한 솔루션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2761338" y="4342709"/>
            <a:ext cx="8637814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77667" y="4588336"/>
            <a:ext cx="8752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맞벌이 부부가 증가함에 따라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아이들이 혼자 집에 있는 경우가 많습니다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엄마가 교육을 하더라도 낯선 사람이 왔을 시 어린아이들은 쉽게 문을 열어주는 경향이 있습니다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이 때에 저희 프로젝트인 </a:t>
            </a:r>
            <a:r>
              <a:rPr lang="en-US" altLang="ko-KR" dirty="0">
                <a:solidFill>
                  <a:schemeClr val="bg1"/>
                </a:solidFill>
              </a:rPr>
              <a:t>Smart Doorbell</a:t>
            </a:r>
            <a:r>
              <a:rPr lang="ko-KR" altLang="en-US" dirty="0">
                <a:solidFill>
                  <a:schemeClr val="bg1"/>
                </a:solidFill>
              </a:rPr>
              <a:t>의 아이모드를 이용하면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집에 누군가 초인종을 눌렀을 시 부모님 핸드폰으로 바로 알림이 가고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집 초인종 소리는 나지 않습니다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따라서 아이들은 더욱 안전하게 집에 있을 수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809048" y="1798923"/>
            <a:ext cx="2298159" cy="2298159"/>
            <a:chOff x="5562310" y="1798923"/>
            <a:chExt cx="2298159" cy="2298159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2310" y="1798923"/>
              <a:ext cx="2298159" cy="2298159"/>
            </a:xfrm>
            <a:prstGeom prst="rect">
              <a:avLst/>
            </a:prstGeom>
          </p:spPr>
        </p:pic>
        <p:pic>
          <p:nvPicPr>
            <p:cNvPr id="7170" name="Picture 2" descr="C:\Users\ume\Downloads\two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7618" y="2753548"/>
              <a:ext cx="1007541" cy="1007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95337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5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265346" y="306722"/>
            <a:ext cx="160160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 통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180070"/>
              </p:ext>
            </p:extLst>
          </p:nvPr>
        </p:nvGraphicFramePr>
        <p:xfrm>
          <a:off x="2659377" y="870310"/>
          <a:ext cx="8923020" cy="5621862"/>
        </p:xfrm>
        <a:graphic>
          <a:graphicData uri="http://schemas.openxmlformats.org/drawingml/2006/table">
            <a:tbl>
              <a:tblPr/>
              <a:tblGrid>
                <a:gridCol w="3820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1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1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1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1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chemeClr val="bg1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  <a:ea typeface="+mn-ea"/>
                        </a:rPr>
                        <a:t>3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ea typeface="바탕"/>
                        </a:rPr>
                        <a:t>월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  <a:ea typeface="+mn-ea"/>
                        </a:rPr>
                        <a:t>4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ea typeface="바탕"/>
                        </a:rPr>
                        <a:t>월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  <a:ea typeface="+mn-ea"/>
                        </a:rPr>
                        <a:t>5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ea typeface="바탕"/>
                        </a:rPr>
                        <a:t>월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1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2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3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4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1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2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3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4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1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2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3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chemeClr val="bg1"/>
                          </a:solidFill>
                          <a:effectLst/>
                          <a:latin typeface="바탕"/>
                        </a:rPr>
                        <a:t>4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7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프로젝트 아이디어 기획 및 사전조사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팀전체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7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안드로이드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Application UI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  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및</a:t>
                      </a:r>
                      <a:endParaRPr lang="en-US" altLang="ko-KR" sz="1100" b="1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얼굴인식 적용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-</a:t>
                      </a:r>
                      <a:r>
                        <a:rPr lang="en-US" altLang="ko-KR" sz="1100" kern="0" spc="0" baseline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 </a:t>
                      </a:r>
                      <a:r>
                        <a:rPr lang="ko-KR" altLang="en-US" sz="1100" kern="0" spc="0" baseline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김길동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7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JAVA 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웹서버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및 데이터베이스 구축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-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바탕"/>
                        </a:rPr>
                        <a:t>남길동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6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라즈베리파이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개발환경 구축 및 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카메라모듈과 오디오모듈 적용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-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바탕"/>
                        </a:rPr>
                        <a:t>김길동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7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라즈베리파이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웹서버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연동 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&amp; 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벨기능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- 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바탕"/>
                        </a:rPr>
                        <a:t>이대감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7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초인종 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H/W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와 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웹서버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연동 및 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스트리밍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-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바탕"/>
                        </a:rPr>
                        <a:t>남민수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7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센서를 활용한 재난방지 시스템 구현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- 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김김길동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7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안드로이드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웹 </a:t>
                      </a:r>
                      <a:r>
                        <a:rPr lang="ko-KR" altLang="en-US" sz="1100" b="1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스트리밍</a:t>
                      </a: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 기능 구현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-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바탕"/>
                        </a:rPr>
                        <a:t>남길동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바탕"/>
                        </a:rPr>
                        <a:t>, 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바탕"/>
                        </a:rPr>
                        <a:t>이대감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262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디버깅 및 테스트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(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ea typeface="바탕"/>
                        </a:rPr>
                        <a:t>팀전체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바탕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57536" marR="57536" marT="15907" marB="15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218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5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768266" y="1385805"/>
            <a:ext cx="160160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김대감</a:t>
            </a:r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28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031321"/>
              </p:ext>
            </p:extLst>
          </p:nvPr>
        </p:nvGraphicFramePr>
        <p:xfrm>
          <a:off x="2575278" y="2567944"/>
          <a:ext cx="913775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시작일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종료일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총기간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진척도</a:t>
                      </a:r>
                      <a:endParaRPr lang="en-US" altLang="ko-KR" dirty="0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프로젝트 아이디어 기획 및 사전조사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0070C0"/>
                          </a:solidFill>
                        </a:rPr>
                        <a:t>진행중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라즈베리파이</a:t>
                      </a:r>
                      <a:r>
                        <a:rPr lang="ko-KR" altLang="en-US" sz="1400" dirty="0"/>
                        <a:t> 개발환경 구축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0070C0"/>
                          </a:solidFill>
                        </a:rPr>
                        <a:t>진행중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카메라모듈 적용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오디오모듈 적용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3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센서를 활용한 재난방지 시스템 구현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3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디버깅 및 테스트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985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5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768266" y="1385805"/>
            <a:ext cx="160160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김길동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27816"/>
              </p:ext>
            </p:extLst>
          </p:nvPr>
        </p:nvGraphicFramePr>
        <p:xfrm>
          <a:off x="2517222" y="2567944"/>
          <a:ext cx="913775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시작일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종료일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총기간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진척도</a:t>
                      </a:r>
                      <a:endParaRPr lang="en-US" altLang="ko-KR" dirty="0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프로젝트 아이디어 기획 및 사전조사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0070C0"/>
                          </a:solidFill>
                        </a:rPr>
                        <a:t>진행중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안드로이드</a:t>
                      </a:r>
                      <a:r>
                        <a:rPr lang="ko-KR" altLang="en-US" sz="1400" dirty="0"/>
                        <a:t> 개발환경 구축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0070C0"/>
                          </a:solidFill>
                        </a:rPr>
                        <a:t>진행중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안드로이드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Application</a:t>
                      </a:r>
                      <a:r>
                        <a:rPr lang="en-US" altLang="ko-KR" sz="1400" baseline="0" dirty="0"/>
                        <a:t> UI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얼굴인식 적용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3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센서를 활용한 재난방지 시스템 구현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3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디버깅 및 테스트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585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5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768266" y="1385805"/>
            <a:ext cx="160160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홍길동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537831"/>
              </p:ext>
            </p:extLst>
          </p:nvPr>
        </p:nvGraphicFramePr>
        <p:xfrm>
          <a:off x="2531736" y="2567944"/>
          <a:ext cx="913775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시작일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종료일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총기간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진척도</a:t>
                      </a:r>
                      <a:endParaRPr lang="en-US" altLang="ko-KR" dirty="0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프로젝트 아이디어 기획 및 사전조사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0070C0"/>
                          </a:solidFill>
                        </a:rPr>
                        <a:t>진행중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이클립스</a:t>
                      </a:r>
                      <a:r>
                        <a:rPr lang="ko-KR" altLang="en-US" sz="1400" dirty="0"/>
                        <a:t> 개발환경 구축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0070C0"/>
                          </a:solidFill>
                        </a:rPr>
                        <a:t>진행중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웹서버</a:t>
                      </a:r>
                      <a:r>
                        <a:rPr lang="ko-KR" altLang="en-US" sz="1400" dirty="0"/>
                        <a:t> 및 데이터베이스 구축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H/W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와 </a:t>
                      </a: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웹서버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 연동 및 </a:t>
                      </a: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스트리밍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 </a:t>
                      </a:r>
                      <a:endParaRPr lang="ko-KR" altLang="en-US" sz="1400" b="0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latin typeface="+mj-lt"/>
                        </a:rPr>
                        <a:t>안드로이드</a:t>
                      </a:r>
                      <a:r>
                        <a:rPr lang="ko-KR" altLang="en-US" sz="1400" b="0" dirty="0">
                          <a:latin typeface="+mj-lt"/>
                        </a:rPr>
                        <a:t> 웹 </a:t>
                      </a:r>
                      <a:r>
                        <a:rPr lang="ko-KR" altLang="en-US" sz="1400" b="0" dirty="0" err="1">
                          <a:latin typeface="+mj-lt"/>
                        </a:rPr>
                        <a:t>스트리밍</a:t>
                      </a:r>
                      <a:r>
                        <a:rPr lang="ko-KR" altLang="en-US" sz="1400" b="0" dirty="0">
                          <a:latin typeface="+mj-lt"/>
                        </a:rPr>
                        <a:t> 기능 구현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디버깅 및 테스트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592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5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768266" y="1385805"/>
            <a:ext cx="160160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이대감</a:t>
            </a:r>
            <a:endParaRPr lang="ko-KR" altLang="en-US" sz="28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424500"/>
              </p:ext>
            </p:extLst>
          </p:nvPr>
        </p:nvGraphicFramePr>
        <p:xfrm>
          <a:off x="2546250" y="2567944"/>
          <a:ext cx="9137754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시작일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종료일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총기간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진척도</a:t>
                      </a:r>
                      <a:endParaRPr lang="en-US" altLang="ko-KR" dirty="0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프로젝트 아이디어 기획 및 사전조사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0070C0"/>
                          </a:solidFill>
                        </a:rPr>
                        <a:t>진행중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라즈베리파이</a:t>
                      </a:r>
                      <a:r>
                        <a:rPr lang="ko-KR" altLang="en-US" sz="1400" dirty="0"/>
                        <a:t> 개발환경 구축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0070C0"/>
                          </a:solidFill>
                        </a:rPr>
                        <a:t>진행중</a:t>
                      </a:r>
                      <a:endParaRPr lang="ko-KR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라즈베리파이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웹서버</a:t>
                      </a:r>
                      <a:r>
                        <a:rPr lang="ko-KR" altLang="en-US" sz="1400" dirty="0"/>
                        <a:t> 연동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벨기능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3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2016</a:t>
                      </a:r>
                      <a:r>
                        <a:rPr lang="ko-KR" altLang="en-US" sz="1400"/>
                        <a:t>년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월 </a:t>
                      </a:r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62</a:t>
                      </a:r>
                      <a:r>
                        <a:rPr lang="ko-KR" altLang="en-US" sz="1400"/>
                        <a:t>일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H/W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와 </a:t>
                      </a: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웹서버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 연동 및 </a:t>
                      </a: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스트리밍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바탕"/>
                        </a:rPr>
                        <a:t> </a:t>
                      </a:r>
                      <a:endParaRPr lang="ko-KR" altLang="en-US" sz="1400" b="0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latin typeface="+mj-lt"/>
                        </a:rPr>
                        <a:t>안드로이드</a:t>
                      </a:r>
                      <a:r>
                        <a:rPr lang="ko-KR" altLang="en-US" sz="1400" b="0" dirty="0">
                          <a:latin typeface="+mj-lt"/>
                        </a:rPr>
                        <a:t> 웹 </a:t>
                      </a:r>
                      <a:r>
                        <a:rPr lang="ko-KR" altLang="en-US" sz="1400" b="0" dirty="0" err="1">
                          <a:latin typeface="+mj-lt"/>
                        </a:rPr>
                        <a:t>스트리밍</a:t>
                      </a:r>
                      <a:r>
                        <a:rPr lang="ko-KR" altLang="en-US" sz="1400" b="0" dirty="0">
                          <a:latin typeface="+mj-lt"/>
                        </a:rPr>
                        <a:t> 기능 구현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디버깅 및 테스트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미완료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2016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62</a:t>
                      </a:r>
                      <a:r>
                        <a:rPr lang="ko-KR" altLang="en-US" sz="1400" dirty="0"/>
                        <a:t>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215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4" y="568332"/>
            <a:ext cx="12843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5540481"/>
            <a:ext cx="19976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</a:rPr>
              <a:t>Total 196180 </a:t>
            </a:r>
            <a:r>
              <a:rPr lang="ko-KR" altLang="en-US" sz="2800" dirty="0">
                <a:solidFill>
                  <a:schemeClr val="bg1"/>
                </a:solidFill>
              </a:rPr>
              <a:t>원</a:t>
            </a:r>
            <a:r>
              <a:rPr lang="en-US" altLang="ko-KR" sz="28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2386820" y="531753"/>
            <a:ext cx="5792105" cy="1238088"/>
            <a:chOff x="2386820" y="105033"/>
            <a:chExt cx="5792105" cy="1238088"/>
          </a:xfrm>
        </p:grpSpPr>
        <p:grpSp>
          <p:nvGrpSpPr>
            <p:cNvPr id="27" name="그룹 26"/>
            <p:cNvGrpSpPr/>
            <p:nvPr/>
          </p:nvGrpSpPr>
          <p:grpSpPr>
            <a:xfrm>
              <a:off x="2386820" y="105033"/>
              <a:ext cx="3294011" cy="1237619"/>
              <a:chOff x="2386820" y="371144"/>
              <a:chExt cx="3294011" cy="1130266"/>
            </a:xfrm>
          </p:grpSpPr>
          <p:pic>
            <p:nvPicPr>
              <p:cNvPr id="3" name="그림 2"/>
              <p:cNvPicPr preferRelativeResize="0">
                <a:picLocks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564" t="12393" r="19641" b="15402"/>
              <a:stretch/>
            </p:blipFill>
            <p:spPr>
              <a:xfrm>
                <a:off x="2386820" y="383581"/>
                <a:ext cx="1474745" cy="1117829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3996726" y="371144"/>
                <a:ext cx="16017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err="1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라즈베리파이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984533" y="64198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수량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1 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984533" y="910714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단가 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43,800 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원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3997588" y="973789"/>
              <a:ext cx="4181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http://www.icbanq.com/P005716580/B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2371780" y="2102748"/>
            <a:ext cx="5855913" cy="1234788"/>
            <a:chOff x="2371780" y="1439790"/>
            <a:chExt cx="5855913" cy="1234788"/>
          </a:xfrm>
        </p:grpSpPr>
        <p:grpSp>
          <p:nvGrpSpPr>
            <p:cNvPr id="28" name="그룹 27"/>
            <p:cNvGrpSpPr/>
            <p:nvPr/>
          </p:nvGrpSpPr>
          <p:grpSpPr>
            <a:xfrm>
              <a:off x="2371780" y="1439790"/>
              <a:ext cx="3309827" cy="1234788"/>
              <a:chOff x="2414016" y="1586364"/>
              <a:chExt cx="3309827" cy="1234788"/>
            </a:xfrm>
          </p:grpSpPr>
          <p:pic>
            <p:nvPicPr>
              <p:cNvPr id="8" name="그림 7"/>
              <p:cNvPicPr preferRelativeResize="0">
                <a:picLocks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819" t="22445" r="13847" b="17999"/>
              <a:stretch/>
            </p:blipFill>
            <p:spPr>
              <a:xfrm>
                <a:off x="2414016" y="1597152"/>
                <a:ext cx="1476000" cy="122400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4051590" y="1586364"/>
                <a:ext cx="1672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사운드센서 모듈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051589" y="1880533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수량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1 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051589" y="2162509"/>
                <a:ext cx="15616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단가 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6,380 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원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4021453" y="2295240"/>
              <a:ext cx="4206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http://www.icbanq.com/P005688417/S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2426208" y="3670443"/>
            <a:ext cx="5703949" cy="1224000"/>
            <a:chOff x="2426208" y="4134492"/>
            <a:chExt cx="5703949" cy="1224000"/>
          </a:xfrm>
        </p:grpSpPr>
        <p:pic>
          <p:nvPicPr>
            <p:cNvPr id="29" name="그림 28"/>
            <p:cNvPicPr preferRelativeResize="0">
              <a:picLocks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74" t="11555" r="4792" b="6503"/>
            <a:stretch/>
          </p:blipFill>
          <p:spPr>
            <a:xfrm>
              <a:off x="2426208" y="4134492"/>
              <a:ext cx="1476000" cy="1224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37" name="TextBox 36"/>
            <p:cNvSpPr txBox="1"/>
            <p:nvPr/>
          </p:nvSpPr>
          <p:spPr>
            <a:xfrm>
              <a:off x="4160374" y="4139185"/>
              <a:ext cx="1467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인체 감지센서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60373" y="4421162"/>
              <a:ext cx="1088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수량</a:t>
              </a:r>
              <a:r>
                <a: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1 </a:t>
              </a:r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60373" y="4690946"/>
              <a:ext cx="15616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단가 </a:t>
              </a:r>
              <a:r>
                <a: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3,000 </a:t>
              </a:r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174843" y="4985114"/>
              <a:ext cx="3955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http://www.icbanq.com/P000235067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2444881" y="5227350"/>
            <a:ext cx="8007514" cy="1350177"/>
            <a:chOff x="2444880" y="5483382"/>
            <a:chExt cx="22461777" cy="1350177"/>
          </a:xfrm>
        </p:grpSpPr>
        <p:pic>
          <p:nvPicPr>
            <p:cNvPr id="52" name="그림 51"/>
            <p:cNvPicPr preferRelativeResize="0">
              <a:picLocks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0" t="-149" r="8149" b="12540"/>
            <a:stretch/>
          </p:blipFill>
          <p:spPr>
            <a:xfrm>
              <a:off x="2444880" y="5483382"/>
              <a:ext cx="4087930" cy="1224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53" name="TextBox 52"/>
            <p:cNvSpPr txBox="1"/>
            <p:nvPr/>
          </p:nvSpPr>
          <p:spPr>
            <a:xfrm>
              <a:off x="7354992" y="5534395"/>
              <a:ext cx="1005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잠금모듈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243058" y="5897071"/>
              <a:ext cx="10887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수량</a:t>
              </a:r>
              <a:r>
                <a: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1 </a:t>
              </a:r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303516" y="6183977"/>
              <a:ext cx="1830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단가 </a:t>
              </a:r>
              <a:r>
                <a: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143,000 </a:t>
              </a:r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97575" y="6495005"/>
              <a:ext cx="176090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</a:rPr>
                <a:t>http://</a:t>
              </a:r>
              <a:r>
                <a:rPr lang="en-US" altLang="ko-KR" sz="1600" dirty="0">
                  <a:solidFill>
                    <a:schemeClr val="bg1"/>
                  </a:solidFill>
                </a:rPr>
                <a:t>www.motormall.co.kr/shop/goods/goods_view.php?goodsno=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2596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4477" y="515066"/>
            <a:ext cx="20120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팀</a:t>
            </a:r>
            <a:r>
              <a:rPr lang="en-US" altLang="ko-KR" sz="40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</a:t>
            </a:r>
            <a:r>
              <a:rPr lang="ko-KR" altLang="en-US" sz="40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</a:t>
            </a:r>
            <a:endParaRPr lang="en-US" altLang="ko-KR" sz="40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0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목표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950240"/>
              </p:ext>
            </p:extLst>
          </p:nvPr>
        </p:nvGraphicFramePr>
        <p:xfrm>
          <a:off x="2928646" y="1292733"/>
          <a:ext cx="8128000" cy="3820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06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Capstone </a:t>
                      </a:r>
                      <a:r>
                        <a:rPr lang="ko-KR" altLang="en-US" dirty="0"/>
                        <a:t>수업의 목표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/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저희가 만든</a:t>
                      </a:r>
                      <a:r>
                        <a:rPr lang="ko-KR" altLang="en-US" baseline="0" dirty="0"/>
                        <a:t> </a:t>
                      </a:r>
                      <a:r>
                        <a:rPr lang="en-US" altLang="ko-KR" baseline="0" dirty="0" err="1"/>
                        <a:t>IoT</a:t>
                      </a:r>
                      <a:r>
                        <a:rPr lang="ko-KR" altLang="en-US" baseline="0" dirty="0"/>
                        <a:t>제품으로 </a:t>
                      </a:r>
                      <a:r>
                        <a:rPr lang="en-US" altLang="ko-KR" dirty="0"/>
                        <a:t>2016</a:t>
                      </a:r>
                      <a:r>
                        <a:rPr lang="ko-KR" altLang="en-US" dirty="0"/>
                        <a:t>년 하반기 인천에서 열리는 </a:t>
                      </a:r>
                      <a:r>
                        <a:rPr lang="en-US" altLang="ko-KR" dirty="0"/>
                        <a:t>SW</a:t>
                      </a:r>
                      <a:r>
                        <a:rPr lang="ko-KR" altLang="en-US" dirty="0"/>
                        <a:t>융합 </a:t>
                      </a:r>
                      <a:r>
                        <a:rPr lang="ko-KR" altLang="en-US" dirty="0" err="1"/>
                        <a:t>해카톤</a:t>
                      </a:r>
                      <a:r>
                        <a:rPr lang="ko-KR" altLang="en-US" dirty="0"/>
                        <a:t> 대회 참가하고 싶습니다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/>
                        <a:t>이대감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Capstone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ko-KR" altLang="en-US" baseline="0" dirty="0"/>
                        <a:t>프로젝트를 통해 회사에서는 어떻게 직무수행을 하는지 실무와 직결된 프로젝트 경험을 하고 싶습니다</a:t>
                      </a:r>
                      <a:r>
                        <a:rPr lang="en-US" altLang="ko-KR" baseline="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/>
                        <a:t>남길동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실무에서 사용하는 여러 기술과 정보 등이 무엇이 있는지 알고 배우고 싶습니다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/>
                        <a:t>김길동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최근 </a:t>
                      </a:r>
                      <a:r>
                        <a:rPr lang="en-US" altLang="ko-KR" dirty="0" err="1"/>
                        <a:t>IoT</a:t>
                      </a:r>
                      <a:r>
                        <a:rPr lang="ko-KR" altLang="en-US" dirty="0"/>
                        <a:t>제품이 각광받고 있음에 따라</a:t>
                      </a:r>
                      <a:r>
                        <a:rPr lang="ko-KR" altLang="en-US" baseline="0" dirty="0"/>
                        <a:t> </a:t>
                      </a:r>
                      <a:r>
                        <a:rPr lang="ko-KR" altLang="en-US" dirty="0"/>
                        <a:t>처음부터 끝까지 스스로 계획하고 설계하는 </a:t>
                      </a:r>
                      <a:r>
                        <a:rPr lang="en-US" altLang="ko-KR" dirty="0" err="1"/>
                        <a:t>IoT</a:t>
                      </a:r>
                      <a:r>
                        <a:rPr lang="ko-KR" altLang="en-US" baseline="0" dirty="0"/>
                        <a:t>를 제품을 개발해보고 싶습니다</a:t>
                      </a:r>
                      <a:r>
                        <a:rPr lang="en-US" altLang="ko-KR" baseline="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/>
                        <a:t>김대감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수업시간에서</a:t>
                      </a:r>
                      <a:r>
                        <a:rPr lang="ko-KR" altLang="en-US" baseline="0" dirty="0"/>
                        <a:t> 배울 수 없는 프로그래밍 기술과 실무적으로 어떤 단계를 거쳐 프로그래밍을 하는지 배우고 싶습니다</a:t>
                      </a:r>
                      <a:r>
                        <a:rPr lang="en-US" altLang="ko-KR" baseline="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955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1345</Words>
  <Application>Microsoft Office PowerPoint</Application>
  <PresentationFormat>와이드스크린</PresentationFormat>
  <Paragraphs>348</Paragraphs>
  <Slides>17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나눔바른고딕</vt:lpstr>
      <vt:lpstr>맑은 고딕</vt:lpstr>
      <vt:lpstr>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khkwon</cp:lastModifiedBy>
  <cp:revision>224</cp:revision>
  <dcterms:created xsi:type="dcterms:W3CDTF">2015-04-04T02:27:52Z</dcterms:created>
  <dcterms:modified xsi:type="dcterms:W3CDTF">2021-09-09T02:21:01Z</dcterms:modified>
</cp:coreProperties>
</file>