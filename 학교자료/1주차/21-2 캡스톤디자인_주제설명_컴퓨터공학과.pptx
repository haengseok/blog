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331" r:id="rId2"/>
    <p:sldId id="349" r:id="rId3"/>
    <p:sldId id="346" r:id="rId4"/>
    <p:sldId id="334" r:id="rId5"/>
    <p:sldId id="337" r:id="rId6"/>
    <p:sldId id="348" r:id="rId7"/>
    <p:sldId id="347" r:id="rId8"/>
  </p:sldIdLst>
  <p:sldSz cx="9144000" cy="6858000" type="screen4x3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5A9E"/>
    <a:srgbClr val="008080"/>
    <a:srgbClr val="A20000"/>
    <a:srgbClr val="0066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794" autoAdjust="0"/>
  </p:normalViewPr>
  <p:slideViewPr>
    <p:cSldViewPr>
      <p:cViewPr varScale="1">
        <p:scale>
          <a:sx n="96" d="100"/>
          <a:sy n="96" d="100"/>
        </p:scale>
        <p:origin x="20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152"/>
    </p:cViewPr>
  </p:sorterViewPr>
  <p:notesViewPr>
    <p:cSldViewPr>
      <p:cViewPr varScale="1">
        <p:scale>
          <a:sx n="109" d="100"/>
          <a:sy n="109" d="100"/>
        </p:scale>
        <p:origin x="4272" y="13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BE5B0E7-F8FB-4819-8A13-3D25DEC1073B}" type="datetimeFigureOut">
              <a:rPr lang="ko-KR" altLang="en-US" smtClean="0"/>
              <a:pPr/>
              <a:t>2021-09-02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2260A4FD-E0B3-49B5-BFE3-D54A113780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84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권기학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문현준 교수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0A4FD-E0B3-49B5-BFE3-D54A1137802D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958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altLang="ko-KR" dirty="0"/>
          </a:p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4" name="직선 연결선 3"/>
          <p:cNvCxnSpPr/>
          <p:nvPr userDrawn="1"/>
        </p:nvCxnSpPr>
        <p:spPr bwMode="auto">
          <a:xfrm>
            <a:off x="696631" y="1385392"/>
            <a:ext cx="7784506" cy="0"/>
          </a:xfrm>
          <a:prstGeom prst="line">
            <a:avLst/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직선 연결선 6"/>
          <p:cNvCxnSpPr/>
          <p:nvPr userDrawn="1"/>
        </p:nvCxnSpPr>
        <p:spPr bwMode="auto">
          <a:xfrm>
            <a:off x="690261" y="5949280"/>
            <a:ext cx="7784506" cy="0"/>
          </a:xfrm>
          <a:prstGeom prst="line">
            <a:avLst/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직사각형 7"/>
          <p:cNvSpPr/>
          <p:nvPr userDrawn="1"/>
        </p:nvSpPr>
        <p:spPr>
          <a:xfrm>
            <a:off x="713063" y="878005"/>
            <a:ext cx="2337499" cy="463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800" b="1" cap="none" spc="0" dirty="0" err="1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함초롬돋움" panose="020B0604000101010101" pitchFamily="50" charset="-127"/>
                <a:cs typeface="함초롬돋움" panose="020B0604000101010101" pitchFamily="50" charset="-127"/>
              </a:rPr>
              <a:t>CapstoneDesign</a:t>
            </a:r>
            <a:r>
              <a:rPr lang="en-US" altLang="ko-KR" sz="1800" b="1" cap="none" spc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함초롬돋움" panose="020B0604000101010101" pitchFamily="50" charset="-127"/>
                <a:cs typeface="함초롬돋움" panose="020B0604000101010101" pitchFamily="50" charset="-127"/>
              </a:rPr>
              <a:t> &gt;&gt;</a:t>
            </a:r>
            <a:endParaRPr lang="en-US" altLang="ko-KR" sz="1800" b="1" cap="none" spc="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299128"/>
            <a:ext cx="8640960" cy="5054490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chemeClr val="tx2"/>
              </a:buClr>
              <a:defRPr sz="1600">
                <a:solidFill>
                  <a:srgbClr val="A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lnSpc>
                <a:spcPct val="150000"/>
              </a:lnSpc>
              <a:defRPr sz="14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2pPr>
            <a:lvl3pPr>
              <a:lnSpc>
                <a:spcPct val="150000"/>
              </a:lnSpc>
              <a:defRPr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3pPr>
            <a:lvl4pPr>
              <a:lnSpc>
                <a:spcPct val="150000"/>
              </a:lnSpc>
              <a:defRPr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4pPr>
            <a:lvl5pPr>
              <a:lnSpc>
                <a:spcPct val="150000"/>
              </a:lnSpc>
              <a:defRPr sz="10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5pPr>
            <a:lvl6pPr>
              <a:lnSpc>
                <a:spcPct val="150000"/>
              </a:lnSpc>
              <a:buFont typeface="맑은 고딕" pitchFamily="50" charset="-127"/>
              <a:buChar char="–"/>
              <a:defRPr sz="14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6pPr>
            <a:lvl7pPr>
              <a:lnSpc>
                <a:spcPct val="150000"/>
              </a:lnSpc>
              <a:buFont typeface="맑은 고딕" pitchFamily="50" charset="-127"/>
              <a:buChar char="–"/>
              <a:defRPr sz="14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7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5"/>
            <a:endParaRPr lang="en-US" altLang="ko-KR" dirty="0"/>
          </a:p>
          <a:p>
            <a:pPr lvl="6"/>
            <a:endParaRPr lang="ko-KR" altLang="en-US" dirty="0"/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6758880" y="6350023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77ED70-D72D-4F2F-AF2B-E2052BA0CA2F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+mn-cs"/>
              </a:rPr>
              <a:t>/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+mn-cs"/>
              </a:rPr>
              <a:t>12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25" name="AutoShape 4"/>
          <p:cNvSpPr>
            <a:spLocks noChangeArrowheads="1"/>
          </p:cNvSpPr>
          <p:nvPr/>
        </p:nvSpPr>
        <p:spPr bwMode="auto">
          <a:xfrm flipV="1">
            <a:off x="251520" y="602313"/>
            <a:ext cx="8640959" cy="508501"/>
          </a:xfrm>
          <a:prstGeom prst="cube">
            <a:avLst>
              <a:gd name="adj" fmla="val 3444"/>
            </a:avLst>
          </a:prstGeom>
          <a:solidFill>
            <a:srgbClr val="71A7C5"/>
          </a:solidFill>
          <a:ln w="6350">
            <a:solidFill>
              <a:srgbClr val="384F7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900">
              <a:latin typeface="HY울릉도M" pitchFamily="18" charset="-127"/>
              <a:ea typeface="HY울릉도M" pitchFamily="18" charset="-127"/>
            </a:endParaRPr>
          </a:p>
        </p:txBody>
      </p:sp>
      <p:grpSp>
        <p:nvGrpSpPr>
          <p:cNvPr id="33" name="그룹 32"/>
          <p:cNvGrpSpPr/>
          <p:nvPr userDrawn="1"/>
        </p:nvGrpSpPr>
        <p:grpSpPr>
          <a:xfrm>
            <a:off x="6356689" y="332656"/>
            <a:ext cx="2535791" cy="620217"/>
            <a:chOff x="875114" y="916425"/>
            <a:chExt cx="2535791" cy="620217"/>
          </a:xfrm>
        </p:grpSpPr>
        <p:sp>
          <p:nvSpPr>
            <p:cNvPr id="28" name="AutoShape 6"/>
            <p:cNvSpPr>
              <a:spLocks noChangeArrowheads="1"/>
            </p:cNvSpPr>
            <p:nvPr/>
          </p:nvSpPr>
          <p:spPr bwMode="auto">
            <a:xfrm>
              <a:off x="910875" y="922640"/>
              <a:ext cx="2457767" cy="6140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438 w 21600"/>
                <a:gd name="T13" fmla="*/ 3454 h 21600"/>
                <a:gd name="T14" fmla="*/ 18162 w 21600"/>
                <a:gd name="T15" fmla="*/ 181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276" y="21600"/>
                  </a:lnTo>
                  <a:lnTo>
                    <a:pt x="18324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1">
              <a:gsLst>
                <a:gs pos="0">
                  <a:srgbClr val="71A7C5"/>
                </a:gs>
                <a:gs pos="100000">
                  <a:srgbClr val="BBE0E3"/>
                </a:gs>
              </a:gsLst>
              <a:lin ang="5400000" scaled="1"/>
            </a:gradFill>
            <a:ln w="635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9" name="AutoShape 7"/>
            <p:cNvSpPr>
              <a:spLocks noChangeArrowheads="1"/>
            </p:cNvSpPr>
            <p:nvPr userDrawn="1"/>
          </p:nvSpPr>
          <p:spPr bwMode="auto">
            <a:xfrm>
              <a:off x="1009489" y="977328"/>
              <a:ext cx="2248618" cy="49468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269 w 21600"/>
                <a:gd name="T13" fmla="*/ 3256 h 21600"/>
                <a:gd name="T14" fmla="*/ 18331 w 21600"/>
                <a:gd name="T15" fmla="*/ 1834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945" y="21600"/>
                  </a:lnTo>
                  <a:lnTo>
                    <a:pt x="18655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0F9FF"/>
                </a:gs>
                <a:gs pos="100000">
                  <a:srgbClr val="CCECFF"/>
                </a:gs>
              </a:gsLst>
              <a:lin ang="5400000" scaled="1"/>
            </a:gradFill>
            <a:ln w="9525" algn="ctr">
              <a:solidFill>
                <a:srgbClr val="F8F8F8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Capstone Design</a:t>
              </a:r>
            </a:p>
            <a:p>
              <a:pPr algn="ctr">
                <a:lnSpc>
                  <a:spcPct val="130000"/>
                </a:lnSpc>
              </a:pP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주제 설명</a:t>
              </a:r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" name="Freeform 8"/>
            <p:cNvSpPr>
              <a:spLocks/>
            </p:cNvSpPr>
            <p:nvPr/>
          </p:nvSpPr>
          <p:spPr bwMode="auto">
            <a:xfrm flipV="1">
              <a:off x="2976353" y="916425"/>
              <a:ext cx="434552" cy="620217"/>
            </a:xfrm>
            <a:custGeom>
              <a:avLst/>
              <a:gdLst>
                <a:gd name="T0" fmla="*/ 0 w 545"/>
                <a:gd name="T1" fmla="*/ 0 h 499"/>
                <a:gd name="T2" fmla="*/ 1 w 545"/>
                <a:gd name="T3" fmla="*/ 272 h 499"/>
                <a:gd name="T4" fmla="*/ 1 w 545"/>
                <a:gd name="T5" fmla="*/ 499 h 499"/>
                <a:gd name="T6" fmla="*/ 0 w 545"/>
                <a:gd name="T7" fmla="*/ 0 h 49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5"/>
                <a:gd name="T13" fmla="*/ 0 h 499"/>
                <a:gd name="T14" fmla="*/ 545 w 545"/>
                <a:gd name="T15" fmla="*/ 499 h 49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5" h="499">
                  <a:moveTo>
                    <a:pt x="0" y="0"/>
                  </a:moveTo>
                  <a:lnTo>
                    <a:pt x="545" y="272"/>
                  </a:lnTo>
                  <a:lnTo>
                    <a:pt x="499" y="499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71A7C5"/>
                </a:gs>
                <a:gs pos="100000">
                  <a:srgbClr val="BBE0E3"/>
                </a:gs>
              </a:gsLst>
              <a:lin ang="5400000" scaled="1"/>
            </a:gradFill>
            <a:ln w="635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" name="Freeform 9"/>
            <p:cNvSpPr>
              <a:spLocks/>
            </p:cNvSpPr>
            <p:nvPr/>
          </p:nvSpPr>
          <p:spPr bwMode="auto">
            <a:xfrm flipH="1" flipV="1">
              <a:off x="875114" y="916425"/>
              <a:ext cx="416130" cy="620217"/>
            </a:xfrm>
            <a:custGeom>
              <a:avLst/>
              <a:gdLst>
                <a:gd name="T0" fmla="*/ 0 w 545"/>
                <a:gd name="T1" fmla="*/ 0 h 499"/>
                <a:gd name="T2" fmla="*/ 1 w 545"/>
                <a:gd name="T3" fmla="*/ 272 h 499"/>
                <a:gd name="T4" fmla="*/ 1 w 545"/>
                <a:gd name="T5" fmla="*/ 499 h 499"/>
                <a:gd name="T6" fmla="*/ 0 w 545"/>
                <a:gd name="T7" fmla="*/ 0 h 49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5"/>
                <a:gd name="T13" fmla="*/ 0 h 499"/>
                <a:gd name="T14" fmla="*/ 545 w 545"/>
                <a:gd name="T15" fmla="*/ 499 h 49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5" h="499">
                  <a:moveTo>
                    <a:pt x="0" y="0"/>
                  </a:moveTo>
                  <a:lnTo>
                    <a:pt x="545" y="272"/>
                  </a:lnTo>
                  <a:lnTo>
                    <a:pt x="499" y="499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71A7C5"/>
                </a:gs>
                <a:gs pos="100000">
                  <a:srgbClr val="BBE0E3"/>
                </a:gs>
              </a:gsLst>
              <a:lin ang="5400000" scaled="1"/>
            </a:gradFill>
            <a:ln w="635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599920"/>
            <a:ext cx="6120680" cy="504056"/>
          </a:xfrm>
        </p:spPr>
        <p:txBody>
          <a:bodyPr>
            <a:normAutofit/>
          </a:bodyPr>
          <a:lstStyle>
            <a:lvl1pPr marL="0" indent="346075" algn="l"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2" name="Line 1229"/>
          <p:cNvSpPr>
            <a:spLocks noChangeShapeType="1"/>
          </p:cNvSpPr>
          <p:nvPr userDrawn="1"/>
        </p:nvSpPr>
        <p:spPr bwMode="auto">
          <a:xfrm>
            <a:off x="1763689" y="6525345"/>
            <a:ext cx="6408711" cy="0"/>
          </a:xfrm>
          <a:prstGeom prst="line">
            <a:avLst/>
          </a:prstGeom>
          <a:noFill/>
          <a:ln w="38100" cap="rnd">
            <a:solidFill>
              <a:srgbClr val="90909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sz="900"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254253" y="6391070"/>
            <a:ext cx="1509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나눔고딕코딩" panose="020D0009000000000000" pitchFamily="49" charset="-127"/>
                <a:cs typeface="Courier New" panose="02070309020205020404" pitchFamily="49" charset="0"/>
              </a:rPr>
              <a:t>hmoon</a:t>
            </a:r>
            <a:r>
              <a:rPr lang="en-US" altLang="ko-KR" sz="1000" b="1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나눔고딕코딩" panose="020D0009000000000000" pitchFamily="49" charset="-127"/>
                <a:cs typeface="Courier New" panose="02070309020205020404" pitchFamily="49" charset="0"/>
              </a:rPr>
              <a:t> / </a:t>
            </a:r>
            <a:r>
              <a:rPr lang="en-US" altLang="ko-KR" sz="1000" b="1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나눔고딕코딩" panose="020D0009000000000000" pitchFamily="49" charset="-127"/>
                <a:cs typeface="Courier New" panose="02070309020205020404" pitchFamily="49" charset="0"/>
              </a:rPr>
              <a:t>kevinkkh</a:t>
            </a:r>
            <a:r>
              <a:rPr lang="en-US" altLang="ko-KR" sz="1000" b="1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나눔고딕코딩" panose="020D0009000000000000" pitchFamily="49" charset="-127"/>
                <a:cs typeface="Courier New" panose="02070309020205020404" pitchFamily="49" charset="0"/>
              </a:rPr>
              <a:t> @sejong.ac.kr</a:t>
            </a:r>
            <a:endParaRPr lang="ko-KR" altLang="en-US" sz="1000" b="1" dirty="0">
              <a:solidFill>
                <a:srgbClr val="002060"/>
              </a:solidFill>
              <a:effectLst/>
              <a:latin typeface="Courier New" panose="02070309020205020404" pitchFamily="49" charset="0"/>
              <a:ea typeface="나눔고딕코딩" panose="020D0009000000000000" pitchFamily="49" charset="-127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245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A66E072-67C5-46E2-9BB8-09139D412B72}" type="datetime1">
              <a:rPr lang="ko-KR" altLang="en-US" smtClean="0"/>
              <a:pPr/>
              <a:t>2021-09-02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yohans@sejong.ac.kr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177ED70-D72D-4F2F-AF2B-E2052BA0CA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5245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2FA7EAF-39B5-4D12-BD8E-2A35D46111B1}" type="datetime1">
              <a:rPr lang="ko-KR" altLang="en-US" smtClean="0"/>
              <a:pPr/>
              <a:t>2021-09-02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yohans@sejong.ac.kr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177ED70-D72D-4F2F-AF2B-E2052BA0CA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65245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CA1FE33-4F44-4FEC-980F-D985A2CF2C59}" type="datetime1">
              <a:rPr lang="ko-KR" altLang="en-US" smtClean="0"/>
              <a:pPr/>
              <a:t>2021-09-02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yohans@sejong.ac.kr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177ED70-D72D-4F2F-AF2B-E2052BA0CA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245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1E39591-2F40-4C13-9457-D9A8C082675C}" type="datetime1">
              <a:rPr lang="ko-KR" altLang="en-US" smtClean="0"/>
              <a:pPr/>
              <a:t>2021-09-02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yohans@sejong.ac.kr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177ED70-D72D-4F2F-AF2B-E2052BA0CA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5245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2AB547A-9DF3-400F-BCED-83FD004A75BD}" type="datetime1">
              <a:rPr lang="ko-KR" altLang="en-US" smtClean="0"/>
              <a:pPr/>
              <a:t>2021-09-02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yohans@sejong.ac.kr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177ED70-D72D-4F2F-AF2B-E2052BA0CA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5245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766D41-45BB-4219-A7A8-2DBEE6F84CBF}" type="datetime1">
              <a:rPr lang="ko-KR" altLang="en-US" smtClean="0"/>
              <a:pPr/>
              <a:t>2021-09-02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yohans@sejong.ac.kr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177ED70-D72D-4F2F-AF2B-E2052BA0CA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5245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1641AC0-2A38-4BF8-AB03-4F540D88FEE5}" type="datetime1">
              <a:rPr lang="ko-KR" altLang="en-US" smtClean="0"/>
              <a:pPr/>
              <a:t>2021-09-02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yohans@sejong.ac.kr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177ED70-D72D-4F2F-AF2B-E2052BA0CA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245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51CFDAD-E5E7-4C64-83D5-96D96405A89F}" type="datetime1">
              <a:rPr lang="ko-KR" altLang="en-US" smtClean="0"/>
              <a:pPr/>
              <a:t>2021-09-02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yohans@sejong.ac.kr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177ED70-D72D-4F2F-AF2B-E2052BA0CA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245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718ECF5-B521-43D6-8B50-1ED9D376119E}" type="datetime1">
              <a:rPr lang="ko-KR" altLang="en-US" smtClean="0"/>
              <a:pPr/>
              <a:t>2021-09-02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yohans@sejong.ac.kr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177ED70-D72D-4F2F-AF2B-E2052BA0CA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28650" y="274638"/>
            <a:ext cx="7686700" cy="582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5786" y="1357298"/>
            <a:ext cx="7572428" cy="4768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1" hangingPunct="1">
        <a:spcBef>
          <a:spcPct val="0"/>
        </a:spcBef>
        <a:buNone/>
        <a:defRPr sz="3000" kern="1200">
          <a:solidFill>
            <a:schemeClr val="tx1"/>
          </a:solidFill>
          <a:latin typeface="HY헤드라인M" pitchFamily="18" charset="-127"/>
          <a:ea typeface="HY헤드라인M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Wingdings" pitchFamily="2" charset="2"/>
        <a:buChar char="v"/>
        <a:defRPr sz="2000" b="1" kern="1200">
          <a:solidFill>
            <a:srgbClr val="C00000"/>
          </a:solidFill>
          <a:latin typeface="HY견고딕" pitchFamily="18" charset="-127"/>
          <a:ea typeface="HY견고딕" pitchFamily="18" charset="-127"/>
          <a:cs typeface="+mn-cs"/>
        </a:defRPr>
      </a:lvl1pPr>
      <a:lvl2pPr marL="804863" indent="-347663" algn="l" defTabSz="914400" rtl="0" eaLnBrk="1" latinLnBrk="1" hangingPunct="1">
        <a:spcBef>
          <a:spcPct val="20000"/>
        </a:spcBef>
        <a:buClr>
          <a:schemeClr val="tx2"/>
        </a:buClr>
        <a:buFont typeface="Wingdings" pitchFamily="2" charset="2"/>
        <a:buChar char="u"/>
        <a:defRPr sz="1800" b="1" kern="1200">
          <a:solidFill>
            <a:schemeClr val="tx1"/>
          </a:solidFill>
          <a:latin typeface="HY그래픽M" pitchFamily="18" charset="-127"/>
          <a:ea typeface="HY그래픽M" pitchFamily="18" charset="-127"/>
          <a:cs typeface="Lucida Sans Unicode" pitchFamily="34" charset="0"/>
        </a:defRPr>
      </a:lvl2pPr>
      <a:lvl3pPr marL="1255713" indent="-341313" algn="l" defTabSz="914400" rtl="0" eaLnBrk="1" latinLnBrk="1" hangingPunct="1">
        <a:spcBef>
          <a:spcPct val="20000"/>
        </a:spcBef>
        <a:buFont typeface="Wingdings" pitchFamily="2" charset="2"/>
        <a:buChar char="ü"/>
        <a:defRPr sz="1600" b="1" kern="1200">
          <a:solidFill>
            <a:schemeClr val="tx1"/>
          </a:solidFill>
          <a:latin typeface="HY그래픽M" pitchFamily="18" charset="-127"/>
          <a:ea typeface="HY그래픽M" pitchFamily="18" charset="-127"/>
          <a:cs typeface="+mn-cs"/>
        </a:defRPr>
      </a:lvl3pPr>
      <a:lvl4pPr marL="1706563" indent="-334963" algn="l" defTabSz="914400" rtl="0" eaLnBrk="1" latinLnBrk="1" hangingPunct="1">
        <a:spcBef>
          <a:spcPct val="20000"/>
        </a:spcBef>
        <a:buFont typeface="Wingdings" pitchFamily="2" charset="2"/>
        <a:buChar char="§"/>
        <a:defRPr sz="1600" b="1" kern="1200">
          <a:solidFill>
            <a:schemeClr val="tx1"/>
          </a:solidFill>
          <a:latin typeface="HY그래픽M" pitchFamily="18" charset="-127"/>
          <a:ea typeface="HY그래픽M" pitchFamily="18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HY그래픽M" pitchFamily="18" charset="-127"/>
          <a:ea typeface="HY그래픽M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.go.kr/" TargetMode="External"/><Relationship Id="rId2" Type="http://schemas.openxmlformats.org/officeDocument/2006/relationships/hyperlink" Target="http://www.aihub.or.kr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068960"/>
            <a:ext cx="6400800" cy="273630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ko-KR" altLang="en-US" sz="3600" dirty="0">
                <a:latin typeface="HY견고딕" pitchFamily="18" charset="-127"/>
                <a:ea typeface="HY견고딕" pitchFamily="18" charset="-127"/>
              </a:rPr>
              <a:t>개요 및 주제 설명</a:t>
            </a:r>
            <a:endParaRPr lang="en-US" altLang="ko-KR" sz="3600" dirty="0">
              <a:latin typeface="HY견고딕" pitchFamily="18" charset="-127"/>
              <a:ea typeface="HY견고딕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컴퓨터공학과  </a:t>
            </a:r>
            <a:r>
              <a:rPr lang="ko-KR" alt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문현준교수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/ </a:t>
            </a:r>
            <a:r>
              <a:rPr lang="ko-KR" alt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권기학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 교수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2021</a:t>
            </a:r>
            <a:r>
              <a:rPr lang="ko-KR" altLang="en-US" sz="20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년 </a:t>
            </a:r>
            <a:r>
              <a:rPr lang="en-US" altLang="ko-KR" sz="20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9</a:t>
            </a:r>
            <a:r>
              <a:rPr lang="ko-KR" altLang="en-US" sz="20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월 </a:t>
            </a:r>
            <a:r>
              <a:rPr lang="en-US" altLang="ko-KR" sz="20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3</a:t>
            </a:r>
            <a:r>
              <a:rPr lang="ko-KR" altLang="en-US" sz="20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일</a:t>
            </a:r>
            <a:endParaRPr lang="en-US" altLang="ko-KR" sz="2000" dirty="0">
              <a:solidFill>
                <a:srgbClr val="FF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794519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Capstone Design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B0A38C0-0D87-4E70-A9A8-772C7865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7ED70-D72D-4F2F-AF2B-E2052BA0CA2F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직사각형 23">
            <a:extLst>
              <a:ext uri="{FF2B5EF4-FFF2-40B4-BE49-F238E27FC236}">
                <a16:creationId xmlns:a16="http://schemas.microsoft.com/office/drawing/2014/main" id="{3570D3F9-AED7-47B5-A200-FC9A5CA92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1342520"/>
            <a:ext cx="2736304" cy="470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10000"/>
              </a:lnSpc>
              <a:spcBef>
                <a:spcPts val="1800"/>
              </a:spcBef>
              <a:spcAft>
                <a:spcPts val="300"/>
              </a:spcAft>
              <a:defRPr/>
            </a:pPr>
            <a:r>
              <a:rPr lang="ko-KR" altLang="en-US" sz="2400" b="1" spc="-1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나눔고딕" pitchFamily="50" charset="-127"/>
                <a:ea typeface="나눔고딕" pitchFamily="50" charset="-127"/>
              </a:rPr>
              <a:t>주제선정  </a:t>
            </a:r>
            <a:endParaRPr lang="en-US" altLang="ko-KR" sz="2400" b="1" spc="-1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0F3209-7173-4BDF-8207-26FFD04B34F4}"/>
              </a:ext>
            </a:extLst>
          </p:cNvPr>
          <p:cNvSpPr/>
          <p:nvPr/>
        </p:nvSpPr>
        <p:spPr>
          <a:xfrm>
            <a:off x="1373654" y="2117755"/>
            <a:ext cx="701477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 제시된 </a:t>
            </a:r>
            <a:r>
              <a:rPr lang="en-US" altLang="ko-KR" dirty="0"/>
              <a:t>4</a:t>
            </a:r>
            <a:r>
              <a:rPr lang="ko-KR" altLang="en-US" dirty="0"/>
              <a:t>개 과제 중 </a:t>
            </a:r>
            <a:r>
              <a:rPr lang="en-US" altLang="ko-KR" dirty="0"/>
              <a:t>1</a:t>
            </a:r>
            <a:r>
              <a:rPr lang="ko-KR" altLang="en-US" dirty="0"/>
              <a:t>개 선택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 과제</a:t>
            </a:r>
            <a:r>
              <a:rPr lang="en-US" altLang="ko-KR" dirty="0"/>
              <a:t>1</a:t>
            </a:r>
            <a:r>
              <a:rPr lang="ko-KR" altLang="en-US" dirty="0"/>
              <a:t>과 과제</a:t>
            </a:r>
            <a:r>
              <a:rPr lang="en-US" altLang="ko-KR" dirty="0"/>
              <a:t>2</a:t>
            </a:r>
            <a:r>
              <a:rPr lang="ko-KR" altLang="en-US" dirty="0"/>
              <a:t>는 문현준 교수 멘토링 과제</a:t>
            </a:r>
            <a:r>
              <a:rPr lang="en-US" altLang="ko-KR" dirty="0"/>
              <a:t>(</a:t>
            </a:r>
            <a:r>
              <a:rPr lang="ko-KR" altLang="en-US" dirty="0"/>
              <a:t>상세내용 뒷장 참조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과제</a:t>
            </a:r>
            <a:r>
              <a:rPr lang="en-US" altLang="ko-KR" dirty="0"/>
              <a:t>3</a:t>
            </a:r>
            <a:r>
              <a:rPr lang="ko-KR" altLang="en-US" dirty="0"/>
              <a:t>과 과제</a:t>
            </a:r>
            <a:r>
              <a:rPr lang="en-US" altLang="ko-KR" dirty="0"/>
              <a:t>4</a:t>
            </a:r>
            <a:r>
              <a:rPr lang="ko-KR" altLang="en-US" dirty="0"/>
              <a:t>는 기업</a:t>
            </a:r>
            <a:r>
              <a:rPr lang="en-US" altLang="ko-KR" dirty="0"/>
              <a:t>(</a:t>
            </a:r>
            <a:r>
              <a:rPr lang="ko-KR" altLang="en-US" dirty="0"/>
              <a:t>에이텍</a:t>
            </a:r>
            <a:r>
              <a:rPr lang="en-US" altLang="ko-KR" dirty="0"/>
              <a:t>) </a:t>
            </a:r>
            <a:r>
              <a:rPr lang="ko-KR" altLang="en-US" dirty="0"/>
              <a:t>멘토링 과제</a:t>
            </a:r>
            <a:r>
              <a:rPr lang="en-US" altLang="ko-KR" dirty="0"/>
              <a:t>(</a:t>
            </a:r>
            <a:r>
              <a:rPr lang="ko-KR" altLang="en-US" dirty="0"/>
              <a:t>상세내용 뒷장 참조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5A4E13-3A63-40E5-91BC-8159266223A2}"/>
              </a:ext>
            </a:extLst>
          </p:cNvPr>
          <p:cNvSpPr/>
          <p:nvPr/>
        </p:nvSpPr>
        <p:spPr>
          <a:xfrm>
            <a:off x="899592" y="422012"/>
            <a:ext cx="52533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spcAft>
                <a:spcPts val="300"/>
              </a:spcAft>
              <a:defRPr/>
            </a:pPr>
            <a:r>
              <a:rPr lang="ko-KR" altLang="en-US" sz="28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+mj-ea"/>
                <a:ea typeface="+mj-ea"/>
              </a:rPr>
              <a:t>프로젝트 주제</a:t>
            </a:r>
            <a:r>
              <a:rPr lang="en-US" altLang="ko-KR" sz="28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+mj-ea"/>
                <a:ea typeface="+mj-ea"/>
              </a:rPr>
              <a:t> </a:t>
            </a:r>
            <a:r>
              <a:rPr lang="ko-KR" altLang="en-US" sz="28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+mj-ea"/>
                <a:ea typeface="+mj-ea"/>
              </a:rPr>
              <a:t>선정 및 팀 구성 </a:t>
            </a:r>
            <a:endParaRPr lang="ko-KR" altLang="en-US" sz="28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effectLst/>
              <a:latin typeface="+mj-ea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2A77DE-E624-4932-98EB-01EBEAA70282}"/>
              </a:ext>
            </a:extLst>
          </p:cNvPr>
          <p:cNvSpPr txBox="1"/>
          <p:nvPr/>
        </p:nvSpPr>
        <p:spPr>
          <a:xfrm>
            <a:off x="1373654" y="4160237"/>
            <a:ext cx="68328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ICT_RnD</a:t>
            </a:r>
            <a:r>
              <a:rPr lang="en-US" altLang="ko-KR" sz="1200" dirty="0"/>
              <a:t>_</a:t>
            </a:r>
            <a:r>
              <a:rPr lang="ko-KR" altLang="en-US" sz="1200" dirty="0"/>
              <a:t>기술예고</a:t>
            </a:r>
            <a:r>
              <a:rPr lang="en-US" altLang="ko-KR" sz="1200" dirty="0"/>
              <a:t>(IITP) </a:t>
            </a:r>
            <a:endParaRPr lang="ko-KR" altLang="en-US" sz="1200" dirty="0"/>
          </a:p>
          <a:p>
            <a:pPr marL="0" indent="0">
              <a:buNone/>
            </a:pPr>
            <a:endParaRPr lang="en-US" altLang="ko-KR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ko-KR" altLang="en-US" sz="1200" dirty="0">
                <a:solidFill>
                  <a:srgbClr val="FF0000"/>
                </a:solidFill>
              </a:rPr>
              <a:t>인공지능 </a:t>
            </a:r>
            <a:r>
              <a:rPr lang="en-US" altLang="ko-KR" sz="1200" dirty="0">
                <a:solidFill>
                  <a:srgbClr val="FF0000"/>
                </a:solidFill>
              </a:rPr>
              <a:t>/ </a:t>
            </a:r>
            <a:r>
              <a:rPr lang="ko-KR" altLang="en-US" sz="1200" dirty="0">
                <a:solidFill>
                  <a:srgbClr val="FF0000"/>
                </a:solidFill>
              </a:rPr>
              <a:t>딥러닝 빅데이터 활용 관련 정보 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lvl="1"/>
            <a:r>
              <a:rPr lang="en-US" altLang="ko-KR" sz="1200" dirty="0">
                <a:hlinkClick r:id="rId2"/>
              </a:rPr>
              <a:t>http://www.aihub.or.kr/</a:t>
            </a:r>
            <a:r>
              <a:rPr lang="en-US" altLang="ko-KR" sz="1200" dirty="0"/>
              <a:t> : AI HUB </a:t>
            </a:r>
            <a:r>
              <a:rPr lang="ko-KR" altLang="en-US" sz="1200" dirty="0"/>
              <a:t>를 통한 인공지능 학습용 공공</a:t>
            </a:r>
            <a:r>
              <a:rPr lang="en-US" altLang="ko-KR" sz="1200" dirty="0"/>
              <a:t> </a:t>
            </a:r>
            <a:r>
              <a:rPr lang="ko-KR" altLang="en-US" sz="1200" dirty="0"/>
              <a:t>빅데이터 활용</a:t>
            </a:r>
            <a:endParaRPr lang="en-US" altLang="ko-KR" sz="1200" dirty="0"/>
          </a:p>
          <a:p>
            <a:pPr lvl="1"/>
            <a:r>
              <a:rPr lang="en-US" altLang="ko-KR" sz="1200" u="sng" dirty="0">
                <a:solidFill>
                  <a:srgbClr val="FF0000"/>
                </a:solidFill>
                <a:hlinkClick r:id="rId3"/>
              </a:rPr>
              <a:t>https://www.data.go.kr/</a:t>
            </a:r>
            <a:r>
              <a:rPr lang="en-US" altLang="ko-KR" sz="1200" u="sng" dirty="0">
                <a:solidFill>
                  <a:srgbClr val="FF0000"/>
                </a:solidFill>
              </a:rPr>
              <a:t>: </a:t>
            </a:r>
            <a:r>
              <a:rPr lang="ko-KR" altLang="en-US" sz="1200" u="sng" dirty="0" err="1">
                <a:solidFill>
                  <a:srgbClr val="FF0000"/>
                </a:solidFill>
              </a:rPr>
              <a:t>공공데이터포털의</a:t>
            </a:r>
            <a:r>
              <a:rPr lang="ko-KR" altLang="en-US" sz="1200" u="sng" dirty="0">
                <a:solidFill>
                  <a:srgbClr val="FF0000"/>
                </a:solidFill>
              </a:rPr>
              <a:t> 빅데이터</a:t>
            </a:r>
            <a:r>
              <a:rPr lang="en-US" altLang="ko-KR" sz="1200" u="sng" dirty="0">
                <a:solidFill>
                  <a:srgbClr val="FF0000"/>
                </a:solidFill>
              </a:rPr>
              <a:t> </a:t>
            </a:r>
            <a:r>
              <a:rPr lang="ko-KR" altLang="en-US" sz="1200" u="sng" dirty="0">
                <a:solidFill>
                  <a:srgbClr val="FF0000"/>
                </a:solidFill>
              </a:rPr>
              <a:t>활용</a:t>
            </a:r>
            <a:endParaRPr lang="en-US" altLang="ko-KR" sz="1200" u="sng" dirty="0">
              <a:solidFill>
                <a:srgbClr val="FF0000"/>
              </a:solidFill>
            </a:endParaRPr>
          </a:p>
          <a:p>
            <a:pPr lvl="1"/>
            <a:r>
              <a:rPr lang="en-US" altLang="ko-KR" sz="1200" u="sng" dirty="0">
                <a:solidFill>
                  <a:srgbClr val="FF0000"/>
                </a:solidFill>
              </a:rPr>
              <a:t>KITTY Database </a:t>
            </a:r>
            <a:r>
              <a:rPr lang="ko-KR" altLang="en-US" sz="1200" u="sng" dirty="0">
                <a:solidFill>
                  <a:srgbClr val="FF0000"/>
                </a:solidFill>
              </a:rPr>
              <a:t>등을 포함한 </a:t>
            </a:r>
            <a:r>
              <a:rPr lang="en-US" altLang="ko-KR" sz="1200" u="sng" dirty="0">
                <a:solidFill>
                  <a:srgbClr val="FF0000"/>
                </a:solidFill>
              </a:rPr>
              <a:t>Open Source </a:t>
            </a:r>
            <a:r>
              <a:rPr lang="ko-KR" altLang="en-US" sz="1200" u="sng" dirty="0">
                <a:solidFill>
                  <a:srgbClr val="FF0000"/>
                </a:solidFill>
              </a:rPr>
              <a:t>빅데이터 활용</a:t>
            </a:r>
            <a:endParaRPr lang="en-US" altLang="ko-KR" sz="12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540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 noChangeArrowheads="1"/>
          </p:cNvSpPr>
          <p:nvPr/>
        </p:nvSpPr>
        <p:spPr bwMode="auto">
          <a:xfrm>
            <a:off x="1043608" y="1700808"/>
            <a:ext cx="4824536" cy="470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lvl="1">
              <a:lnSpc>
                <a:spcPct val="110000"/>
              </a:lnSpc>
              <a:spcBef>
                <a:spcPts val="1800"/>
              </a:spcBef>
              <a:spcAft>
                <a:spcPts val="300"/>
              </a:spcAft>
              <a:defRPr/>
            </a:pPr>
            <a:r>
              <a:rPr lang="ko-KR" altLang="en-US" sz="2400" b="1" spc="-1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나눔고딕" pitchFamily="50" charset="-127"/>
                <a:ea typeface="나눔고딕" pitchFamily="50" charset="-127"/>
              </a:rPr>
              <a:t>팀 구성</a:t>
            </a:r>
            <a:endParaRPr lang="en-US" altLang="ko-KR" sz="2400" b="1" spc="-1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445662" y="2432041"/>
            <a:ext cx="64087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ko-KR" altLang="en-US" dirty="0"/>
              <a:t>수강생 리스트를 참고하여 수강생 스스로 팀 구성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주제를 함께할</a:t>
            </a:r>
            <a:r>
              <a:rPr lang="en-US" altLang="ko-KR" dirty="0"/>
              <a:t>(</a:t>
            </a:r>
            <a:r>
              <a:rPr lang="ko-KR" altLang="en-US" dirty="0"/>
              <a:t>희망하는</a:t>
            </a:r>
            <a:r>
              <a:rPr lang="en-US" altLang="ko-KR" dirty="0"/>
              <a:t>) </a:t>
            </a:r>
            <a:r>
              <a:rPr lang="ko-KR" altLang="en-US" dirty="0"/>
              <a:t>수강생과 구성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협력을 잘 할 수 있는 동료와 구성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팀은 </a:t>
            </a:r>
            <a:r>
              <a:rPr lang="en-US" altLang="ko-KR" dirty="0"/>
              <a:t>4</a:t>
            </a:r>
            <a:r>
              <a:rPr lang="ko-KR" altLang="en-US" dirty="0"/>
              <a:t>명으로 구성</a:t>
            </a:r>
            <a:endParaRPr lang="en-US" altLang="ko-KR" dirty="0"/>
          </a:p>
        </p:txBody>
      </p:sp>
      <p:sp>
        <p:nvSpPr>
          <p:cNvPr id="6" name="직사각형 5"/>
          <p:cNvSpPr/>
          <p:nvPr/>
        </p:nvSpPr>
        <p:spPr>
          <a:xfrm>
            <a:off x="899592" y="422012"/>
            <a:ext cx="52533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spcAft>
                <a:spcPts val="300"/>
              </a:spcAft>
              <a:defRPr/>
            </a:pPr>
            <a:r>
              <a:rPr lang="ko-KR" altLang="en-US" sz="28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+mj-ea"/>
                <a:ea typeface="+mj-ea"/>
              </a:rPr>
              <a:t>프로젝트 주제</a:t>
            </a:r>
            <a:r>
              <a:rPr lang="en-US" altLang="ko-KR" sz="28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+mj-ea"/>
                <a:ea typeface="+mj-ea"/>
              </a:rPr>
              <a:t> </a:t>
            </a:r>
            <a:r>
              <a:rPr lang="ko-KR" altLang="en-US" sz="28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+mj-ea"/>
                <a:ea typeface="+mj-ea"/>
              </a:rPr>
              <a:t>선정 및 팀 구성 </a:t>
            </a:r>
            <a:endParaRPr lang="ko-KR" altLang="en-US" sz="28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effectLst/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5481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1 : </a:t>
            </a:r>
            <a:r>
              <a:rPr lang="ko-KR" altLang="en-US" dirty="0" err="1"/>
              <a:t>영상기반</a:t>
            </a:r>
            <a:r>
              <a:rPr lang="ko-KR" altLang="en-US" dirty="0"/>
              <a:t> 차량 및 보행자 검출 </a:t>
            </a:r>
            <a:r>
              <a:rPr lang="en-US" altLang="ko-KR" dirty="0"/>
              <a:t>/ </a:t>
            </a:r>
            <a:r>
              <a:rPr lang="ko-KR" altLang="en-US" dirty="0"/>
              <a:t>인식 관련 기술</a:t>
            </a:r>
            <a:br>
              <a:rPr lang="en-US" altLang="ko-KR" dirty="0"/>
            </a:br>
            <a:r>
              <a:rPr lang="en-US" altLang="ko-KR" dirty="0"/>
              <a:t>            (</a:t>
            </a:r>
            <a:r>
              <a:rPr lang="ko-KR" altLang="en-US" dirty="0"/>
              <a:t>수강생이 관련 기술을 응용하여 과제 도출</a:t>
            </a:r>
            <a:r>
              <a:rPr lang="en-US" altLang="ko-KR" dirty="0"/>
              <a:t>, </a:t>
            </a:r>
            <a:r>
              <a:rPr lang="ko-KR" altLang="en-US" dirty="0"/>
              <a:t>멘토링 </a:t>
            </a:r>
            <a:r>
              <a:rPr lang="ko-KR" altLang="en-US" dirty="0" err="1"/>
              <a:t>문현준교수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설명</a:t>
            </a:r>
            <a:endParaRPr lang="en-US" altLang="ko-KR" dirty="0"/>
          </a:p>
          <a:p>
            <a:pPr lvl="2"/>
            <a:r>
              <a:rPr lang="en-US" altLang="ko-KR" dirty="0"/>
              <a:t>Single/Multiple </a:t>
            </a:r>
            <a:r>
              <a:rPr lang="ko-KR" altLang="en-US" dirty="0"/>
              <a:t>카메라 기반의 자동차 검출 및 인식 기술</a:t>
            </a:r>
            <a:endParaRPr lang="en-US" altLang="ko-KR" dirty="0"/>
          </a:p>
          <a:p>
            <a:pPr lvl="2"/>
            <a:r>
              <a:rPr lang="en-US" altLang="ko-KR" dirty="0"/>
              <a:t>CCTV/</a:t>
            </a:r>
            <a:r>
              <a:rPr lang="ko-KR" altLang="en-US" dirty="0"/>
              <a:t>블랙박스 기반의 자동차 이미지를 </a:t>
            </a:r>
            <a:r>
              <a:rPr lang="en-US" altLang="ko-KR" dirty="0"/>
              <a:t>(</a:t>
            </a:r>
            <a:r>
              <a:rPr lang="ko-KR" altLang="en-US" dirty="0" err="1"/>
              <a:t>딥러닝</a:t>
            </a:r>
            <a:r>
              <a:rPr lang="en-US" altLang="ko-KR" dirty="0"/>
              <a:t>)</a:t>
            </a:r>
            <a:r>
              <a:rPr lang="ko-KR" altLang="en-US" dirty="0"/>
              <a:t> 학습하여</a:t>
            </a:r>
            <a:r>
              <a:rPr lang="en-US" altLang="ko-KR" dirty="0"/>
              <a:t> </a:t>
            </a:r>
            <a:r>
              <a:rPr lang="ko-KR" altLang="en-US" dirty="0"/>
              <a:t>검출</a:t>
            </a:r>
            <a:r>
              <a:rPr lang="en-US" altLang="ko-KR" dirty="0"/>
              <a:t>/</a:t>
            </a:r>
            <a:r>
              <a:rPr lang="ko-KR" altLang="en-US" dirty="0"/>
              <a:t>인식 관련기술 구현</a:t>
            </a:r>
            <a:endParaRPr lang="en-US" altLang="ko-KR" dirty="0"/>
          </a:p>
          <a:p>
            <a:pPr lvl="2"/>
            <a:r>
              <a:rPr lang="ko-KR" altLang="en-US" dirty="0"/>
              <a:t>차량</a:t>
            </a:r>
            <a:r>
              <a:rPr lang="en-US" altLang="ko-KR" dirty="0"/>
              <a:t>/</a:t>
            </a:r>
            <a:r>
              <a:rPr lang="ko-KR" altLang="en-US" dirty="0"/>
              <a:t>사람 검출 및 자세 추정 기술 구현</a:t>
            </a:r>
            <a:endParaRPr lang="en-US" altLang="ko-KR" dirty="0"/>
          </a:p>
          <a:p>
            <a:pPr lvl="2"/>
            <a:r>
              <a:rPr lang="ko-KR" altLang="en-US" dirty="0"/>
              <a:t>차종 및 색상 정보의 검출을 위한 차량 인식 모델 구현</a:t>
            </a:r>
            <a:endParaRPr lang="en-US" altLang="ko-KR" dirty="0"/>
          </a:p>
          <a:p>
            <a:pPr lvl="2"/>
            <a:r>
              <a:rPr lang="ko-KR" altLang="en-US" dirty="0"/>
              <a:t>단안 </a:t>
            </a:r>
            <a:r>
              <a:rPr lang="en-US" altLang="ko-KR" dirty="0"/>
              <a:t>RGB </a:t>
            </a:r>
            <a:r>
              <a:rPr lang="ko-KR" altLang="en-US" dirty="0"/>
              <a:t>카메라 기반의 차량 및 사람 검출 및 자세 추정 기술 구현 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01. 2  </a:t>
            </a:r>
            <a:r>
              <a:rPr lang="ko-KR" altLang="en-US" dirty="0"/>
              <a:t>주제 설명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555776" y="-510595"/>
            <a:ext cx="3638299" cy="147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3933056"/>
            <a:ext cx="3627120" cy="218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7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2 :  </a:t>
            </a:r>
            <a:r>
              <a:rPr lang="ko-KR" altLang="en-US" dirty="0"/>
              <a:t>얼굴 및 동작 검출</a:t>
            </a:r>
            <a:r>
              <a:rPr lang="en-US" altLang="ko-KR" dirty="0"/>
              <a:t>/</a:t>
            </a:r>
            <a:r>
              <a:rPr lang="ko-KR" altLang="en-US" dirty="0"/>
              <a:t>인식 관련 기술</a:t>
            </a:r>
            <a:br>
              <a:rPr lang="en-US" altLang="ko-KR" dirty="0"/>
            </a:br>
            <a:r>
              <a:rPr lang="en-US" altLang="ko-KR" dirty="0"/>
              <a:t>              (</a:t>
            </a:r>
            <a:r>
              <a:rPr lang="ko-KR" altLang="en-US" dirty="0"/>
              <a:t>수강생이 관련 기술을 응용하여 과제 도출</a:t>
            </a:r>
            <a:r>
              <a:rPr lang="en-US" altLang="ko-KR" dirty="0"/>
              <a:t>,</a:t>
            </a:r>
            <a:r>
              <a:rPr lang="ko-KR" altLang="en-US" dirty="0"/>
              <a:t> 멘토링 </a:t>
            </a:r>
            <a:r>
              <a:rPr lang="ko-KR" altLang="en-US" dirty="0" err="1"/>
              <a:t>문현준교수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설명</a:t>
            </a:r>
            <a:endParaRPr lang="en-US" altLang="ko-KR" dirty="0"/>
          </a:p>
          <a:p>
            <a:pPr lvl="2"/>
            <a:r>
              <a:rPr lang="en-US" altLang="ko-KR" dirty="0"/>
              <a:t>2D / 3D </a:t>
            </a:r>
            <a:r>
              <a:rPr lang="ko-KR" altLang="en-US" dirty="0"/>
              <a:t>영상 기반의 얼굴 검출 및 인식 관련 기술 구현</a:t>
            </a:r>
            <a:endParaRPr lang="en-US" altLang="ko-KR" dirty="0"/>
          </a:p>
          <a:p>
            <a:pPr lvl="2"/>
            <a:r>
              <a:rPr lang="en-US" altLang="ko-KR" dirty="0"/>
              <a:t>HCI </a:t>
            </a:r>
            <a:r>
              <a:rPr lang="ko-KR" altLang="en-US" dirty="0"/>
              <a:t>관련 동작 검출 </a:t>
            </a:r>
            <a:r>
              <a:rPr lang="en-US" altLang="ko-KR" dirty="0"/>
              <a:t>/ </a:t>
            </a:r>
            <a:r>
              <a:rPr lang="ko-KR" altLang="en-US" dirty="0"/>
              <a:t>인식 </a:t>
            </a:r>
            <a:r>
              <a:rPr lang="en-US" altLang="ko-KR" dirty="0"/>
              <a:t>(</a:t>
            </a:r>
            <a:r>
              <a:rPr lang="ko-KR" altLang="en-US" dirty="0"/>
              <a:t>비언어적 행위</a:t>
            </a:r>
            <a:r>
              <a:rPr lang="en-US" altLang="ko-KR" dirty="0"/>
              <a:t>, </a:t>
            </a:r>
            <a:r>
              <a:rPr lang="ko-KR" altLang="en-US" dirty="0"/>
              <a:t>제스처</a:t>
            </a:r>
            <a:r>
              <a:rPr lang="en-US" altLang="ko-KR" dirty="0"/>
              <a:t>, </a:t>
            </a:r>
            <a:r>
              <a:rPr lang="ko-KR" altLang="en-US" dirty="0"/>
              <a:t>지능형 에이전트</a:t>
            </a:r>
            <a:r>
              <a:rPr lang="en-US" altLang="ko-KR" dirty="0"/>
              <a:t>)</a:t>
            </a:r>
            <a:r>
              <a:rPr lang="ko-KR" altLang="en-US" dirty="0"/>
              <a:t> 관련 기술 구현 </a:t>
            </a:r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01. 2  </a:t>
            </a:r>
            <a:r>
              <a:rPr lang="ko-KR" altLang="en-US" dirty="0"/>
              <a:t>주제 설명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310" y="3140968"/>
            <a:ext cx="3536162" cy="2309623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A75368D-A47A-42D0-974A-24E7A2D8E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54322"/>
            <a:ext cx="5067300" cy="209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170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0FCC2A5-F3B1-476B-ABD2-3EFC25730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3 :  </a:t>
            </a:r>
            <a:r>
              <a:rPr lang="ko-KR" altLang="en-US" dirty="0" err="1"/>
              <a:t>주제명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모출납기 영상 인식 솔루션 과제</a:t>
            </a:r>
            <a:b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에이텍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기업 과제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/>
              <a:t>멘토링 에이텍</a:t>
            </a:r>
            <a:r>
              <a:rPr lang="en-US" altLang="ko-KR" dirty="0"/>
              <a:t>AP &amp; </a:t>
            </a:r>
            <a:r>
              <a:rPr lang="ko-KR" altLang="en-US" dirty="0" err="1"/>
              <a:t>권기학교수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상세내용 첨부 참조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dirty="0"/>
          </a:p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과제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내용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모출납기 묶음지폐 이미지 인식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S/W 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b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. 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묶음지폐 이미지 처리 및 수량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권종</a:t>
            </a:r>
            <a:r>
              <a:rPr lang="ko-KR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인식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7E55FF4-C26E-4DD7-828A-56A7AB318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01. 2  </a:t>
            </a:r>
            <a:r>
              <a:rPr lang="ko-KR" altLang="en-US" dirty="0"/>
              <a:t>주제 설명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B830DC7-F75D-447D-A94D-D1F55B71F9ED}"/>
              </a:ext>
            </a:extLst>
          </p:cNvPr>
          <p:cNvGrpSpPr/>
          <p:nvPr/>
        </p:nvGrpSpPr>
        <p:grpSpPr>
          <a:xfrm>
            <a:off x="376808" y="2276872"/>
            <a:ext cx="8515672" cy="3888432"/>
            <a:chOff x="304800" y="1320797"/>
            <a:chExt cx="9301018" cy="3698370"/>
          </a:xfrm>
        </p:grpSpPr>
        <p:sp>
          <p:nvSpPr>
            <p:cNvPr id="5" name="Text Box 9">
              <a:extLst>
                <a:ext uri="{FF2B5EF4-FFF2-40B4-BE49-F238E27FC236}">
                  <a16:creationId xmlns:a16="http://schemas.microsoft.com/office/drawing/2014/main" id="{AC44E22F-2E92-4A81-8F9F-FEC412FADB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613" y="2507323"/>
              <a:ext cx="5202710" cy="73768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  <a:scene3d>
                <a:camera prst="orthographicFront"/>
                <a:lightRig rig="threePt" dir="t"/>
              </a:scene3d>
              <a:sp3d extrusionH="6350"/>
            </a:bodyPr>
            <a:lstStyle>
              <a:defPPr>
                <a:defRPr lang="ko-KR"/>
              </a:defPPr>
              <a:lvl1pPr algn="ctr" latinLnBrk="0">
                <a:spcBef>
                  <a:spcPct val="0"/>
                </a:spcBef>
                <a:buClr>
                  <a:srgbClr val="0085CD"/>
                </a:buClr>
                <a:buSzPct val="120000"/>
                <a:defRPr sz="1400">
                  <a:solidFill>
                    <a:srgbClr val="545045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charset="0"/>
                </a:defRPr>
              </a:lvl1pPr>
            </a:lstStyle>
            <a:p>
              <a:pPr algn="l"/>
              <a:r>
                <a:rPr lang="en-US" altLang="ko-KR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ATEC AP</a:t>
              </a: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</a:t>
              </a:r>
              <a:r>
                <a:rPr lang="ko-KR" altLang="en-US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모출납기는</a:t>
              </a: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작은 공간에서 더욱 많은 소속</a:t>
              </a:r>
              <a:r>
                <a:rPr lang="en-US" altLang="ko-KR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대속 지폐를 신속하고 안정적으로 </a:t>
              </a:r>
              <a:r>
                <a:rPr lang="ko-KR" altLang="en-US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입출금할</a:t>
              </a: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수 있어</a:t>
              </a:r>
              <a:r>
                <a:rPr lang="en-US" altLang="ko-KR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</a:p>
            <a:p>
              <a:pPr algn="l"/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은행 영업점의 </a:t>
              </a:r>
              <a:r>
                <a:rPr lang="ko-KR" altLang="en-US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모출납</a:t>
              </a: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업무 자동화 및 디지털화를 구현하기 위한 최적의 제품입니다</a:t>
              </a:r>
              <a:r>
                <a:rPr lang="en-US" altLang="ko-KR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8051E730-C87C-4C35-B7E9-728F6B9CB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612" y="3803406"/>
              <a:ext cx="5517305" cy="73768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  <a:scene3d>
                <a:camera prst="orthographicFront"/>
                <a:lightRig rig="threePt" dir="t"/>
              </a:scene3d>
              <a:sp3d extrusionH="6350"/>
            </a:bodyPr>
            <a:lstStyle>
              <a:defPPr>
                <a:defRPr lang="ko-KR"/>
              </a:defPPr>
              <a:lvl1pPr algn="ctr" latinLnBrk="0">
                <a:spcBef>
                  <a:spcPct val="0"/>
                </a:spcBef>
                <a:buClr>
                  <a:srgbClr val="0085CD"/>
                </a:buClr>
                <a:buSzPct val="120000"/>
                <a:defRPr sz="1400">
                  <a:solidFill>
                    <a:srgbClr val="545045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charset="0"/>
                </a:defRPr>
              </a:lvl1pPr>
            </a:lstStyle>
            <a:p>
              <a:pPr algn="l"/>
              <a:r>
                <a:rPr lang="en-US" altLang="ko-KR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ATEC AP</a:t>
              </a: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</a:t>
              </a:r>
              <a:r>
                <a:rPr lang="ko-KR" altLang="en-US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모출납기는</a:t>
              </a: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텔러가</a:t>
              </a: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입력한 인수도 소속의 정보에 따라 소속 입출금이 진행되며</a:t>
              </a:r>
              <a:r>
                <a:rPr lang="en-US" altLang="ko-KR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</a:p>
            <a:p>
              <a:pPr algn="l"/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한 눈에 쉽게 식별되는 </a:t>
              </a:r>
              <a:r>
                <a:rPr lang="ko-KR" altLang="en-US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권종별</a:t>
              </a: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포켓을 구비하여 직관적이고 빠른 업무 처리가 가능합니다</a:t>
              </a:r>
              <a:r>
                <a:rPr lang="en-US" altLang="ko-KR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3A90D27-EEAE-412B-A945-6059C4D440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838" t="15881" r="42783" b="14534"/>
            <a:stretch/>
          </p:blipFill>
          <p:spPr>
            <a:xfrm>
              <a:off x="6760868" y="1425139"/>
              <a:ext cx="1707888" cy="3026144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F84E8A7-8EB5-4470-86CC-1606B49EC3CF}"/>
                </a:ext>
              </a:extLst>
            </p:cNvPr>
            <p:cNvSpPr/>
            <p:nvPr/>
          </p:nvSpPr>
          <p:spPr>
            <a:xfrm>
              <a:off x="304800" y="1320797"/>
              <a:ext cx="9301018" cy="36983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1348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282D376-D2D6-49EB-9B18-1926DE58E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99128"/>
            <a:ext cx="8640960" cy="4866176"/>
          </a:xfrm>
        </p:spPr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4 :  </a:t>
            </a:r>
            <a:r>
              <a:rPr lang="ko-KR" altLang="en-US" dirty="0" err="1"/>
              <a:t>주제명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sz="1600" dirty="0"/>
              <a:t>ESL</a:t>
            </a:r>
            <a:r>
              <a:rPr lang="ko-KR" altLang="en-US" sz="1600" dirty="0"/>
              <a:t>을 이용한 스마트오피스</a:t>
            </a:r>
            <a:r>
              <a:rPr lang="en-US" altLang="ko-KR" sz="1600" dirty="0"/>
              <a:t> (Web, Mobile)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b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에이텍 티엔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기업 과제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/>
              <a:t>멘토링 </a:t>
            </a:r>
            <a:r>
              <a:rPr lang="ko-KR" altLang="en-US" dirty="0" err="1"/>
              <a:t>에이텍티앤</a:t>
            </a:r>
            <a:r>
              <a:rPr lang="en-US" altLang="ko-KR" dirty="0"/>
              <a:t> &amp; </a:t>
            </a:r>
            <a:r>
              <a:rPr lang="ko-KR" altLang="en-US" dirty="0" err="1"/>
              <a:t>권기학교수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상세내용 첨부 참조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9119AB4-FDFD-4DB7-949D-84CA16786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01. 2  </a:t>
            </a:r>
            <a:r>
              <a:rPr lang="ko-KR" altLang="en-US" dirty="0"/>
              <a:t>주제 설명</a:t>
            </a:r>
          </a:p>
        </p:txBody>
      </p:sp>
      <p:sp>
        <p:nvSpPr>
          <p:cNvPr id="32" name="Text Box 9">
            <a:extLst>
              <a:ext uri="{FF2B5EF4-FFF2-40B4-BE49-F238E27FC236}">
                <a16:creationId xmlns:a16="http://schemas.microsoft.com/office/drawing/2014/main" id="{7D6705E4-16BC-427C-AB85-19AC03A25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376" y="2277922"/>
            <a:ext cx="3861553" cy="188199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  <a:scene3d>
              <a:camera prst="orthographicFront"/>
              <a:lightRig rig="threePt" dir="t"/>
            </a:scene3d>
            <a:sp3d extrusionH="6350"/>
          </a:bodyPr>
          <a:lstStyle>
            <a:defPPr>
              <a:defRPr lang="ko-KR"/>
            </a:defPPr>
            <a:lvl1pPr algn="ctr" latinLnBrk="0">
              <a:spcBef>
                <a:spcPct val="0"/>
              </a:spcBef>
              <a:buClr>
                <a:srgbClr val="0085CD"/>
              </a:buClr>
              <a:buSzPct val="120000"/>
              <a:defRPr sz="1400">
                <a:solidFill>
                  <a:srgbClr val="54504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ESL</a:t>
            </a:r>
            <a:r>
              <a:rPr lang="en-US" altLang="ko-KR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(Electronic Shelf Label)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 일명 전자가격표시기로 ​종이에 상품의 명칭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로고 등을 표기하였던 기존 방식 대신 저전력 무선통신기술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전자 디스플레이 기술을 활용하여 디지털로 표시하는 장치를 뜻합니다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l"/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활용 분야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75B86B3-8542-4BFD-B35B-0E9333020C1C}"/>
              </a:ext>
            </a:extLst>
          </p:cNvPr>
          <p:cNvSpPr/>
          <p:nvPr/>
        </p:nvSpPr>
        <p:spPr>
          <a:xfrm>
            <a:off x="971600" y="2060849"/>
            <a:ext cx="7731329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F1B2F814-2831-4012-835B-F6C618CC9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407" y="3891614"/>
            <a:ext cx="2841043" cy="951069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DEAC97B-637E-490D-9D35-70C7EF86C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897" y="2167838"/>
            <a:ext cx="3298065" cy="1723777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3D3493B8-8653-4218-92F9-E8FEFA46A8B9}"/>
              </a:ext>
            </a:extLst>
          </p:cNvPr>
          <p:cNvSpPr/>
          <p:nvPr/>
        </p:nvSpPr>
        <p:spPr>
          <a:xfrm>
            <a:off x="1004489" y="5488123"/>
            <a:ext cx="7920880" cy="52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전자가격표시기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ESL(Electronic Shelf Label)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스마트오피스로 활용할 경우 사용자 좌석에 대한 조회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예약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안내 등을 등록과 함께 바로 연동되기 때문에 사용자에게 정확한 정보 제공과 사무실 좌석 배정에 대한 시간 절감 효과 기대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B42D2F6-E7C5-4547-BA53-D605F75E2E07}"/>
              </a:ext>
            </a:extLst>
          </p:cNvPr>
          <p:cNvGrpSpPr/>
          <p:nvPr/>
        </p:nvGrpSpPr>
        <p:grpSpPr>
          <a:xfrm>
            <a:off x="1114776" y="4472152"/>
            <a:ext cx="4067226" cy="690703"/>
            <a:chOff x="463331" y="3813572"/>
            <a:chExt cx="4305814" cy="813127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F67C92DD-14E2-4166-B2CE-35C33E80D0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9" t="10793" r="87771" b="28197"/>
            <a:stretch/>
          </p:blipFill>
          <p:spPr>
            <a:xfrm>
              <a:off x="463331" y="3813573"/>
              <a:ext cx="478173" cy="444617"/>
            </a:xfrm>
            <a:prstGeom prst="rect">
              <a:avLst/>
            </a:prstGeom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7588743C-ED57-49F8-B69A-5C2B0A3617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161" t="5624" r="2649" b="18400"/>
            <a:stretch/>
          </p:blipFill>
          <p:spPr>
            <a:xfrm>
              <a:off x="2866487" y="3813572"/>
              <a:ext cx="479583" cy="452178"/>
            </a:xfrm>
            <a:prstGeom prst="rect">
              <a:avLst/>
            </a:prstGeom>
          </p:spPr>
        </p:pic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207F011F-5E0C-4504-8580-9FDA6DA743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67" t="9642" r="74393" b="29348"/>
            <a:stretch/>
          </p:blipFill>
          <p:spPr>
            <a:xfrm>
              <a:off x="1253870" y="3813572"/>
              <a:ext cx="478173" cy="444617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6E594019-E576-4959-B276-026DA2D565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90" t="6189" r="59175" b="23005"/>
            <a:stretch/>
          </p:blipFill>
          <p:spPr>
            <a:xfrm>
              <a:off x="2044409" y="3813572"/>
              <a:ext cx="509712" cy="443022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F2DC4E25-79DD-4B79-B2D5-9B0C674BB7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828" t="14246" r="18432" b="24744"/>
            <a:stretch/>
          </p:blipFill>
          <p:spPr>
            <a:xfrm>
              <a:off x="3658436" y="3813572"/>
              <a:ext cx="478173" cy="444617"/>
            </a:xfrm>
            <a:prstGeom prst="rect">
              <a:avLst/>
            </a:prstGeom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8E1E27EA-83FF-4DCC-8416-B1767F1195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508" t="7339" r="36020" b="18827"/>
            <a:stretch/>
          </p:blipFill>
          <p:spPr>
            <a:xfrm>
              <a:off x="4448973" y="3813572"/>
              <a:ext cx="271536" cy="439178"/>
            </a:xfrm>
            <a:prstGeom prst="rect">
              <a:avLst/>
            </a:prstGeom>
          </p:spPr>
        </p:pic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B3B44972-29A7-449A-9724-796CE1502131}"/>
                </a:ext>
              </a:extLst>
            </p:cNvPr>
            <p:cNvSpPr/>
            <p:nvPr/>
          </p:nvSpPr>
          <p:spPr>
            <a:xfrm>
              <a:off x="525040" y="4313051"/>
              <a:ext cx="368808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회사</a:t>
              </a:r>
              <a:endPara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관공서</a:t>
              </a:r>
              <a:endParaRPr lang="ko-KR" altLang="en-US" sz="900" dirty="0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0C61C917-4D51-4EF7-8922-92DFE22A4B74}"/>
                </a:ext>
              </a:extLst>
            </p:cNvPr>
            <p:cNvSpPr/>
            <p:nvPr/>
          </p:nvSpPr>
          <p:spPr>
            <a:xfrm>
              <a:off x="1300099" y="4306070"/>
              <a:ext cx="368808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ko-KR" altLang="en-US" sz="9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마트</a:t>
              </a:r>
              <a:endPara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편의점</a:t>
              </a:r>
              <a:endParaRPr lang="ko-KR" altLang="en-US" sz="900" dirty="0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5CAB2AD1-C3A9-4665-8710-81245591E2B5}"/>
                </a:ext>
              </a:extLst>
            </p:cNvPr>
            <p:cNvSpPr/>
            <p:nvPr/>
          </p:nvSpPr>
          <p:spPr>
            <a:xfrm>
              <a:off x="2921874" y="4365778"/>
              <a:ext cx="368808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학교</a:t>
              </a:r>
              <a:endParaRPr lang="ko-KR" altLang="en-US" sz="900" dirty="0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4501F89-5259-4190-AA16-084895E804BD}"/>
                </a:ext>
              </a:extLst>
            </p:cNvPr>
            <p:cNvSpPr/>
            <p:nvPr/>
          </p:nvSpPr>
          <p:spPr>
            <a:xfrm>
              <a:off x="3625276" y="4306070"/>
              <a:ext cx="368808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스마트 공장</a:t>
              </a:r>
              <a:endParaRPr lang="ko-KR" altLang="en-US" sz="900" dirty="0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194A6175-DB25-4750-ABAF-45B2AE721870}"/>
                </a:ext>
              </a:extLst>
            </p:cNvPr>
            <p:cNvSpPr/>
            <p:nvPr/>
          </p:nvSpPr>
          <p:spPr>
            <a:xfrm>
              <a:off x="4400337" y="4349700"/>
              <a:ext cx="368808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전시</a:t>
              </a:r>
              <a:endPara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박물관</a:t>
              </a:r>
              <a:endParaRPr lang="ko-KR" altLang="en-US" sz="900" dirty="0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569537C1-A163-4F09-A4B3-35379D0D2224}"/>
                </a:ext>
              </a:extLst>
            </p:cNvPr>
            <p:cNvSpPr/>
            <p:nvPr/>
          </p:nvSpPr>
          <p:spPr>
            <a:xfrm>
              <a:off x="2110985" y="4365779"/>
              <a:ext cx="368808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병원</a:t>
              </a:r>
              <a:endParaRPr lang="ko-KR" altLang="en-US" sz="900" dirty="0"/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44FEF63A-3D3D-47AA-929B-629D53365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561" y="2241436"/>
            <a:ext cx="732245" cy="1193726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7CDEF7EC-1424-43B1-BBF3-A3DC95F047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5854" y="2954960"/>
            <a:ext cx="687207" cy="319952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8DA34EB-24D3-45AC-AA53-1855BFD754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5037" y="2237780"/>
            <a:ext cx="980951" cy="753401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D46874DA-D5A3-4A34-899F-B53DAC8418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3240" y="2248136"/>
            <a:ext cx="652372" cy="511516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7F455592-2A57-444F-9EB4-EDDE0876C2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6125" y="4018020"/>
            <a:ext cx="809353" cy="629355"/>
          </a:xfrm>
          <a:prstGeom prst="rect">
            <a:avLst/>
          </a:prstGeom>
          <a:solidFill>
            <a:srgbClr val="F7F7F7"/>
          </a:solidFill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58B7AC81-570C-4F0D-92EF-5C296D81A0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6394" y="3208525"/>
            <a:ext cx="1188529" cy="41516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4AAEB19-4F2D-4570-9CCD-A4F69A9E32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238" r="25121"/>
          <a:stretch/>
        </p:blipFill>
        <p:spPr>
          <a:xfrm>
            <a:off x="5410514" y="4183906"/>
            <a:ext cx="2127341" cy="65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44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5468</TotalTime>
  <Words>545</Words>
  <Application>Microsoft Office PowerPoint</Application>
  <PresentationFormat>화면 슬라이드 쇼(4:3)</PresentationFormat>
  <Paragraphs>63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9" baseType="lpstr">
      <vt:lpstr>HY견고딕</vt:lpstr>
      <vt:lpstr>HY그래픽M</vt:lpstr>
      <vt:lpstr>HY울릉도M</vt:lpstr>
      <vt:lpstr>HY헤드라인M</vt:lpstr>
      <vt:lpstr>나눔고딕</vt:lpstr>
      <vt:lpstr>맑은 고딕</vt:lpstr>
      <vt:lpstr>함초롬돋움</vt:lpstr>
      <vt:lpstr>Arial</vt:lpstr>
      <vt:lpstr>Consolas</vt:lpstr>
      <vt:lpstr>Courier New</vt:lpstr>
      <vt:lpstr>Wingdings</vt:lpstr>
      <vt:lpstr>Office 테마</vt:lpstr>
      <vt:lpstr>Capstone Design</vt:lpstr>
      <vt:lpstr>PowerPoint 프레젠테이션</vt:lpstr>
      <vt:lpstr>PowerPoint 프레젠테이션</vt:lpstr>
      <vt:lpstr>01. 2  주제 설명</vt:lpstr>
      <vt:lpstr>01. 2  주제 설명</vt:lpstr>
      <vt:lpstr>01. 2  주제 설명</vt:lpstr>
      <vt:lpstr>01. 2  주제 설명</vt:lpstr>
    </vt:vector>
  </TitlesOfParts>
  <Company>sejong.ac.kr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SEJONG.AC.KR</dc:creator>
  <cp:lastModifiedBy>khkwon</cp:lastModifiedBy>
  <cp:revision>1668</cp:revision>
  <cp:lastPrinted>2017-02-17T04:30:11Z</cp:lastPrinted>
  <dcterms:created xsi:type="dcterms:W3CDTF">2010-03-05T01:13:48Z</dcterms:created>
  <dcterms:modified xsi:type="dcterms:W3CDTF">2021-09-02T04:53:19Z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E:\DataBackup\Lectures\2020학년도 1학기\운영체제\Chapter00_강의소개및계획.pptx</vt:lpwstr>
  </property>
</Properties>
</file>